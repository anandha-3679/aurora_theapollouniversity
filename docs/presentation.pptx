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E5AF668-F0CE-5491-C1F1-35D860FC2C38}">
          <p14:sldIdLst>
            <p14:sldId id="256"/>
          </p14:sldIdLst>
        </p14:section>
        <p14:section name="Problem and solution" id="{041EC356-40B1-5100-3E1C-57C2FE697629}">
          <p14:sldIdLst>
            <p14:sldId id="257"/>
            <p14:sldId id="258"/>
          </p14:sldIdLst>
        </p14:section>
        <p14:section name="Method" id="{142B43E1-F68C-2FB3-0ED7-AA8649956151}">
          <p14:sldIdLst>
            <p14:sldId id="259"/>
          </p14:sldIdLst>
        </p14:section>
        <p14:section name="Results" id="{B5633A8E-1CB8-441A-2FDD-48A2D90883C6}">
          <p14:sldIdLst>
            <p14:sldId id="260"/>
          </p14:sldIdLst>
        </p14:section>
        <p14:section name="Demo and limits" id="{1EB0A90E-60CB-5FC8-4474-13DFBF91DB79}">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E293B"/>
                </a:solidFill>
                <a:latin typeface="+mn-lt"/>
              </a:defRPr>
            </a:pPr>
            <a:r>
              <a:rPr lang="en-IN" sz="1400" b="0" i="0" u="none" strike="noStrike">
                <a:solidFill>
                  <a:srgbClr val="1E293B"/>
                </a:solidFill>
                <a:latin typeface="+mn-lt"/>
              </a:rPr>
              <a:t>Cross-validated AUROC (seed 42)</a:t>
            </a:r>
          </a:p>
        </c:rich>
      </c:tx>
      <c:overlay val="0"/>
    </c:title>
    <c:autoTitleDeleted val="0"/>
    <c:plotArea>
      <c:layout/>
      <c:barChart>
        <c:barDir val="col"/>
        <c:grouping val="clustered"/>
        <c:varyColors val="0"/>
        <c:ser>
          <c:idx val="0"/>
          <c:order val="0"/>
          <c:tx>
            <c:strRef>
              <c:f>Sheet1!$B$1</c:f>
              <c:strCache>
                <c:ptCount val="1"/>
                <c:pt idx="0">
                  <c:v>A: clinical only (8 features)</c:v>
                </c:pt>
              </c:strCache>
            </c:strRef>
          </c:tx>
          <c:spPr>
            <a:solidFill>
              <a:srgbClr val="94A3B8"/>
            </a:solidFill>
            <a:effectLst/>
          </c:spPr>
          <c:invertIfNegative val="0"/>
          <c:dLbls>
            <c:numFmt formatCode="0.000" sourceLinked="0"/>
            <c:spPr>
              <a:noFill/>
              <a:ln>
                <a:noFill/>
              </a:ln>
              <a:effectLst/>
            </c:spPr>
            <c:txPr>
              <a:bodyPr/>
              <a:lstStyle/>
              <a:p>
                <a:pPr>
                  <a:defRPr sz="1000" b="0" i="0" u="none" strike="noStrike">
                    <a:solidFill>
                      <a:srgbClr val="1E293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Logistic Reg.</c:v>
                </c:pt>
                <c:pt idx="1">
                  <c:v>Random Forest</c:v>
                </c:pt>
                <c:pt idx="2">
                  <c:v>Gradient Boosting</c:v>
                </c:pt>
              </c:strCache>
            </c:strRef>
          </c:cat>
          <c:val>
            <c:numRef>
              <c:f>Sheet1!$B$2:$B$4</c:f>
              <c:numCache>
                <c:formatCode>General</c:formatCode>
                <c:ptCount val="3"/>
                <c:pt idx="0">
                  <c:v>0.86839999999999995</c:v>
                </c:pt>
                <c:pt idx="1">
                  <c:v>0.83040000000000003</c:v>
                </c:pt>
                <c:pt idx="2">
                  <c:v>0.82789999999999997</c:v>
                </c:pt>
              </c:numCache>
            </c:numRef>
          </c:val>
          <c:extLst>
            <c:ext xmlns:c16="http://schemas.microsoft.com/office/drawing/2014/chart" uri="{C3380CC4-5D6E-409C-BE32-E72D297353CC}">
              <c16:uniqueId val="{00000000-5028-44E5-8AF2-71C12F2E8E38}"/>
            </c:ext>
          </c:extLst>
        </c:ser>
        <c:ser>
          <c:idx val="1"/>
          <c:order val="1"/>
          <c:tx>
            <c:strRef>
              <c:f>Sheet1!$C$1</c:f>
              <c:strCache>
                <c:ptCount val="1"/>
                <c:pt idx="0">
                  <c:v>B: + wearables (16 features)</c:v>
                </c:pt>
              </c:strCache>
            </c:strRef>
          </c:tx>
          <c:spPr>
            <a:solidFill>
              <a:srgbClr val="0E7C86"/>
            </a:solidFill>
            <a:effectLst/>
          </c:spPr>
          <c:invertIfNegative val="0"/>
          <c:dLbls>
            <c:numFmt formatCode="0.000" sourceLinked="0"/>
            <c:spPr>
              <a:noFill/>
              <a:ln>
                <a:noFill/>
              </a:ln>
              <a:effectLst/>
            </c:spPr>
            <c:txPr>
              <a:bodyPr/>
              <a:lstStyle/>
              <a:p>
                <a:pPr>
                  <a:defRPr sz="1000" b="0" i="0" u="none" strike="noStrike">
                    <a:solidFill>
                      <a:srgbClr val="1E293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Logistic Reg.</c:v>
                </c:pt>
                <c:pt idx="1">
                  <c:v>Random Forest</c:v>
                </c:pt>
                <c:pt idx="2">
                  <c:v>Gradient Boosting</c:v>
                </c:pt>
              </c:strCache>
            </c:strRef>
          </c:cat>
          <c:val>
            <c:numRef>
              <c:f>Sheet1!$C$2:$C$4</c:f>
              <c:numCache>
                <c:formatCode>General</c:formatCode>
                <c:ptCount val="3"/>
                <c:pt idx="0">
                  <c:v>0.89600000000000002</c:v>
                </c:pt>
                <c:pt idx="1">
                  <c:v>0.85409999999999997</c:v>
                </c:pt>
                <c:pt idx="2">
                  <c:v>0.87</c:v>
                </c:pt>
              </c:numCache>
            </c:numRef>
          </c:val>
          <c:extLst>
            <c:ext xmlns:c16="http://schemas.microsoft.com/office/drawing/2014/chart" uri="{C3380CC4-5D6E-409C-BE32-E72D297353CC}">
              <c16:uniqueId val="{00000001-5028-44E5-8AF2-71C12F2E8E3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E293B"/>
                </a:solidFill>
                <a:latin typeface="+mn-lt"/>
              </a:defRPr>
            </a:pPr>
            <a:endParaRPr lang="en-US"/>
          </a:p>
        </c:txPr>
        <c:crossAx val="2094734552"/>
        <c:crosses val="autoZero"/>
        <c:auto val="1"/>
        <c:lblAlgn val="ctr"/>
        <c:lblOffset val="100"/>
        <c:noMultiLvlLbl val="1"/>
      </c:catAx>
      <c:valAx>
        <c:axId val="2094734552"/>
        <c:scaling>
          <c:orientation val="minMax"/>
          <c:max val="1"/>
          <c:min val="0.5"/>
        </c:scaling>
        <c:delete val="0"/>
        <c:axPos val="l"/>
        <c:majorGridlines>
          <c:spPr>
            <a:ln w="6350" cap="flat">
              <a:solidFill>
                <a:srgbClr val="E2E8F0"/>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solidFill>
                <a:srgbClr val="1E293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5759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ONCO-TWIN is a virtual patient for people on chemotherapy. It fuses the medical record with wearable data to see severe low neutrophil counts coming, and helps the oncologist pick the safest day to dose. All data is synthetic. This 6-slide version covers: problem, solution, integrity, results, and a demo with limitations.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gaps: toxicity is found after the fact, nobody sees the patient between visits, and doses follow population averages. Breast cancer is the most common cancer in Indian women (28.2%), and many present late, needing intensive chemotherapy that often causes severe neutropenia. Source: ICMR-NCRP.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synthetic data, a leak-free feature pipeline, the twin state, two predictive engines, and the clinician dashboard. The toxicity model is the headline prediction; the Gompertz tumor module shows what waiting costs, otherwise the safest day would always be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integrity guarantees. First, the toxicity label comes from a hidden ANC curve, not from the wearable features, so the model cannot cheat by reading its own generator. Second, nothing after decision day D can influence the score. We prove it by corrupting all later data and showing outputs do not move (tests/test_features_and_models.py).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cross-validated AUROC with and without wearables; wearables help every model. Right: headline numbers averaged over five data seeds. The threshold of 0.11 was tuned in-fold to favor catching events, so recall is high but about six in ten alerts are false alarms. The tumor module's patient-specific Gompertz fit cuts forecast error by about 42% versus a population curve, validated on synthetic data from the same family, so treat it as optimistic.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Streamlit app. PT_001 is a 68-year-old woman, stage III HER2 positive. At day 21 her ANC is 5.31, far above the danger level, and HRV is well above her baseline. Every option is lower risk, and delaying only trades small toxicity gains for large tumor regrowth, so the twin supports dosing on schedule. The oncologist still verifies labs. Be upfront on limits: everything is synthetic, numbers vary across seeds, and real use needs trials and regulatory clearance. Close: see severe toxicity coming, choose the safest window, keep the clinician in control.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LAYOUT">
    <p:bg>
      <p:bgPr>
        <a:solidFill>
          <a:srgbClr val="0B2545"/>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
        <p:nvSpPr>
          <p:cNvPr id="3" name="Shape 1"/>
          <p:cNvSpPr/>
          <p:nvPr/>
        </p:nvSpPr>
        <p:spPr>
          <a:xfrm>
            <a:off x="0" y="0"/>
            <a:ext cx="274320" cy="6858000"/>
          </a:xfrm>
          <a:prstGeom prst="rect">
            <a:avLst/>
          </a:prstGeom>
          <a:solidFill>
            <a:schemeClr val="accent1"/>
          </a:solidFill>
          <a:ln/>
        </p:spPr>
      </p:sp>
      <p:sp>
        <p:nvSpPr>
          <p:cNvPr id="4" name="Text 2"/>
          <p:cNvSpPr>
            <a:spLocks noGrp="1"/>
          </p:cNvSpPr>
          <p:nvPr>
            <p:ph type="title" idx="102" hasCustomPrompt="1"/>
          </p:nvPr>
        </p:nvSpPr>
        <p:spPr>
          <a:xfrm>
            <a:off x="822960" y="1554480"/>
            <a:ext cx="10515600" cy="1005840"/>
          </a:xfrm>
          <a:prstGeom prst="rect">
            <a:avLst/>
          </a:prstGeom>
          <a:noFill/>
          <a:ln/>
        </p:spPr>
        <p:txBody>
          <a:bodyPr wrap="square" rtlCol="0"/>
          <a:lstStyle>
            <a:lvl1pPr marL="0" indent="0" algn="l">
              <a:buNone/>
              <a:defRPr lang="en-US" sz="5200" b="1" dirty="0">
                <a:solidFill>
                  <a:schemeClr val="bg1"/>
                </a:solidFill>
              </a:defRPr>
            </a:lvl1pPr>
          </a:lstStyle>
          <a:p>
            <a:pPr marL="0" indent="0" algn="l">
              <a:buNone/>
            </a:pPr>
            <a:endParaRPr lang="en-US" sz="5200" dirty="0"/>
          </a:p>
        </p:txBody>
      </p:sp>
      <p:sp>
        <p:nvSpPr>
          <p:cNvPr id="5" name="Text 2"/>
          <p:cNvSpPr>
            <a:spLocks noGrp="1"/>
          </p:cNvSpPr>
          <p:nvPr>
            <p:ph type="body" idx="103" hasCustomPrompt="1"/>
          </p:nvPr>
        </p:nvSpPr>
        <p:spPr>
          <a:xfrm>
            <a:off x="822960" y="2651760"/>
            <a:ext cx="9601200" cy="914400"/>
          </a:xfrm>
          <a:prstGeom prst="rect">
            <a:avLst/>
          </a:prstGeom>
          <a:noFill/>
          <a:ln/>
        </p:spPr>
        <p:txBody>
          <a:bodyPr wrap="square" rtlCol="0"/>
          <a:lstStyle>
            <a:lvl1pPr marL="0" indent="0">
              <a:buNone/>
              <a:defRPr lang="en-US" sz="2200" dirty="0">
                <a:solidFill>
                  <a:schemeClr val="bg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AYOU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chemeClr val="accent1"/>
          </a:solidFill>
          <a:ln/>
        </p:spPr>
      </p:sp>
      <p:sp>
        <p:nvSpPr>
          <p:cNvPr id="3" name="Text 1"/>
          <p:cNvSpPr>
            <a:spLocks noGrp="1"/>
          </p:cNvSpPr>
          <p:nvPr>
            <p:ph type="title" idx="101" hasCustomPrompt="1"/>
          </p:nvPr>
        </p:nvSpPr>
        <p:spPr>
          <a:xfrm>
            <a:off x="457200" y="274320"/>
            <a:ext cx="11274552" cy="685800"/>
          </a:xfrm>
          <a:prstGeom prst="rect">
            <a:avLst/>
          </a:prstGeom>
          <a:noFill/>
          <a:ln/>
        </p:spPr>
        <p:txBody>
          <a:bodyPr wrap="square" rtlCol="0"/>
          <a:lstStyle>
            <a:lvl1pPr marL="0" indent="0" algn="l">
              <a:buNone/>
              <a:defRPr lang="en-US" sz="2600" b="1" dirty="0">
                <a:solidFill>
                  <a:schemeClr val="tx2"/>
                </a:solidFill>
              </a:defRPr>
            </a:lvl1pPr>
          </a:lstStyle>
          <a:p>
            <a:pPr marL="0" indent="0" algn="l">
              <a:buNone/>
            </a:pPr>
            <a:endParaRPr lang="en-US" sz="2600" dirty="0"/>
          </a:p>
        </p:txBody>
      </p:sp>
      <p:sp>
        <p:nvSpPr>
          <p:cNvPr id="4" name="Text 1"/>
          <p:cNvSpPr/>
          <p:nvPr/>
        </p:nvSpPr>
        <p:spPr>
          <a:xfrm>
            <a:off x="457200" y="6464808"/>
            <a:ext cx="7315200" cy="274320"/>
          </a:xfrm>
          <a:prstGeom prst="rect">
            <a:avLst/>
          </a:prstGeom>
          <a:noFill/>
          <a:ln/>
        </p:spPr>
        <p:txBody>
          <a:bodyPr wrap="square" lIns="0" tIns="0" rIns="0" bIns="0" rtlCol="0" anchor="ctr"/>
          <a:lstStyle/>
          <a:p>
            <a:pPr marL="0" indent="0">
              <a:buNone/>
            </a:pPr>
            <a:r>
              <a:rPr lang="en-US" sz="1000" dirty="0">
                <a:solidFill>
                  <a:schemeClr val="tx1"/>
                </a:solidFill>
              </a:rPr>
              <a:t>ONCO-TWIN  ·  Team Aurora  ·  The Apollo University</a:t>
            </a:r>
            <a:endParaRPr lang="en-US" sz="1000" dirty="0"/>
          </a:p>
        </p:txBody>
      </p:sp>
      <p:sp>
        <p:nvSpPr>
          <p:cNvPr id="25" name="Slide Number Placeholder 0"/>
          <p:cNvSpPr>
            <a:spLocks noGrp="1"/>
          </p:cNvSpPr>
          <p:nvPr>
            <p:ph type="sldNum" sz="quarter" idx="4294967295"/>
          </p:nvPr>
        </p:nvSpPr>
        <p:spPr>
          <a:xfrm>
            <a:off x="11155680" y="6464808"/>
            <a:ext cx="5943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64808"/>
            <a:ext cx="5943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idx="102" hasCustomPrompt="1"/>
          </p:nvPr>
        </p:nvSpPr>
        <p:spPr>
          <a:xfrm>
            <a:off x="822960" y="1143000"/>
            <a:ext cx="10515600" cy="1005840"/>
          </a:xfrm>
          <a:prstGeom prst="rect">
            <a:avLst/>
          </a:prstGeom>
          <a:noFill/>
          <a:ln/>
        </p:spPr>
        <p:txBody>
          <a:bodyPr wrap="square" lIns="0" tIns="0" rIns="0" bIns="0" rtlCol="0" anchor="ctr"/>
          <a:lstStyle/>
          <a:p>
            <a:pPr marL="0" indent="0" algn="l">
              <a:buNone/>
            </a:pPr>
            <a:r>
              <a:rPr lang="en-US" sz="5200" b="1" dirty="0">
                <a:solidFill>
                  <a:schemeClr val="bg1"/>
                </a:solidFill>
              </a:rPr>
              <a:t>ONCO-TWIN</a:t>
            </a:r>
            <a:endParaRPr lang="en-US" sz="5200" dirty="0"/>
          </a:p>
        </p:txBody>
      </p:sp>
      <p:sp>
        <p:nvSpPr>
          <p:cNvPr id="3" name="Text 2"/>
          <p:cNvSpPr>
            <a:spLocks noGrp="1"/>
          </p:cNvSpPr>
          <p:nvPr>
            <p:ph type="body" idx="103" hasCustomPrompt="1"/>
          </p:nvPr>
        </p:nvSpPr>
        <p:spPr>
          <a:xfrm>
            <a:off x="822960" y="2651760"/>
            <a:ext cx="9601200" cy="914400"/>
          </a:xfrm>
          <a:prstGeom prst="rect">
            <a:avLst/>
          </a:prstGeom>
          <a:noFill/>
          <a:ln/>
        </p:spPr>
        <p:txBody>
          <a:bodyPr wrap="square" lIns="0" tIns="0" rIns="0" bIns="0" rtlCol="0" anchor="t"/>
          <a:lstStyle/>
          <a:p>
            <a:pPr marL="0" indent="0">
              <a:buNone/>
            </a:pPr>
            <a:r>
              <a:rPr lang="en-US" sz="2200" dirty="0">
                <a:solidFill>
                  <a:schemeClr val="bg2"/>
                </a:solidFill>
              </a:rPr>
              <a:t>A digital twin for predicting severe chemotherapy toxicity and choosing the safest dosing window</a:t>
            </a:r>
            <a:endParaRPr lang="en-US" sz="2200" dirty="0"/>
          </a:p>
        </p:txBody>
      </p:sp>
      <p:sp>
        <p:nvSpPr>
          <p:cNvPr id="4" name="Tag 1"/>
          <p:cNvSpPr/>
          <p:nvPr/>
        </p:nvSpPr>
        <p:spPr>
          <a:xfrm>
            <a:off x="822960" y="3977640"/>
            <a:ext cx="2560320" cy="411480"/>
          </a:xfrm>
          <a:prstGeom prst="roundRect">
            <a:avLst>
              <a:gd name="adj" fmla="val 48889"/>
            </a:avLst>
          </a:prstGeom>
          <a:solidFill>
            <a:schemeClr val="accent1"/>
          </a:solidFill>
          <a:ln/>
        </p:spPr>
      </p:sp>
      <p:sp>
        <p:nvSpPr>
          <p:cNvPr id="5" name="Text 3"/>
          <p:cNvSpPr txBox="1"/>
          <p:nvPr/>
        </p:nvSpPr>
        <p:spPr>
          <a:xfrm>
            <a:off x="822960" y="3977640"/>
            <a:ext cx="2560320" cy="411480"/>
          </a:xfrm>
          <a:prstGeom prst="rect">
            <a:avLst/>
          </a:prstGeom>
          <a:noFill/>
          <a:ln/>
        </p:spPr>
        <p:txBody>
          <a:bodyPr wrap="square" lIns="0" tIns="0" rIns="0" bIns="0" rtlCol="0" anchor="ctr"/>
          <a:lstStyle/>
          <a:p>
            <a:pPr marL="0" indent="0" algn="ctr">
              <a:buNone/>
            </a:pPr>
            <a:r>
              <a:rPr lang="en-US" sz="1300" b="1" dirty="0">
                <a:solidFill>
                  <a:schemeClr val="bg1"/>
                </a:solidFill>
              </a:rPr>
              <a:t>Breast cancer</a:t>
            </a:r>
            <a:endParaRPr lang="en-US" sz="1300" dirty="0"/>
          </a:p>
        </p:txBody>
      </p:sp>
      <p:sp>
        <p:nvSpPr>
          <p:cNvPr id="6" name="Tag 2"/>
          <p:cNvSpPr/>
          <p:nvPr/>
        </p:nvSpPr>
        <p:spPr>
          <a:xfrm>
            <a:off x="3566160" y="3977640"/>
            <a:ext cx="2560320" cy="411480"/>
          </a:xfrm>
          <a:prstGeom prst="roundRect">
            <a:avLst>
              <a:gd name="adj" fmla="val 48889"/>
            </a:avLst>
          </a:prstGeom>
          <a:solidFill>
            <a:schemeClr val="accent1"/>
          </a:solidFill>
          <a:ln/>
        </p:spPr>
      </p:sp>
      <p:sp>
        <p:nvSpPr>
          <p:cNvPr id="7" name="Text 5"/>
          <p:cNvSpPr txBox="1"/>
          <p:nvPr/>
        </p:nvSpPr>
        <p:spPr>
          <a:xfrm>
            <a:off x="3566160" y="3977640"/>
            <a:ext cx="2560320" cy="411480"/>
          </a:xfrm>
          <a:prstGeom prst="rect">
            <a:avLst/>
          </a:prstGeom>
          <a:noFill/>
          <a:ln/>
        </p:spPr>
        <p:txBody>
          <a:bodyPr wrap="square" lIns="0" tIns="0" rIns="0" bIns="0" rtlCol="0" anchor="ctr"/>
          <a:lstStyle/>
          <a:p>
            <a:pPr marL="0" indent="0" algn="ctr">
              <a:buNone/>
            </a:pPr>
            <a:r>
              <a:rPr lang="en-US" sz="1300" b="1" dirty="0">
                <a:solidFill>
                  <a:schemeClr val="bg1"/>
                </a:solidFill>
              </a:rPr>
              <a:t>EHR + wearable data fusion</a:t>
            </a:r>
            <a:endParaRPr lang="en-US" sz="1300" dirty="0"/>
          </a:p>
        </p:txBody>
      </p:sp>
      <p:sp>
        <p:nvSpPr>
          <p:cNvPr id="8" name="Tag 3"/>
          <p:cNvSpPr/>
          <p:nvPr/>
        </p:nvSpPr>
        <p:spPr>
          <a:xfrm>
            <a:off x="6309360" y="3977640"/>
            <a:ext cx="2560320" cy="411480"/>
          </a:xfrm>
          <a:prstGeom prst="roundRect">
            <a:avLst>
              <a:gd name="adj" fmla="val 48889"/>
            </a:avLst>
          </a:prstGeom>
          <a:solidFill>
            <a:schemeClr val="accent1"/>
          </a:solidFill>
          <a:ln/>
        </p:spPr>
      </p:sp>
      <p:sp>
        <p:nvSpPr>
          <p:cNvPr id="9" name="Text 7"/>
          <p:cNvSpPr txBox="1"/>
          <p:nvPr/>
        </p:nvSpPr>
        <p:spPr>
          <a:xfrm>
            <a:off x="6309360" y="3977640"/>
            <a:ext cx="2560320" cy="411480"/>
          </a:xfrm>
          <a:prstGeom prst="rect">
            <a:avLst/>
          </a:prstGeom>
          <a:noFill/>
          <a:ln/>
        </p:spPr>
        <p:txBody>
          <a:bodyPr wrap="square" lIns="0" tIns="0" rIns="0" bIns="0" rtlCol="0" anchor="ctr"/>
          <a:lstStyle/>
          <a:p>
            <a:pPr marL="0" indent="0" algn="ctr">
              <a:buNone/>
            </a:pPr>
            <a:r>
              <a:rPr lang="en-US" sz="1300" b="1" dirty="0">
                <a:solidFill>
                  <a:schemeClr val="bg1"/>
                </a:solidFill>
              </a:rPr>
              <a:t>Clinical decision support</a:t>
            </a:r>
            <a:endParaRPr lang="en-US" sz="1300" dirty="0"/>
          </a:p>
        </p:txBody>
      </p:sp>
      <p:sp>
        <p:nvSpPr>
          <p:cNvPr id="10" name="Text 8"/>
          <p:cNvSpPr txBox="1"/>
          <p:nvPr/>
        </p:nvSpPr>
        <p:spPr>
          <a:xfrm>
            <a:off x="822960" y="5029200"/>
            <a:ext cx="10058400" cy="365760"/>
          </a:xfrm>
          <a:prstGeom prst="rect">
            <a:avLst/>
          </a:prstGeom>
          <a:noFill/>
          <a:ln/>
        </p:spPr>
        <p:txBody>
          <a:bodyPr wrap="square" lIns="0" tIns="0" rIns="0" bIns="0" rtlCol="0" anchor="ctr"/>
          <a:lstStyle/>
          <a:p>
            <a:pPr marL="0" indent="0">
              <a:buNone/>
            </a:pPr>
            <a:r>
              <a:rPr lang="en-US" sz="1800" b="1" dirty="0">
                <a:solidFill>
                  <a:schemeClr val="bg1"/>
                </a:solidFill>
              </a:rPr>
              <a:t>Team Aurora</a:t>
            </a:r>
            <a:endParaRPr lang="en-US" sz="1800" dirty="0"/>
          </a:p>
        </p:txBody>
      </p:sp>
      <p:sp>
        <p:nvSpPr>
          <p:cNvPr id="11" name="Text 9"/>
          <p:cNvSpPr txBox="1"/>
          <p:nvPr/>
        </p:nvSpPr>
        <p:spPr>
          <a:xfrm>
            <a:off x="822960" y="5394960"/>
            <a:ext cx="10058400" cy="320040"/>
          </a:xfrm>
          <a:prstGeom prst="rect">
            <a:avLst/>
          </a:prstGeom>
          <a:noFill/>
          <a:ln/>
        </p:spPr>
        <p:txBody>
          <a:bodyPr wrap="square" lIns="0" tIns="0" rIns="0" bIns="0" rtlCol="0" anchor="ctr"/>
          <a:lstStyle/>
          <a:p>
            <a:pPr marL="0" indent="0">
              <a:buNone/>
            </a:pPr>
            <a:r>
              <a:rPr lang="en-US" sz="1400" dirty="0">
                <a:solidFill>
                  <a:schemeClr val="bg2"/>
                </a:solidFill>
              </a:rPr>
              <a:t>Anandha Lakshmi RM (team leader, solo entry)  ·  The Apollo University</a:t>
            </a:r>
            <a:endParaRPr lang="en-US" sz="1400" dirty="0"/>
          </a:p>
        </p:txBody>
      </p:sp>
      <p:sp>
        <p:nvSpPr>
          <p:cNvPr id="12" name="Text 10"/>
          <p:cNvSpPr txBox="1"/>
          <p:nvPr/>
        </p:nvSpPr>
        <p:spPr>
          <a:xfrm>
            <a:off x="822960" y="5760720"/>
            <a:ext cx="10058400" cy="320040"/>
          </a:xfrm>
          <a:prstGeom prst="rect">
            <a:avLst/>
          </a:prstGeom>
          <a:noFill/>
          <a:ln/>
        </p:spPr>
        <p:txBody>
          <a:bodyPr wrap="square" lIns="0" tIns="0" rIns="0" bIns="0" rtlCol="0" anchor="ctr"/>
          <a:lstStyle/>
          <a:p>
            <a:pPr marL="0" indent="0">
              <a:buNone/>
            </a:pPr>
            <a:r>
              <a:rPr lang="en-US" sz="1400" dirty="0">
                <a:solidFill>
                  <a:schemeClr val="bg2"/>
                </a:solidFill>
              </a:rPr>
              <a:t>Happiest Health Digital Twin Challenge 2026  ·  Phase 1: Prototype &amp; Code Submission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274320"/>
            <a:ext cx="11274552" cy="685800"/>
          </a:xfrm>
          <a:prstGeom prst="rect">
            <a:avLst/>
          </a:prstGeom>
          <a:noFill/>
          <a:ln/>
        </p:spPr>
        <p:txBody>
          <a:bodyPr wrap="square" lIns="0" tIns="0" rIns="0" bIns="0" rtlCol="0" anchor="ctr"/>
          <a:lstStyle/>
          <a:p>
            <a:pPr marL="0" indent="0" algn="l">
              <a:buNone/>
            </a:pPr>
            <a:r>
              <a:rPr lang="en-US" sz="2600" b="1" dirty="0">
                <a:solidFill>
                  <a:schemeClr val="tx2"/>
                </a:solidFill>
              </a:rPr>
              <a:t>The problem: chemo toxicity is caught after it happens</a:t>
            </a:r>
            <a:endParaRPr lang="en-US" sz="2600" dirty="0"/>
          </a:p>
        </p:txBody>
      </p:sp>
      <p:sp>
        <p:nvSpPr>
          <p:cNvPr id="3" name="Gap 1 card"/>
          <p:cNvSpPr/>
          <p:nvPr/>
        </p:nvSpPr>
        <p:spPr>
          <a:xfrm>
            <a:off x="457200" y="1280160"/>
            <a:ext cx="6583680" cy="1188720"/>
          </a:xfrm>
          <a:prstGeom prst="rect">
            <a:avLst/>
          </a:prstGeom>
          <a:solidFill>
            <a:schemeClr val="bg2"/>
          </a:solidFill>
          <a:ln/>
        </p:spPr>
      </p:sp>
      <p:sp>
        <p:nvSpPr>
          <p:cNvPr id="4" name="Gap 1 accent"/>
          <p:cNvSpPr/>
          <p:nvPr/>
        </p:nvSpPr>
        <p:spPr>
          <a:xfrm>
            <a:off x="457200" y="1280160"/>
            <a:ext cx="64008" cy="1188720"/>
          </a:xfrm>
          <a:prstGeom prst="rect">
            <a:avLst/>
          </a:prstGeom>
          <a:solidFill>
            <a:schemeClr val="accent5"/>
          </a:solidFill>
          <a:ln/>
        </p:spPr>
      </p:sp>
      <p:sp>
        <p:nvSpPr>
          <p:cNvPr id="5" name="Text 3"/>
          <p:cNvSpPr txBox="1"/>
          <p:nvPr/>
        </p:nvSpPr>
        <p:spPr>
          <a:xfrm>
            <a:off x="713232" y="1408176"/>
            <a:ext cx="6126480" cy="320040"/>
          </a:xfrm>
          <a:prstGeom prst="rect">
            <a:avLst/>
          </a:prstGeom>
          <a:noFill/>
          <a:ln/>
        </p:spPr>
        <p:txBody>
          <a:bodyPr wrap="square" lIns="0" tIns="0" rIns="0" bIns="0" rtlCol="0" anchor="ctr"/>
          <a:lstStyle/>
          <a:p>
            <a:pPr marL="0" indent="0">
              <a:buNone/>
            </a:pPr>
            <a:r>
              <a:rPr lang="en-US" sz="1600" b="1" dirty="0">
                <a:solidFill>
                  <a:schemeClr val="accent5"/>
                </a:solidFill>
              </a:rPr>
              <a:t>Retrospective</a:t>
            </a:r>
            <a:endParaRPr lang="en-US" sz="1600" dirty="0"/>
          </a:p>
        </p:txBody>
      </p:sp>
      <p:sp>
        <p:nvSpPr>
          <p:cNvPr id="6" name="Text 4"/>
          <p:cNvSpPr txBox="1"/>
          <p:nvPr/>
        </p:nvSpPr>
        <p:spPr>
          <a:xfrm>
            <a:off x="713232" y="1755648"/>
            <a:ext cx="6126480" cy="594360"/>
          </a:xfrm>
          <a:prstGeom prst="rect">
            <a:avLst/>
          </a:prstGeom>
          <a:noFill/>
          <a:ln/>
        </p:spPr>
        <p:txBody>
          <a:bodyPr wrap="square" lIns="0" tIns="0" rIns="0" bIns="0" rtlCol="0" anchor="t"/>
          <a:lstStyle/>
          <a:p>
            <a:pPr marL="0" indent="0">
              <a:buNone/>
            </a:pPr>
            <a:r>
              <a:rPr lang="en-US" sz="1400" dirty="0">
                <a:solidFill>
                  <a:schemeClr val="tx1"/>
                </a:solidFill>
              </a:rPr>
              <a:t>Severe neutropenia is usually found through scheduled lab checks, after it has already happened.</a:t>
            </a:r>
            <a:endParaRPr lang="en-US" sz="1400" dirty="0"/>
          </a:p>
        </p:txBody>
      </p:sp>
      <p:sp>
        <p:nvSpPr>
          <p:cNvPr id="7" name="Gap 2 card"/>
          <p:cNvSpPr/>
          <p:nvPr/>
        </p:nvSpPr>
        <p:spPr>
          <a:xfrm>
            <a:off x="457200" y="2578608"/>
            <a:ext cx="6583680" cy="1188720"/>
          </a:xfrm>
          <a:prstGeom prst="rect">
            <a:avLst/>
          </a:prstGeom>
          <a:solidFill>
            <a:schemeClr val="bg2"/>
          </a:solidFill>
          <a:ln/>
        </p:spPr>
      </p:sp>
      <p:sp>
        <p:nvSpPr>
          <p:cNvPr id="8" name="Gap 2 accent"/>
          <p:cNvSpPr/>
          <p:nvPr/>
        </p:nvSpPr>
        <p:spPr>
          <a:xfrm>
            <a:off x="457200" y="2578608"/>
            <a:ext cx="64008" cy="1188720"/>
          </a:xfrm>
          <a:prstGeom prst="rect">
            <a:avLst/>
          </a:prstGeom>
          <a:solidFill>
            <a:schemeClr val="accent4"/>
          </a:solidFill>
          <a:ln/>
        </p:spPr>
      </p:sp>
      <p:sp>
        <p:nvSpPr>
          <p:cNvPr id="9" name="Text 7"/>
          <p:cNvSpPr txBox="1"/>
          <p:nvPr/>
        </p:nvSpPr>
        <p:spPr>
          <a:xfrm>
            <a:off x="713232" y="2706624"/>
            <a:ext cx="6126480" cy="320040"/>
          </a:xfrm>
          <a:prstGeom prst="rect">
            <a:avLst/>
          </a:prstGeom>
          <a:noFill/>
          <a:ln/>
        </p:spPr>
        <p:txBody>
          <a:bodyPr wrap="square" lIns="0" tIns="0" rIns="0" bIns="0" rtlCol="0" anchor="ctr"/>
          <a:lstStyle/>
          <a:p>
            <a:pPr marL="0" indent="0">
              <a:buNone/>
            </a:pPr>
            <a:r>
              <a:rPr lang="en-US" sz="1600" b="1" dirty="0">
                <a:solidFill>
                  <a:schemeClr val="accent4"/>
                </a:solidFill>
              </a:rPr>
              <a:t>Blind between visits</a:t>
            </a:r>
            <a:endParaRPr lang="en-US" sz="1600" dirty="0"/>
          </a:p>
        </p:txBody>
      </p:sp>
      <p:sp>
        <p:nvSpPr>
          <p:cNvPr id="10" name="Text 8"/>
          <p:cNvSpPr txBox="1"/>
          <p:nvPr/>
        </p:nvSpPr>
        <p:spPr>
          <a:xfrm>
            <a:off x="713232" y="3054096"/>
            <a:ext cx="6126480" cy="594360"/>
          </a:xfrm>
          <a:prstGeom prst="rect">
            <a:avLst/>
          </a:prstGeom>
          <a:noFill/>
          <a:ln/>
        </p:spPr>
        <p:txBody>
          <a:bodyPr wrap="square" lIns="0" tIns="0" rIns="0" bIns="0" rtlCol="0" anchor="t"/>
          <a:lstStyle/>
          <a:p>
            <a:pPr marL="0" indent="0">
              <a:buNone/>
            </a:pPr>
            <a:r>
              <a:rPr lang="en-US" sz="1400" dirty="0">
                <a:solidFill>
                  <a:schemeClr val="tx1"/>
                </a:solidFill>
              </a:rPr>
              <a:t>The patient's real-time condition goes unseen between visits, exactly when marrow strain builds.</a:t>
            </a:r>
            <a:endParaRPr lang="en-US" sz="1400" dirty="0"/>
          </a:p>
        </p:txBody>
      </p:sp>
      <p:sp>
        <p:nvSpPr>
          <p:cNvPr id="11" name="Gap 3 card"/>
          <p:cNvSpPr/>
          <p:nvPr/>
        </p:nvSpPr>
        <p:spPr>
          <a:xfrm>
            <a:off x="457200" y="3877056"/>
            <a:ext cx="6583680" cy="1188720"/>
          </a:xfrm>
          <a:prstGeom prst="rect">
            <a:avLst/>
          </a:prstGeom>
          <a:solidFill>
            <a:schemeClr val="bg2"/>
          </a:solidFill>
          <a:ln/>
        </p:spPr>
      </p:sp>
      <p:sp>
        <p:nvSpPr>
          <p:cNvPr id="12" name="Gap 3 accent"/>
          <p:cNvSpPr/>
          <p:nvPr/>
        </p:nvSpPr>
        <p:spPr>
          <a:xfrm>
            <a:off x="457200" y="3877056"/>
            <a:ext cx="64008" cy="1188720"/>
          </a:xfrm>
          <a:prstGeom prst="rect">
            <a:avLst/>
          </a:prstGeom>
          <a:solidFill>
            <a:schemeClr val="accent3"/>
          </a:solidFill>
          <a:ln/>
        </p:spPr>
      </p:sp>
      <p:sp>
        <p:nvSpPr>
          <p:cNvPr id="13" name="Text 11"/>
          <p:cNvSpPr txBox="1"/>
          <p:nvPr/>
        </p:nvSpPr>
        <p:spPr>
          <a:xfrm>
            <a:off x="713232" y="4005072"/>
            <a:ext cx="6126480" cy="320040"/>
          </a:xfrm>
          <a:prstGeom prst="rect">
            <a:avLst/>
          </a:prstGeom>
          <a:noFill/>
          <a:ln/>
        </p:spPr>
        <p:txBody>
          <a:bodyPr wrap="square" lIns="0" tIns="0" rIns="0" bIns="0" rtlCol="0" anchor="ctr"/>
          <a:lstStyle/>
          <a:p>
            <a:pPr marL="0" indent="0">
              <a:buNone/>
            </a:pPr>
            <a:r>
              <a:rPr lang="en-US" sz="1600" b="1" dirty="0">
                <a:solidFill>
                  <a:schemeClr val="accent3"/>
                </a:solidFill>
              </a:rPr>
              <a:t>Population-average dosing</a:t>
            </a:r>
            <a:endParaRPr lang="en-US" sz="1600" dirty="0"/>
          </a:p>
        </p:txBody>
      </p:sp>
      <p:sp>
        <p:nvSpPr>
          <p:cNvPr id="14" name="Text 12"/>
          <p:cNvSpPr txBox="1"/>
          <p:nvPr/>
        </p:nvSpPr>
        <p:spPr>
          <a:xfrm>
            <a:off x="713232" y="4352544"/>
            <a:ext cx="6126480" cy="594360"/>
          </a:xfrm>
          <a:prstGeom prst="rect">
            <a:avLst/>
          </a:prstGeom>
          <a:noFill/>
          <a:ln/>
        </p:spPr>
        <p:txBody>
          <a:bodyPr wrap="square" lIns="0" tIns="0" rIns="0" bIns="0" rtlCol="0" anchor="t"/>
          <a:lstStyle/>
          <a:p>
            <a:pPr marL="0" indent="0">
              <a:buNone/>
            </a:pPr>
            <a:r>
              <a:rPr lang="en-US" sz="1400" dirty="0">
                <a:solidFill>
                  <a:schemeClr val="tx1"/>
                </a:solidFill>
              </a:rPr>
              <a:t>Dosing decisions rely on population averages, not on how resilient this patient is today.</a:t>
            </a:r>
            <a:endParaRPr lang="en-US" sz="1400" dirty="0"/>
          </a:p>
        </p:txBody>
      </p:sp>
      <p:sp>
        <p:nvSpPr>
          <p:cNvPr id="15" name="Stat 1 card"/>
          <p:cNvSpPr/>
          <p:nvPr/>
        </p:nvSpPr>
        <p:spPr>
          <a:xfrm>
            <a:off x="7315200" y="1280160"/>
            <a:ext cx="2130552" cy="1280160"/>
          </a:xfrm>
          <a:prstGeom prst="rect">
            <a:avLst/>
          </a:prstGeom>
          <a:solidFill>
            <a:schemeClr val="bg2"/>
          </a:solidFill>
          <a:ln/>
        </p:spPr>
      </p:sp>
      <p:sp>
        <p:nvSpPr>
          <p:cNvPr id="16" name="Text 14"/>
          <p:cNvSpPr txBox="1"/>
          <p:nvPr/>
        </p:nvSpPr>
        <p:spPr>
          <a:xfrm>
            <a:off x="7452360" y="1389888"/>
            <a:ext cx="1874520" cy="548640"/>
          </a:xfrm>
          <a:prstGeom prst="rect">
            <a:avLst/>
          </a:prstGeom>
          <a:noFill/>
          <a:ln/>
        </p:spPr>
        <p:txBody>
          <a:bodyPr wrap="square" lIns="0" tIns="0" rIns="0" bIns="0" rtlCol="0" anchor="ctr"/>
          <a:lstStyle/>
          <a:p>
            <a:pPr marL="0" indent="0">
              <a:buNone/>
            </a:pPr>
            <a:r>
              <a:rPr lang="en-US" sz="2800" b="1" dirty="0">
                <a:solidFill>
                  <a:schemeClr val="accent1"/>
                </a:solidFill>
              </a:rPr>
              <a:t>28.2%</a:t>
            </a:r>
            <a:endParaRPr lang="en-US" sz="2800" dirty="0"/>
          </a:p>
        </p:txBody>
      </p:sp>
      <p:sp>
        <p:nvSpPr>
          <p:cNvPr id="17" name="Text 15"/>
          <p:cNvSpPr txBox="1"/>
          <p:nvPr/>
        </p:nvSpPr>
        <p:spPr>
          <a:xfrm>
            <a:off x="7452360" y="1975104"/>
            <a:ext cx="1874520" cy="502920"/>
          </a:xfrm>
          <a:prstGeom prst="rect">
            <a:avLst/>
          </a:prstGeom>
          <a:noFill/>
          <a:ln/>
        </p:spPr>
        <p:txBody>
          <a:bodyPr wrap="square" lIns="0" tIns="0" rIns="0" bIns="0" rtlCol="0" anchor="t"/>
          <a:lstStyle/>
          <a:p>
            <a:pPr marL="0" indent="0">
              <a:buNone/>
            </a:pPr>
            <a:r>
              <a:rPr lang="en-US" sz="1100" dirty="0">
                <a:solidFill>
                  <a:schemeClr val="tx1"/>
                </a:solidFill>
              </a:rPr>
              <a:t>of all female cancer diagnoses in India</a:t>
            </a:r>
            <a:endParaRPr lang="en-US" sz="1100" dirty="0"/>
          </a:p>
        </p:txBody>
      </p:sp>
      <p:sp>
        <p:nvSpPr>
          <p:cNvPr id="18" name="Stat 2 card"/>
          <p:cNvSpPr/>
          <p:nvPr/>
        </p:nvSpPr>
        <p:spPr>
          <a:xfrm>
            <a:off x="9601200" y="1280160"/>
            <a:ext cx="2130552" cy="1280160"/>
          </a:xfrm>
          <a:prstGeom prst="rect">
            <a:avLst/>
          </a:prstGeom>
          <a:solidFill>
            <a:schemeClr val="bg2"/>
          </a:solidFill>
          <a:ln/>
        </p:spPr>
      </p:sp>
      <p:sp>
        <p:nvSpPr>
          <p:cNvPr id="19" name="Text 17"/>
          <p:cNvSpPr txBox="1"/>
          <p:nvPr/>
        </p:nvSpPr>
        <p:spPr>
          <a:xfrm>
            <a:off x="9738360" y="1389888"/>
            <a:ext cx="1874520" cy="548640"/>
          </a:xfrm>
          <a:prstGeom prst="rect">
            <a:avLst/>
          </a:prstGeom>
          <a:noFill/>
          <a:ln/>
        </p:spPr>
        <p:txBody>
          <a:bodyPr wrap="square" lIns="0" tIns="0" rIns="0" bIns="0" rtlCol="0" anchor="ctr"/>
          <a:lstStyle/>
          <a:p>
            <a:pPr marL="0" indent="0">
              <a:buNone/>
            </a:pPr>
            <a:r>
              <a:rPr lang="en-US" sz="2800" b="1" dirty="0">
                <a:solidFill>
                  <a:schemeClr val="accent2"/>
                </a:solidFill>
              </a:rPr>
              <a:t>200,000+</a:t>
            </a:r>
            <a:endParaRPr lang="en-US" sz="2800" dirty="0"/>
          </a:p>
        </p:txBody>
      </p:sp>
      <p:sp>
        <p:nvSpPr>
          <p:cNvPr id="20" name="Text 18"/>
          <p:cNvSpPr txBox="1"/>
          <p:nvPr/>
        </p:nvSpPr>
        <p:spPr>
          <a:xfrm>
            <a:off x="9738360" y="1975104"/>
            <a:ext cx="1874520" cy="502920"/>
          </a:xfrm>
          <a:prstGeom prst="rect">
            <a:avLst/>
          </a:prstGeom>
          <a:noFill/>
          <a:ln/>
        </p:spPr>
        <p:txBody>
          <a:bodyPr wrap="square" lIns="0" tIns="0" rIns="0" bIns="0" rtlCol="0" anchor="t"/>
          <a:lstStyle/>
          <a:p>
            <a:pPr marL="0" indent="0">
              <a:buNone/>
            </a:pPr>
            <a:r>
              <a:rPr lang="en-US" sz="1100" dirty="0">
                <a:solidFill>
                  <a:schemeClr val="tx1"/>
                </a:solidFill>
              </a:rPr>
              <a:t>new breast cancer cases each year</a:t>
            </a:r>
            <a:endParaRPr lang="en-US" sz="1100" dirty="0"/>
          </a:p>
        </p:txBody>
      </p:sp>
      <p:sp>
        <p:nvSpPr>
          <p:cNvPr id="21" name="Stat 3 card"/>
          <p:cNvSpPr/>
          <p:nvPr/>
        </p:nvSpPr>
        <p:spPr>
          <a:xfrm>
            <a:off x="7315200" y="2670048"/>
            <a:ext cx="2130552" cy="1280160"/>
          </a:xfrm>
          <a:prstGeom prst="rect">
            <a:avLst/>
          </a:prstGeom>
          <a:solidFill>
            <a:schemeClr val="bg2"/>
          </a:solidFill>
          <a:ln/>
        </p:spPr>
      </p:sp>
      <p:sp>
        <p:nvSpPr>
          <p:cNvPr id="22" name="Text 20"/>
          <p:cNvSpPr txBox="1"/>
          <p:nvPr/>
        </p:nvSpPr>
        <p:spPr>
          <a:xfrm>
            <a:off x="7452360" y="2779776"/>
            <a:ext cx="1874520" cy="548640"/>
          </a:xfrm>
          <a:prstGeom prst="rect">
            <a:avLst/>
          </a:prstGeom>
          <a:noFill/>
          <a:ln/>
        </p:spPr>
        <p:txBody>
          <a:bodyPr wrap="square" lIns="0" tIns="0" rIns="0" bIns="0" rtlCol="0" anchor="ctr"/>
          <a:lstStyle/>
          <a:p>
            <a:pPr marL="0" indent="0">
              <a:buNone/>
            </a:pPr>
            <a:r>
              <a:rPr lang="en-US" sz="2800" b="1" dirty="0">
                <a:solidFill>
                  <a:schemeClr val="accent3"/>
                </a:solidFill>
              </a:rPr>
              <a:t>1 in 28</a:t>
            </a:r>
            <a:endParaRPr lang="en-US" sz="2800" dirty="0"/>
          </a:p>
        </p:txBody>
      </p:sp>
      <p:sp>
        <p:nvSpPr>
          <p:cNvPr id="23" name="Text 21"/>
          <p:cNvSpPr txBox="1"/>
          <p:nvPr/>
        </p:nvSpPr>
        <p:spPr>
          <a:xfrm>
            <a:off x="7452360" y="3364992"/>
            <a:ext cx="1874520" cy="502920"/>
          </a:xfrm>
          <a:prstGeom prst="rect">
            <a:avLst/>
          </a:prstGeom>
          <a:noFill/>
          <a:ln/>
        </p:spPr>
        <p:txBody>
          <a:bodyPr wrap="square" lIns="0" tIns="0" rIns="0" bIns="0" rtlCol="0" anchor="t"/>
          <a:lstStyle/>
          <a:p>
            <a:pPr marL="0" indent="0">
              <a:buNone/>
            </a:pPr>
            <a:r>
              <a:rPr lang="en-US" sz="1100" dirty="0">
                <a:solidFill>
                  <a:schemeClr val="tx1"/>
                </a:solidFill>
              </a:rPr>
              <a:t>projected lifetime risk for Indian women</a:t>
            </a:r>
            <a:endParaRPr lang="en-US" sz="1100" dirty="0"/>
          </a:p>
        </p:txBody>
      </p:sp>
      <p:sp>
        <p:nvSpPr>
          <p:cNvPr id="24" name="Stat 4 card"/>
          <p:cNvSpPr/>
          <p:nvPr/>
        </p:nvSpPr>
        <p:spPr>
          <a:xfrm>
            <a:off x="9601200" y="2670048"/>
            <a:ext cx="2130552" cy="1280160"/>
          </a:xfrm>
          <a:prstGeom prst="rect">
            <a:avLst/>
          </a:prstGeom>
          <a:solidFill>
            <a:schemeClr val="bg2"/>
          </a:solidFill>
          <a:ln/>
        </p:spPr>
      </p:sp>
      <p:sp>
        <p:nvSpPr>
          <p:cNvPr id="25" name="Text 23"/>
          <p:cNvSpPr txBox="1"/>
          <p:nvPr/>
        </p:nvSpPr>
        <p:spPr>
          <a:xfrm>
            <a:off x="9738360" y="2779776"/>
            <a:ext cx="1874520" cy="548640"/>
          </a:xfrm>
          <a:prstGeom prst="rect">
            <a:avLst/>
          </a:prstGeom>
          <a:noFill/>
          <a:ln/>
        </p:spPr>
        <p:txBody>
          <a:bodyPr wrap="square" lIns="0" tIns="0" rIns="0" bIns="0" rtlCol="0" anchor="ctr"/>
          <a:lstStyle/>
          <a:p>
            <a:pPr marL="0" indent="0">
              <a:buNone/>
            </a:pPr>
            <a:r>
              <a:rPr lang="en-US" sz="2800" b="1" dirty="0">
                <a:solidFill>
                  <a:schemeClr val="accent4"/>
                </a:solidFill>
              </a:rPr>
              <a:t>&gt; 50%</a:t>
            </a:r>
            <a:endParaRPr lang="en-US" sz="2800" dirty="0"/>
          </a:p>
        </p:txBody>
      </p:sp>
      <p:sp>
        <p:nvSpPr>
          <p:cNvPr id="26" name="Text 24"/>
          <p:cNvSpPr txBox="1"/>
          <p:nvPr/>
        </p:nvSpPr>
        <p:spPr>
          <a:xfrm>
            <a:off x="9738360" y="3364992"/>
            <a:ext cx="1874520" cy="502920"/>
          </a:xfrm>
          <a:prstGeom prst="rect">
            <a:avLst/>
          </a:prstGeom>
          <a:noFill/>
          <a:ln/>
        </p:spPr>
        <p:txBody>
          <a:bodyPr wrap="square" lIns="0" tIns="0" rIns="0" bIns="0" rtlCol="0" anchor="t"/>
          <a:lstStyle/>
          <a:p>
            <a:pPr marL="0" indent="0">
              <a:buNone/>
            </a:pPr>
            <a:r>
              <a:rPr lang="en-US" sz="1100" dirty="0">
                <a:solidFill>
                  <a:schemeClr val="tx1"/>
                </a:solidFill>
              </a:rPr>
              <a:t>present at locally advanced stages</a:t>
            </a:r>
            <a:endParaRPr lang="en-US" sz="1100" dirty="0"/>
          </a:p>
        </p:txBody>
      </p:sp>
      <p:sp>
        <p:nvSpPr>
          <p:cNvPr id="27" name="Chosen cancer card"/>
          <p:cNvSpPr/>
          <p:nvPr/>
        </p:nvSpPr>
        <p:spPr>
          <a:xfrm>
            <a:off x="7315200" y="4059936"/>
            <a:ext cx="4416552" cy="1005840"/>
          </a:xfrm>
          <a:prstGeom prst="rect">
            <a:avLst/>
          </a:prstGeom>
          <a:solidFill>
            <a:schemeClr val="bg2"/>
          </a:solidFill>
          <a:ln/>
        </p:spPr>
      </p:sp>
      <p:sp>
        <p:nvSpPr>
          <p:cNvPr id="28" name="Chosen cancer accent"/>
          <p:cNvSpPr/>
          <p:nvPr/>
        </p:nvSpPr>
        <p:spPr>
          <a:xfrm>
            <a:off x="7315200" y="4059936"/>
            <a:ext cx="64008" cy="1005840"/>
          </a:xfrm>
          <a:prstGeom prst="rect">
            <a:avLst/>
          </a:prstGeom>
          <a:solidFill>
            <a:schemeClr val="accent1"/>
          </a:solidFill>
          <a:ln/>
        </p:spPr>
      </p:sp>
      <p:sp>
        <p:nvSpPr>
          <p:cNvPr id="29" name="Text 27"/>
          <p:cNvSpPr txBox="1"/>
          <p:nvPr/>
        </p:nvSpPr>
        <p:spPr>
          <a:xfrm>
            <a:off x="7543800" y="4114800"/>
            <a:ext cx="4069080" cy="896112"/>
          </a:xfrm>
          <a:prstGeom prst="rect">
            <a:avLst/>
          </a:prstGeom>
          <a:noFill/>
          <a:ln/>
        </p:spPr>
        <p:txBody>
          <a:bodyPr wrap="square" lIns="0" tIns="0" rIns="0" bIns="0" rtlCol="0" anchor="ctr"/>
          <a:lstStyle/>
          <a:p>
            <a:pPr marL="0" indent="0">
              <a:buNone/>
            </a:pPr>
            <a:r>
              <a:rPr lang="en-US" sz="1200" b="1" dirty="0">
                <a:solidFill>
                  <a:schemeClr val="accent1"/>
                </a:solidFill>
              </a:rPr>
              <a:t>Chosen cancer: </a:t>
            </a:r>
            <a:r>
              <a:rPr lang="en-US" sz="1200" dirty="0">
                <a:solidFill>
                  <a:schemeClr val="tx1"/>
                </a:solidFill>
              </a:rPr>
              <a:t>breast cancer (invasive ductal, Stage II–IV) on myelosuppressive chemo such as doxorubicin + cyclophosphamide or paclitaxel.</a:t>
            </a:r>
            <a:endParaRPr lang="en-US" sz="1200" dirty="0"/>
          </a:p>
        </p:txBody>
      </p:sp>
      <p:sp>
        <p:nvSpPr>
          <p:cNvPr id="30" name="Question banner"/>
          <p:cNvSpPr/>
          <p:nvPr/>
        </p:nvSpPr>
        <p:spPr>
          <a:xfrm>
            <a:off x="457200" y="5230368"/>
            <a:ext cx="11274552" cy="868680"/>
          </a:xfrm>
          <a:prstGeom prst="rect">
            <a:avLst/>
          </a:prstGeom>
          <a:solidFill>
            <a:schemeClr val="tx2"/>
          </a:solidFill>
          <a:ln/>
        </p:spPr>
      </p:sp>
      <p:sp>
        <p:nvSpPr>
          <p:cNvPr id="31" name="Text 29"/>
          <p:cNvSpPr txBox="1"/>
          <p:nvPr/>
        </p:nvSpPr>
        <p:spPr>
          <a:xfrm>
            <a:off x="731520" y="5230368"/>
            <a:ext cx="10744200" cy="868680"/>
          </a:xfrm>
          <a:prstGeom prst="rect">
            <a:avLst/>
          </a:prstGeom>
          <a:noFill/>
          <a:ln/>
        </p:spPr>
        <p:txBody>
          <a:bodyPr wrap="square" lIns="0" tIns="0" rIns="0" bIns="0" rtlCol="0" anchor="ctr"/>
          <a:lstStyle/>
          <a:p>
            <a:pPr marL="0" indent="0">
              <a:buNone/>
            </a:pPr>
            <a:r>
              <a:rPr lang="en-US" sz="1500" b="1" dirty="0">
                <a:solidFill>
                  <a:schemeClr val="accent4"/>
                </a:solidFill>
              </a:rPr>
              <a:t>The question we ask   </a:t>
            </a:r>
            <a:r>
              <a:rPr lang="en-US" sz="1500" dirty="0">
                <a:solidFill>
                  <a:schemeClr val="bg1"/>
                </a:solidFill>
              </a:rPr>
              <a:t>Can a continuously updated virtual patient see severe neutropenia coming, and show the oncologist which dosing day is safest without letting the tumor regrow?</a:t>
            </a:r>
            <a:endParaRPr lang="en-US" sz="1500" dirty="0"/>
          </a:p>
        </p:txBody>
      </p:sp>
      <p:sp>
        <p:nvSpPr>
          <p:cNvPr id="32" name="Text 30"/>
          <p:cNvSpPr txBox="1"/>
          <p:nvPr/>
        </p:nvSpPr>
        <p:spPr>
          <a:xfrm>
            <a:off x="457200" y="6172200"/>
            <a:ext cx="8229600" cy="228600"/>
          </a:xfrm>
          <a:prstGeom prst="rect">
            <a:avLst/>
          </a:prstGeom>
          <a:noFill/>
          <a:ln/>
        </p:spPr>
        <p:txBody>
          <a:bodyPr wrap="square" lIns="0" tIns="0" rIns="0" bIns="0" rtlCol="0" anchor="ctr"/>
          <a:lstStyle/>
          <a:p>
            <a:pPr marL="0" indent="0">
              <a:buNone/>
            </a:pPr>
            <a:r>
              <a:rPr lang="en-US" sz="1000" i="1" dirty="0">
                <a:solidFill>
                  <a:schemeClr val="tx1"/>
                </a:solidFill>
              </a:rPr>
              <a:t>Source: ICMR-NCRP report 2020–2025; Mathur et al., JCO Global Oncology 2020.</a:t>
            </a:r>
            <a:endParaRPr lang="en-US" sz="1000" dirty="0"/>
          </a:p>
        </p:txBody>
      </p:sp>
      <p:sp>
        <p:nvSpPr>
          <p:cNvPr id="33" name="Slide Number Placeholder 0"/>
          <p:cNvSpPr>
            <a:spLocks noGrp="1"/>
          </p:cNvSpPr>
          <p:nvPr>
            <p:ph type="sldNum" sz="quarter" idx="4294967295"/>
          </p:nvPr>
        </p:nvSpPr>
        <p:spPr>
          <a:xfrm>
            <a:off x="11155680" y="6464808"/>
            <a:ext cx="5943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274320"/>
            <a:ext cx="11274552" cy="685800"/>
          </a:xfrm>
          <a:prstGeom prst="rect">
            <a:avLst/>
          </a:prstGeom>
          <a:noFill/>
          <a:ln/>
        </p:spPr>
        <p:txBody>
          <a:bodyPr wrap="square" lIns="0" tIns="0" rIns="0" bIns="0" rtlCol="0" anchor="ctr"/>
          <a:lstStyle/>
          <a:p>
            <a:pPr marL="0" indent="0" algn="l">
              <a:buNone/>
            </a:pPr>
            <a:r>
              <a:rPr lang="en-US" sz="2600" b="1" dirty="0">
                <a:solidFill>
                  <a:schemeClr val="tx2"/>
                </a:solidFill>
              </a:rPr>
              <a:t>The ONCO-TWIN solution: one virtual patient, two answers</a:t>
            </a:r>
            <a:endParaRPr lang="en-US" sz="2600" dirty="0"/>
          </a:p>
        </p:txBody>
      </p:sp>
      <p:sp>
        <p:nvSpPr>
          <p:cNvPr id="26" name="Rectangle 25"/>
          <p:cNvSpPr/>
          <p:nvPr/>
        </p:nvSpPr>
        <p:spPr>
          <a:xfrm>
            <a:off x="457200" y="1143000"/>
            <a:ext cx="3654552"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57200" y="1143000"/>
            <a:ext cx="64008" cy="160020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67200" y="1243000"/>
            <a:ext cx="3274552" cy="300000"/>
          </a:xfrm>
          <a:prstGeom prst="rect">
            <a:avLst/>
          </a:prstGeom>
          <a:noFill/>
        </p:spPr>
        <p:txBody>
          <a:bodyPr wrap="square" lIns="0" tIns="0" rIns="0" bIns="0" anchor="ctr">
            <a:spAutoFit/>
          </a:bodyPr>
          <a:lstStyle/>
          <a:p>
            <a:pPr>
              <a:spcAft>
                <a:spcPts val="600"/>
              </a:spcAft>
              <a:buNone/>
            </a:pPr>
            <a:r>
              <a:rPr sz="1400" b="1">
                <a:solidFill>
                  <a:schemeClr val="accent3"/>
                </a:solidFill>
              </a:rPr>
              <a:t>Dual data fusion</a:t>
            </a:r>
          </a:p>
        </p:txBody>
      </p:sp>
      <p:sp>
        <p:nvSpPr>
          <p:cNvPr id="29" name="TextBox 28"/>
          <p:cNvSpPr txBox="1"/>
          <p:nvPr/>
        </p:nvSpPr>
        <p:spPr>
          <a:xfrm>
            <a:off x="667200" y="1593000"/>
            <a:ext cx="3274552" cy="1080200"/>
          </a:xfrm>
          <a:prstGeom prst="rect">
            <a:avLst/>
          </a:prstGeom>
          <a:noFill/>
        </p:spPr>
        <p:txBody>
          <a:bodyPr wrap="square" lIns="0" tIns="0" rIns="0" bIns="0" anchor="t">
            <a:spAutoFit/>
          </a:bodyPr>
          <a:lstStyle/>
          <a:p>
            <a:pPr marL="228600" indent="-228600">
              <a:spcAft>
                <a:spcPts val="600"/>
              </a:spcAft>
              <a:buChar char="•"/>
            </a:pPr>
            <a:r>
              <a:rPr sz="1150" b="1">
                <a:solidFill>
                  <a:schemeClr val="tx1"/>
                </a:solidFill>
              </a:rPr>
              <a:t>Static EHR: </a:t>
            </a:r>
            <a:r>
              <a:rPr sz="1150" b="0">
                <a:solidFill>
                  <a:schemeClr val="tx1"/>
                </a:solidFill>
              </a:rPr>
              <a:t>baseline labs, stage, biomarkers, ECOG</a:t>
            </a:r>
          </a:p>
          <a:p>
            <a:pPr marL="228600" indent="-228600">
              <a:spcAft>
                <a:spcPts val="600"/>
              </a:spcAft>
              <a:buChar char="•"/>
            </a:pPr>
            <a:r>
              <a:rPr sz="1150" b="1">
                <a:solidFill>
                  <a:schemeClr val="tx1"/>
                </a:solidFill>
              </a:rPr>
              <a:t>Dynamic wearables: </a:t>
            </a:r>
            <a:r>
              <a:rPr sz="1150" b="0">
                <a:solidFill>
                  <a:schemeClr val="tx1"/>
                </a:solidFill>
              </a:rPr>
              <a:t>HRV, resting heart rate, steps, sleep</a:t>
            </a:r>
          </a:p>
          <a:p>
            <a:pPr marL="228600" indent="-228600">
              <a:spcAft>
                <a:spcPts val="600"/>
              </a:spcAft>
              <a:buChar char="•"/>
            </a:pPr>
            <a:r>
              <a:rPr sz="1150" b="0">
                <a:solidFill>
                  <a:schemeClr val="tx1"/>
                </a:solidFill>
              </a:rPr>
              <a:t>Fused into one twin state, refreshed daily</a:t>
            </a:r>
          </a:p>
        </p:txBody>
      </p:sp>
      <p:sp>
        <p:nvSpPr>
          <p:cNvPr id="30" name="Rectangle 29"/>
          <p:cNvSpPr/>
          <p:nvPr/>
        </p:nvSpPr>
        <p:spPr>
          <a:xfrm>
            <a:off x="4267200" y="1143000"/>
            <a:ext cx="3654552"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267200" y="1143000"/>
            <a:ext cx="64008" cy="1600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477200" y="1243000"/>
            <a:ext cx="3274552" cy="300000"/>
          </a:xfrm>
          <a:prstGeom prst="rect">
            <a:avLst/>
          </a:prstGeom>
          <a:noFill/>
        </p:spPr>
        <p:txBody>
          <a:bodyPr wrap="square" lIns="0" tIns="0" rIns="0" bIns="0" anchor="ctr">
            <a:spAutoFit/>
          </a:bodyPr>
          <a:lstStyle/>
          <a:p>
            <a:pPr>
              <a:spcAft>
                <a:spcPts val="600"/>
              </a:spcAft>
              <a:buNone/>
            </a:pPr>
            <a:r>
              <a:rPr sz="1400" b="1">
                <a:solidFill>
                  <a:schemeClr val="accent1"/>
                </a:solidFill>
              </a:rPr>
              <a:t>Output 1 · Toxicity model</a:t>
            </a:r>
          </a:p>
        </p:txBody>
      </p:sp>
      <p:sp>
        <p:nvSpPr>
          <p:cNvPr id="33" name="TextBox 32"/>
          <p:cNvSpPr txBox="1"/>
          <p:nvPr/>
        </p:nvSpPr>
        <p:spPr>
          <a:xfrm>
            <a:off x="4477200" y="1593000"/>
            <a:ext cx="3274552" cy="1080200"/>
          </a:xfrm>
          <a:prstGeom prst="rect">
            <a:avLst/>
          </a:prstGeom>
          <a:noFill/>
        </p:spPr>
        <p:txBody>
          <a:bodyPr wrap="square" lIns="0" tIns="0" rIns="0" bIns="0" anchor="t">
            <a:spAutoFit/>
          </a:bodyPr>
          <a:lstStyle/>
          <a:p>
            <a:pPr marL="228600" indent="-228600">
              <a:spcAft>
                <a:spcPts val="600"/>
              </a:spcAft>
              <a:buChar char="•"/>
            </a:pPr>
            <a:r>
              <a:rPr sz="1150" b="0">
                <a:solidFill>
                  <a:schemeClr val="tx1"/>
                </a:solidFill>
              </a:rPr>
              <a:t>Risk of severe neutropenia </a:t>
            </a:r>
            <a:r>
              <a:rPr sz="1150" b="1">
                <a:solidFill>
                  <a:schemeClr val="tx1"/>
                </a:solidFill>
              </a:rPr>
              <a:t>(ANC &lt; 1.0 ×10⁹/L)</a:t>
            </a:r>
            <a:r>
              <a:rPr sz="1150" b="0">
                <a:solidFill>
                  <a:schemeClr val="tx1"/>
                </a:solidFill>
              </a:rPr>
              <a:t> within 7 days post-dose</a:t>
            </a:r>
          </a:p>
          <a:p>
            <a:pPr marL="228600" indent="-228600">
              <a:spcAft>
                <a:spcPts val="600"/>
              </a:spcAft>
              <a:buChar char="•"/>
            </a:pPr>
            <a:r>
              <a:rPr sz="1150" b="0">
                <a:solidFill>
                  <a:schemeClr val="tx1"/>
                </a:solidFill>
              </a:rPr>
              <a:t>Scored for each candidate window: </a:t>
            </a:r>
            <a:r>
              <a:rPr sz="1150" b="1">
                <a:solidFill>
                  <a:schemeClr val="tx1"/>
                </a:solidFill>
              </a:rPr>
              <a:t>+0, +3, +7, +14 days</a:t>
            </a:r>
          </a:p>
        </p:txBody>
      </p:sp>
      <p:sp>
        <p:nvSpPr>
          <p:cNvPr id="34" name="Rectangle 33"/>
          <p:cNvSpPr/>
          <p:nvPr/>
        </p:nvSpPr>
        <p:spPr>
          <a:xfrm>
            <a:off x="8077200" y="1143000"/>
            <a:ext cx="3654552"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8077200" y="1143000"/>
            <a:ext cx="64008" cy="160020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87200" y="1243000"/>
            <a:ext cx="3274552" cy="300000"/>
          </a:xfrm>
          <a:prstGeom prst="rect">
            <a:avLst/>
          </a:prstGeom>
          <a:noFill/>
        </p:spPr>
        <p:txBody>
          <a:bodyPr wrap="square" lIns="0" tIns="0" rIns="0" bIns="0" anchor="ctr">
            <a:spAutoFit/>
          </a:bodyPr>
          <a:lstStyle/>
          <a:p>
            <a:pPr>
              <a:spcAft>
                <a:spcPts val="600"/>
              </a:spcAft>
              <a:buNone/>
            </a:pPr>
            <a:r>
              <a:rPr sz="1400" b="1">
                <a:solidFill>
                  <a:schemeClr val="accent2"/>
                </a:solidFill>
              </a:rPr>
              <a:t>Output 2 · Cost-of-delay panel</a:t>
            </a:r>
          </a:p>
        </p:txBody>
      </p:sp>
      <p:sp>
        <p:nvSpPr>
          <p:cNvPr id="37" name="TextBox 36"/>
          <p:cNvSpPr txBox="1"/>
          <p:nvPr/>
        </p:nvSpPr>
        <p:spPr>
          <a:xfrm>
            <a:off x="8287200" y="1593000"/>
            <a:ext cx="3274552" cy="1080200"/>
          </a:xfrm>
          <a:prstGeom prst="rect">
            <a:avLst/>
          </a:prstGeom>
          <a:noFill/>
        </p:spPr>
        <p:txBody>
          <a:bodyPr wrap="square" lIns="0" tIns="0" rIns="0" bIns="0" anchor="t">
            <a:spAutoFit/>
          </a:bodyPr>
          <a:lstStyle/>
          <a:p>
            <a:pPr marL="228600" indent="-228600">
              <a:spcAft>
                <a:spcPts val="600"/>
              </a:spcAft>
              <a:buChar char="•"/>
            </a:pPr>
            <a:r>
              <a:rPr sz="1150" b="0">
                <a:solidFill>
                  <a:schemeClr val="tx1"/>
                </a:solidFill>
              </a:rPr>
              <a:t>Patient-specific </a:t>
            </a:r>
            <a:r>
              <a:rPr sz="1150" b="1">
                <a:solidFill>
                  <a:schemeClr val="tx1"/>
                </a:solidFill>
              </a:rPr>
              <a:t>Gompertz</a:t>
            </a:r>
            <a:r>
              <a:rPr sz="1150" b="0">
                <a:solidFill>
                  <a:schemeClr val="tx1"/>
                </a:solidFill>
              </a:rPr>
              <a:t> tumor regrowth for each delay</a:t>
            </a:r>
          </a:p>
          <a:p>
            <a:pPr marL="228600" indent="-228600">
              <a:spcAft>
                <a:spcPts val="600"/>
              </a:spcAft>
              <a:buChar char="•"/>
            </a:pPr>
            <a:r>
              <a:rPr sz="1150" b="0">
                <a:solidFill>
                  <a:schemeClr val="tx1"/>
                </a:solidFill>
              </a:rPr>
              <a:t>90% uncertainty band shows the toxicity-vs-tumor-control trade-off</a:t>
            </a:r>
          </a:p>
        </p:txBody>
      </p:sp>
      <p:sp>
        <p:nvSpPr>
          <p:cNvPr id="38" name="Rectangle 37"/>
          <p:cNvSpPr/>
          <p:nvPr/>
        </p:nvSpPr>
        <p:spPr>
          <a:xfrm>
            <a:off x="429768" y="2865768"/>
            <a:ext cx="8375904" cy="2613844"/>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9" name="Dashboard trade-off screenshot" descr="tradeoff_crop.png"/>
          <p:cNvPicPr>
            <a:picLocks noChangeAspect="1"/>
          </p:cNvPicPr>
          <p:nvPr/>
        </p:nvPicPr>
        <p:blipFill>
          <a:blip r:embed="rId3"/>
          <a:stretch>
            <a:fillRect/>
          </a:stretch>
        </p:blipFill>
        <p:spPr>
          <a:xfrm>
            <a:off x="457200" y="2893200"/>
            <a:ext cx="8321040" cy="2558980"/>
          </a:xfrm>
          <a:prstGeom prst="rect">
            <a:avLst/>
          </a:prstGeom>
        </p:spPr>
      </p:pic>
      <p:sp>
        <p:nvSpPr>
          <p:cNvPr id="40" name="TextBox 39"/>
          <p:cNvSpPr txBox="1"/>
          <p:nvPr/>
        </p:nvSpPr>
        <p:spPr>
          <a:xfrm>
            <a:off x="457200" y="5522180"/>
            <a:ext cx="8321040" cy="230000"/>
          </a:xfrm>
          <a:prstGeom prst="rect">
            <a:avLst/>
          </a:prstGeom>
          <a:noFill/>
        </p:spPr>
        <p:txBody>
          <a:bodyPr wrap="square" lIns="0" tIns="0" rIns="0" bIns="0" anchor="t">
            <a:spAutoFit/>
          </a:bodyPr>
          <a:lstStyle/>
          <a:p>
            <a:pPr>
              <a:spcAft>
                <a:spcPts val="600"/>
              </a:spcAft>
              <a:buNone/>
            </a:pPr>
            <a:r>
              <a:rPr sz="1000" b="0">
                <a:solidFill>
                  <a:schemeClr val="tx1"/>
                </a:solidFill>
              </a:rPr>
              <a:t>Live dashboard, patient PT_001 at day 21: toxicity (red) vs fitted tumor regrowth (blue) per dosing window.</a:t>
            </a:r>
          </a:p>
        </p:txBody>
      </p:sp>
      <p:sp>
        <p:nvSpPr>
          <p:cNvPr id="41" name="Rectangle 40"/>
          <p:cNvSpPr/>
          <p:nvPr/>
        </p:nvSpPr>
        <p:spPr>
          <a:xfrm>
            <a:off x="8978240" y="2893200"/>
            <a:ext cx="2753512" cy="25589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9158240" y="3033200"/>
            <a:ext cx="2393512" cy="2278980"/>
          </a:xfrm>
          <a:prstGeom prst="rect">
            <a:avLst/>
          </a:prstGeom>
          <a:noFill/>
        </p:spPr>
        <p:txBody>
          <a:bodyPr wrap="square" lIns="0" tIns="0" rIns="0" bIns="0" anchor="t">
            <a:spAutoFit/>
          </a:bodyPr>
          <a:lstStyle/>
          <a:p>
            <a:pPr>
              <a:spcAft>
                <a:spcPts val="600"/>
              </a:spcAft>
              <a:buNone/>
            </a:pPr>
            <a:r>
              <a:rPr sz="1400" b="1">
                <a:solidFill>
                  <a:schemeClr val="accent4"/>
                </a:solidFill>
              </a:rPr>
              <a:t>Reading the panel</a:t>
            </a:r>
          </a:p>
          <a:p>
            <a:pPr marL="228600" indent="-228600">
              <a:spcAft>
                <a:spcPts val="600"/>
              </a:spcAft>
              <a:buChar char="•"/>
            </a:pPr>
            <a:r>
              <a:rPr sz="1150" b="1">
                <a:solidFill>
                  <a:schemeClr val="bg1"/>
                </a:solidFill>
              </a:rPr>
              <a:t>Day +0: </a:t>
            </a:r>
            <a:r>
              <a:rPr sz="1150" b="0">
                <a:solidFill>
                  <a:schemeClr val="bg1"/>
                </a:solidFill>
              </a:rPr>
              <a:t>3.3% risk, no regrowth</a:t>
            </a:r>
          </a:p>
          <a:p>
            <a:pPr marL="228600" indent="-228600">
              <a:spcAft>
                <a:spcPts val="600"/>
              </a:spcAft>
              <a:buChar char="•"/>
            </a:pPr>
            <a:r>
              <a:rPr sz="1150" b="1">
                <a:solidFill>
                  <a:schemeClr val="bg1"/>
                </a:solidFill>
              </a:rPr>
              <a:t>Day +14: </a:t>
            </a:r>
            <a:r>
              <a:rPr sz="1150" b="0">
                <a:solidFill>
                  <a:schemeClr val="bg1"/>
                </a:solidFill>
              </a:rPr>
              <a:t>1.0% risk, but +45.8% tumor volume</a:t>
            </a:r>
          </a:p>
          <a:p>
            <a:pPr>
              <a:spcAft>
                <a:spcPts val="600"/>
              </a:spcAft>
              <a:buNone/>
            </a:pPr>
            <a:r>
              <a:rPr sz="1150" b="0">
                <a:solidFill>
                  <a:schemeClr val="bg1"/>
                </a:solidFill>
              </a:rPr>
              <a:t>Waiting buys ~2 points of safety at a large tumor cost, so the twin supports dosing on schedule.</a:t>
            </a:r>
          </a:p>
          <a:p>
            <a:pPr>
              <a:spcAft>
                <a:spcPts val="600"/>
              </a:spcAft>
              <a:buNone/>
            </a:pPr>
            <a:r>
              <a:rPr sz="1150" b="1">
                <a:solidFill>
                  <a:schemeClr val="accent4"/>
                </a:solidFill>
              </a:rPr>
              <a:t>The oncologist decides.</a:t>
            </a:r>
          </a:p>
        </p:txBody>
      </p:sp>
      <p:sp>
        <p:nvSpPr>
          <p:cNvPr id="25" name="Slide Number Placeholder 0"/>
          <p:cNvSpPr>
            <a:spLocks noGrp="1"/>
          </p:cNvSpPr>
          <p:nvPr>
            <p:ph type="sldNum" sz="quarter" idx="4294967295"/>
          </p:nvPr>
        </p:nvSpPr>
        <p:spPr>
          <a:xfrm>
            <a:off x="11155680" y="6464808"/>
            <a:ext cx="5943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274320"/>
            <a:ext cx="11274552" cy="685800"/>
          </a:xfrm>
          <a:prstGeom prst="rect">
            <a:avLst/>
          </a:prstGeom>
          <a:noFill/>
          <a:ln/>
        </p:spPr>
        <p:txBody>
          <a:bodyPr wrap="square" lIns="0" tIns="0" rIns="0" bIns="0" rtlCol="0" anchor="ctr"/>
          <a:lstStyle/>
          <a:p>
            <a:pPr marL="0" indent="0" algn="l">
              <a:buNone/>
            </a:pPr>
            <a:r>
              <a:rPr lang="en-US" sz="2600" b="1" dirty="0">
                <a:solidFill>
                  <a:schemeClr val="tx2"/>
                </a:solidFill>
              </a:rPr>
              <a:t>Architecture &amp; zero-leakage pipeline</a:t>
            </a:r>
            <a:endParaRPr lang="en-US" sz="2600" dirty="0"/>
          </a:p>
        </p:txBody>
      </p:sp>
      <p:sp>
        <p:nvSpPr>
          <p:cNvPr id="3" name="Chip 1 card"/>
          <p:cNvSpPr/>
          <p:nvPr/>
        </p:nvSpPr>
        <p:spPr>
          <a:xfrm>
            <a:off x="457200" y="1234440"/>
            <a:ext cx="2679192" cy="1188720"/>
          </a:xfrm>
          <a:prstGeom prst="rect">
            <a:avLst/>
          </a:prstGeom>
          <a:solidFill>
            <a:schemeClr val="bg2"/>
          </a:solidFill>
          <a:ln/>
        </p:spPr>
      </p:sp>
      <p:sp>
        <p:nvSpPr>
          <p:cNvPr id="4" name="Chip 1 accent"/>
          <p:cNvSpPr/>
          <p:nvPr/>
        </p:nvSpPr>
        <p:spPr>
          <a:xfrm>
            <a:off x="457200" y="1234440"/>
            <a:ext cx="64008" cy="1188720"/>
          </a:xfrm>
          <a:prstGeom prst="rect">
            <a:avLst/>
          </a:prstGeom>
          <a:solidFill>
            <a:schemeClr val="accent1"/>
          </a:solidFill>
          <a:ln/>
        </p:spPr>
      </p:sp>
      <p:sp>
        <p:nvSpPr>
          <p:cNvPr id="5" name="Text 3"/>
          <p:cNvSpPr txBox="1"/>
          <p:nvPr/>
        </p:nvSpPr>
        <p:spPr>
          <a:xfrm>
            <a:off x="685800" y="1280160"/>
            <a:ext cx="2331720" cy="548640"/>
          </a:xfrm>
          <a:prstGeom prst="rect">
            <a:avLst/>
          </a:prstGeom>
          <a:noFill/>
          <a:ln/>
        </p:spPr>
        <p:txBody>
          <a:bodyPr wrap="square" lIns="0" tIns="0" rIns="0" bIns="0" rtlCol="0" anchor="ctr"/>
          <a:lstStyle/>
          <a:p>
            <a:pPr marL="0" indent="0">
              <a:buNone/>
            </a:pPr>
            <a:r>
              <a:rPr lang="en-US" sz="2800" b="1" dirty="0">
                <a:solidFill>
                  <a:schemeClr val="accent1"/>
                </a:solidFill>
              </a:rPr>
              <a:t>150</a:t>
            </a:r>
            <a:endParaRPr lang="en-US" sz="2800" dirty="0"/>
          </a:p>
        </p:txBody>
      </p:sp>
      <p:sp>
        <p:nvSpPr>
          <p:cNvPr id="6" name="Text 4"/>
          <p:cNvSpPr txBox="1"/>
          <p:nvPr/>
        </p:nvSpPr>
        <p:spPr>
          <a:xfrm>
            <a:off x="685800" y="1847088"/>
            <a:ext cx="2331720" cy="502920"/>
          </a:xfrm>
          <a:prstGeom prst="rect">
            <a:avLst/>
          </a:prstGeom>
          <a:noFill/>
          <a:ln/>
        </p:spPr>
        <p:txBody>
          <a:bodyPr wrap="square" lIns="0" tIns="0" rIns="0" bIns="0" rtlCol="0" anchor="t"/>
          <a:lstStyle/>
          <a:p>
            <a:pPr marL="0" indent="0">
              <a:buNone/>
            </a:pPr>
            <a:r>
              <a:rPr lang="en-US" sz="1150" dirty="0">
                <a:solidFill>
                  <a:schemeClr val="tx1"/>
                </a:solidFill>
              </a:rPr>
              <a:t>synthetic patients, 90 days each</a:t>
            </a:r>
            <a:endParaRPr lang="en-US" sz="1150" dirty="0"/>
          </a:p>
        </p:txBody>
      </p:sp>
      <p:sp>
        <p:nvSpPr>
          <p:cNvPr id="7" name="Chip 2 card"/>
          <p:cNvSpPr/>
          <p:nvPr/>
        </p:nvSpPr>
        <p:spPr>
          <a:xfrm>
            <a:off x="3291840" y="1234440"/>
            <a:ext cx="2679192" cy="1188720"/>
          </a:xfrm>
          <a:prstGeom prst="rect">
            <a:avLst/>
          </a:prstGeom>
          <a:solidFill>
            <a:schemeClr val="bg2"/>
          </a:solidFill>
          <a:ln/>
        </p:spPr>
      </p:sp>
      <p:sp>
        <p:nvSpPr>
          <p:cNvPr id="8" name="Chip 2 accent"/>
          <p:cNvSpPr/>
          <p:nvPr/>
        </p:nvSpPr>
        <p:spPr>
          <a:xfrm>
            <a:off x="3291840" y="1234440"/>
            <a:ext cx="64008" cy="1188720"/>
          </a:xfrm>
          <a:prstGeom prst="rect">
            <a:avLst/>
          </a:prstGeom>
          <a:solidFill>
            <a:schemeClr val="accent2"/>
          </a:solidFill>
          <a:ln/>
        </p:spPr>
      </p:sp>
      <p:sp>
        <p:nvSpPr>
          <p:cNvPr id="9" name="Text 7"/>
          <p:cNvSpPr txBox="1"/>
          <p:nvPr/>
        </p:nvSpPr>
        <p:spPr>
          <a:xfrm>
            <a:off x="3520440" y="1280160"/>
            <a:ext cx="2331720" cy="548640"/>
          </a:xfrm>
          <a:prstGeom prst="rect">
            <a:avLst/>
          </a:prstGeom>
          <a:noFill/>
          <a:ln/>
        </p:spPr>
        <p:txBody>
          <a:bodyPr wrap="square" lIns="0" tIns="0" rIns="0" bIns="0" rtlCol="0" anchor="ctr"/>
          <a:lstStyle/>
          <a:p>
            <a:pPr marL="0" indent="0">
              <a:buNone/>
            </a:pPr>
            <a:r>
              <a:rPr lang="en-US" sz="2800" b="1" dirty="0">
                <a:solidFill>
                  <a:schemeClr val="accent2"/>
                </a:solidFill>
              </a:rPr>
              <a:t>13,500</a:t>
            </a:r>
            <a:endParaRPr lang="en-US" sz="2800" dirty="0"/>
          </a:p>
        </p:txBody>
      </p:sp>
      <p:sp>
        <p:nvSpPr>
          <p:cNvPr id="10" name="Text 8"/>
          <p:cNvSpPr txBox="1"/>
          <p:nvPr/>
        </p:nvSpPr>
        <p:spPr>
          <a:xfrm>
            <a:off x="3520440" y="1847088"/>
            <a:ext cx="2331720" cy="502920"/>
          </a:xfrm>
          <a:prstGeom prst="rect">
            <a:avLst/>
          </a:prstGeom>
          <a:noFill/>
          <a:ln/>
        </p:spPr>
        <p:txBody>
          <a:bodyPr wrap="square" lIns="0" tIns="0" rIns="0" bIns="0" rtlCol="0" anchor="t"/>
          <a:lstStyle/>
          <a:p>
            <a:pPr marL="0" indent="0">
              <a:buNone/>
            </a:pPr>
            <a:r>
              <a:rPr lang="en-US" sz="1150" dirty="0">
                <a:solidFill>
                  <a:schemeClr val="tx1"/>
                </a:solidFill>
              </a:rPr>
              <a:t>daily rows in each of the clinical and wearable logs</a:t>
            </a:r>
            <a:endParaRPr lang="en-US" sz="1150" dirty="0"/>
          </a:p>
        </p:txBody>
      </p:sp>
      <p:sp>
        <p:nvSpPr>
          <p:cNvPr id="11" name="Chip 3 card"/>
          <p:cNvSpPr/>
          <p:nvPr/>
        </p:nvSpPr>
        <p:spPr>
          <a:xfrm>
            <a:off x="6126480" y="1234440"/>
            <a:ext cx="2679192" cy="1188720"/>
          </a:xfrm>
          <a:prstGeom prst="rect">
            <a:avLst/>
          </a:prstGeom>
          <a:solidFill>
            <a:schemeClr val="bg2"/>
          </a:solidFill>
          <a:ln/>
        </p:spPr>
      </p:sp>
      <p:sp>
        <p:nvSpPr>
          <p:cNvPr id="12" name="Chip 3 accent"/>
          <p:cNvSpPr/>
          <p:nvPr/>
        </p:nvSpPr>
        <p:spPr>
          <a:xfrm>
            <a:off x="6126480" y="1234440"/>
            <a:ext cx="64008" cy="1188720"/>
          </a:xfrm>
          <a:prstGeom prst="rect">
            <a:avLst/>
          </a:prstGeom>
          <a:solidFill>
            <a:schemeClr val="accent3"/>
          </a:solidFill>
          <a:ln/>
        </p:spPr>
      </p:sp>
      <p:sp>
        <p:nvSpPr>
          <p:cNvPr id="13" name="Text 11"/>
          <p:cNvSpPr txBox="1"/>
          <p:nvPr/>
        </p:nvSpPr>
        <p:spPr>
          <a:xfrm>
            <a:off x="6355080" y="1280160"/>
            <a:ext cx="2331720" cy="548640"/>
          </a:xfrm>
          <a:prstGeom prst="rect">
            <a:avLst/>
          </a:prstGeom>
          <a:noFill/>
          <a:ln/>
        </p:spPr>
        <p:txBody>
          <a:bodyPr wrap="square" lIns="0" tIns="0" rIns="0" bIns="0" rtlCol="0" anchor="ctr"/>
          <a:lstStyle/>
          <a:p>
            <a:pPr marL="0" indent="0">
              <a:buNone/>
            </a:pPr>
            <a:r>
              <a:rPr lang="en-US" sz="2800" b="1" dirty="0">
                <a:solidFill>
                  <a:schemeClr val="accent3"/>
                </a:solidFill>
              </a:rPr>
              <a:t>600</a:t>
            </a:r>
            <a:endParaRPr lang="en-US" sz="2800" dirty="0"/>
          </a:p>
        </p:txBody>
      </p:sp>
      <p:sp>
        <p:nvSpPr>
          <p:cNvPr id="14" name="Text 12"/>
          <p:cNvSpPr txBox="1"/>
          <p:nvPr/>
        </p:nvSpPr>
        <p:spPr>
          <a:xfrm>
            <a:off x="6355080" y="1847088"/>
            <a:ext cx="2331720" cy="502920"/>
          </a:xfrm>
          <a:prstGeom prst="rect">
            <a:avLst/>
          </a:prstGeom>
          <a:noFill/>
          <a:ln/>
        </p:spPr>
        <p:txBody>
          <a:bodyPr wrap="square" lIns="0" tIns="0" rIns="0" bIns="0" rtlCol="0" anchor="t"/>
          <a:lstStyle/>
          <a:p>
            <a:pPr marL="0" indent="0">
              <a:buNone/>
            </a:pPr>
            <a:r>
              <a:rPr lang="en-US" sz="1150" dirty="0">
                <a:solidFill>
                  <a:schemeClr val="tx1"/>
                </a:solidFill>
              </a:rPr>
              <a:t>dosing events</a:t>
            </a:r>
            <a:endParaRPr lang="en-US" sz="1150" dirty="0"/>
          </a:p>
        </p:txBody>
      </p:sp>
      <p:sp>
        <p:nvSpPr>
          <p:cNvPr id="15" name="Chip 4 card"/>
          <p:cNvSpPr/>
          <p:nvPr/>
        </p:nvSpPr>
        <p:spPr>
          <a:xfrm>
            <a:off x="8961120" y="1234440"/>
            <a:ext cx="2679192" cy="1188720"/>
          </a:xfrm>
          <a:prstGeom prst="rect">
            <a:avLst/>
          </a:prstGeom>
          <a:solidFill>
            <a:schemeClr val="bg2"/>
          </a:solidFill>
          <a:ln/>
        </p:spPr>
      </p:sp>
      <p:sp>
        <p:nvSpPr>
          <p:cNvPr id="16" name="Chip 4 accent"/>
          <p:cNvSpPr/>
          <p:nvPr/>
        </p:nvSpPr>
        <p:spPr>
          <a:xfrm>
            <a:off x="8961120" y="1234440"/>
            <a:ext cx="64008" cy="1188720"/>
          </a:xfrm>
          <a:prstGeom prst="rect">
            <a:avLst/>
          </a:prstGeom>
          <a:solidFill>
            <a:schemeClr val="accent6"/>
          </a:solidFill>
          <a:ln/>
        </p:spPr>
      </p:sp>
      <p:sp>
        <p:nvSpPr>
          <p:cNvPr id="17" name="Text 15"/>
          <p:cNvSpPr txBox="1"/>
          <p:nvPr/>
        </p:nvSpPr>
        <p:spPr>
          <a:xfrm>
            <a:off x="9189720" y="1280160"/>
            <a:ext cx="2331720" cy="548640"/>
          </a:xfrm>
          <a:prstGeom prst="rect">
            <a:avLst/>
          </a:prstGeom>
          <a:noFill/>
          <a:ln/>
        </p:spPr>
        <p:txBody>
          <a:bodyPr wrap="square" lIns="0" tIns="0" rIns="0" bIns="0" rtlCol="0" anchor="ctr"/>
          <a:lstStyle/>
          <a:p>
            <a:pPr marL="0" indent="0">
              <a:buNone/>
            </a:pPr>
            <a:r>
              <a:rPr lang="en-US" sz="2800" b="1" dirty="0">
                <a:solidFill>
                  <a:schemeClr val="accent6"/>
                </a:solidFill>
              </a:rPr>
              <a:t>12</a:t>
            </a:r>
            <a:endParaRPr lang="en-US" sz="2800" dirty="0"/>
          </a:p>
        </p:txBody>
      </p:sp>
      <p:sp>
        <p:nvSpPr>
          <p:cNvPr id="18" name="Text 16"/>
          <p:cNvSpPr txBox="1"/>
          <p:nvPr/>
        </p:nvSpPr>
        <p:spPr>
          <a:xfrm>
            <a:off x="9189720" y="1847088"/>
            <a:ext cx="2331720" cy="502920"/>
          </a:xfrm>
          <a:prstGeom prst="rect">
            <a:avLst/>
          </a:prstGeom>
          <a:noFill/>
          <a:ln/>
        </p:spPr>
        <p:txBody>
          <a:bodyPr wrap="square" lIns="0" tIns="0" rIns="0" bIns="0" rtlCol="0" anchor="t"/>
          <a:lstStyle/>
          <a:p>
            <a:pPr marL="0" indent="0">
              <a:buNone/>
            </a:pPr>
            <a:r>
              <a:rPr lang="en-US" sz="1150" dirty="0">
                <a:solidFill>
                  <a:schemeClr val="tx1"/>
                </a:solidFill>
              </a:rPr>
              <a:t>passing tests, incl. zero-leakage checks</a:t>
            </a:r>
            <a:endParaRPr lang="en-US" sz="1150" dirty="0"/>
          </a:p>
        </p:txBody>
      </p:sp>
      <p:sp>
        <p:nvSpPr>
          <p:cNvPr id="26" name="Rectangle 25"/>
          <p:cNvSpPr/>
          <p:nvPr/>
        </p:nvSpPr>
        <p:spPr>
          <a:xfrm>
            <a:off x="457200" y="2560320"/>
            <a:ext cx="3654552" cy="32918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457200" y="2560320"/>
            <a:ext cx="64008" cy="3291840"/>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67200" y="2660320"/>
            <a:ext cx="3274552" cy="300000"/>
          </a:xfrm>
          <a:prstGeom prst="rect">
            <a:avLst/>
          </a:prstGeom>
          <a:noFill/>
        </p:spPr>
        <p:txBody>
          <a:bodyPr wrap="square" lIns="0" tIns="0" rIns="0" bIns="0" anchor="ctr">
            <a:spAutoFit/>
          </a:bodyPr>
          <a:lstStyle/>
          <a:p>
            <a:pPr>
              <a:spcAft>
                <a:spcPts val="600"/>
              </a:spcAft>
              <a:buNone/>
            </a:pPr>
            <a:r>
              <a:rPr sz="1400" b="1">
                <a:solidFill>
                  <a:schemeClr val="accent4"/>
                </a:solidFill>
              </a:rPr>
              <a:t>Zero-lookahead guarantee</a:t>
            </a:r>
          </a:p>
        </p:txBody>
      </p:sp>
      <p:sp>
        <p:nvSpPr>
          <p:cNvPr id="29" name="TextBox 28"/>
          <p:cNvSpPr txBox="1"/>
          <p:nvPr/>
        </p:nvSpPr>
        <p:spPr>
          <a:xfrm>
            <a:off x="667200" y="3010320"/>
            <a:ext cx="3274552" cy="2771840"/>
          </a:xfrm>
          <a:prstGeom prst="rect">
            <a:avLst/>
          </a:prstGeom>
          <a:noFill/>
        </p:spPr>
        <p:txBody>
          <a:bodyPr wrap="square" lIns="0" tIns="0" rIns="0" bIns="0" anchor="t">
            <a:spAutoFit/>
          </a:bodyPr>
          <a:lstStyle/>
          <a:p>
            <a:pPr marL="228600" indent="-228600">
              <a:spcAft>
                <a:spcPts val="600"/>
              </a:spcAft>
              <a:buChar char="•"/>
            </a:pPr>
            <a:r>
              <a:rPr sz="1300" b="0">
                <a:solidFill>
                  <a:schemeClr val="bg1"/>
                </a:solidFill>
              </a:rPr>
              <a:t>All EHR labs and wearable streams frozen at decision day </a:t>
            </a:r>
            <a:r>
              <a:rPr sz="1300" b="1">
                <a:solidFill>
                  <a:schemeClr val="bg1"/>
                </a:solidFill>
              </a:rPr>
              <a:t>D (≤ D only)</a:t>
            </a:r>
          </a:p>
          <a:p>
            <a:pPr marL="228600" indent="-228600">
              <a:spcAft>
                <a:spcPts val="600"/>
              </a:spcAft>
              <a:buChar char="•"/>
            </a:pPr>
            <a:r>
              <a:rPr sz="1300" b="0">
                <a:solidFill>
                  <a:schemeClr val="bg1"/>
                </a:solidFill>
              </a:rPr>
              <a:t>Candidate delays enter only as known scheduling variables</a:t>
            </a:r>
          </a:p>
          <a:p>
            <a:pPr marL="228600" indent="-228600">
              <a:spcAft>
                <a:spcPts val="600"/>
              </a:spcAft>
              <a:buChar char="•"/>
            </a:pPr>
            <a:r>
              <a:rPr sz="1300" b="1">
                <a:solidFill>
                  <a:schemeClr val="bg1"/>
                </a:solidFill>
              </a:rPr>
              <a:t>Invariance test: </a:t>
            </a:r>
            <a:r>
              <a:rPr sz="1300" b="0">
                <a:solidFill>
                  <a:schemeClr val="bg1"/>
                </a:solidFill>
              </a:rPr>
              <a:t>overwrite every value after D with extremes</a:t>
            </a:r>
          </a:p>
          <a:p>
            <a:pPr>
              <a:spcAft>
                <a:spcPts val="600"/>
              </a:spcAft>
              <a:buNone/>
            </a:pPr>
            <a:r>
              <a:rPr sz="1200" b="1">
                <a:solidFill>
                  <a:schemeClr val="accent4"/>
                </a:solidFill>
                <a:latin typeface="Consolas"/>
              </a:rPr>
              <a:t>ANC=0.05  RHR=180  HRV=5</a:t>
            </a:r>
          </a:p>
          <a:p>
            <a:pPr>
              <a:spcAft>
                <a:spcPts val="600"/>
              </a:spcAft>
              <a:buNone/>
            </a:pPr>
            <a:r>
              <a:rPr sz="1300" b="0">
                <a:solidFill>
                  <a:schemeClr val="bg1"/>
                </a:solidFill>
              </a:rPr>
              <a:t>Predictions unchanged for all delays (atol = 10⁻⁷)</a:t>
            </a:r>
          </a:p>
        </p:txBody>
      </p:sp>
      <p:sp>
        <p:nvSpPr>
          <p:cNvPr id="30" name="Rectangle 29"/>
          <p:cNvSpPr/>
          <p:nvPr/>
        </p:nvSpPr>
        <p:spPr>
          <a:xfrm>
            <a:off x="4267200" y="2560320"/>
            <a:ext cx="3654552"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4267200" y="2560320"/>
            <a:ext cx="64008" cy="32918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477200" y="2660320"/>
            <a:ext cx="3274552" cy="300000"/>
          </a:xfrm>
          <a:prstGeom prst="rect">
            <a:avLst/>
          </a:prstGeom>
          <a:noFill/>
        </p:spPr>
        <p:txBody>
          <a:bodyPr wrap="square" lIns="0" tIns="0" rIns="0" bIns="0" anchor="ctr">
            <a:spAutoFit/>
          </a:bodyPr>
          <a:lstStyle/>
          <a:p>
            <a:pPr>
              <a:spcAft>
                <a:spcPts val="600"/>
              </a:spcAft>
              <a:buNone/>
            </a:pPr>
            <a:r>
              <a:rPr sz="1400" b="1">
                <a:solidFill>
                  <a:schemeClr val="accent1"/>
                </a:solidFill>
              </a:rPr>
              <a:t>No circular validation</a:t>
            </a:r>
          </a:p>
        </p:txBody>
      </p:sp>
      <p:sp>
        <p:nvSpPr>
          <p:cNvPr id="33" name="TextBox 32"/>
          <p:cNvSpPr txBox="1"/>
          <p:nvPr/>
        </p:nvSpPr>
        <p:spPr>
          <a:xfrm>
            <a:off x="4477200" y="3010320"/>
            <a:ext cx="3274552" cy="2771840"/>
          </a:xfrm>
          <a:prstGeom prst="rect">
            <a:avLst/>
          </a:prstGeom>
          <a:noFill/>
        </p:spPr>
        <p:txBody>
          <a:bodyPr wrap="square" lIns="0" tIns="0" rIns="0" bIns="0" anchor="t">
            <a:spAutoFit/>
          </a:bodyPr>
          <a:lstStyle/>
          <a:p>
            <a:pPr marL="228600" indent="-228600">
              <a:spcAft>
                <a:spcPts val="600"/>
              </a:spcAft>
              <a:buChar char="•"/>
            </a:pPr>
            <a:r>
              <a:rPr sz="1300" b="0">
                <a:solidFill>
                  <a:schemeClr val="tx1"/>
                </a:solidFill>
              </a:rPr>
              <a:t>Labels come from a hidden </a:t>
            </a:r>
            <a:r>
              <a:rPr sz="1300" b="1">
                <a:solidFill>
                  <a:schemeClr val="tx1"/>
                </a:solidFill>
              </a:rPr>
              <a:t>Friberg-style latent ANC nadir</a:t>
            </a:r>
            <a:r>
              <a:rPr sz="1300" b="0">
                <a:solidFill>
                  <a:schemeClr val="tx1"/>
                </a:solidFill>
              </a:rPr>
              <a:t> generator (nadir day 7–10)</a:t>
            </a:r>
          </a:p>
          <a:p>
            <a:pPr marL="228600" indent="-228600">
              <a:spcAft>
                <a:spcPts val="600"/>
              </a:spcAft>
              <a:buChar char="•"/>
            </a:pPr>
            <a:r>
              <a:rPr sz="1300" b="0">
                <a:solidFill>
                  <a:schemeClr val="tx1"/>
                </a:solidFill>
              </a:rPr>
              <a:t>Label = latent ANC &lt; 1.0 ×10⁹/L after the dose, </a:t>
            </a:r>
            <a:r>
              <a:rPr sz="1300" b="1">
                <a:solidFill>
                  <a:schemeClr val="tx1"/>
                </a:solidFill>
              </a:rPr>
              <a:t>never computed from wearables</a:t>
            </a:r>
          </a:p>
          <a:p>
            <a:pPr marL="228600" indent="-228600">
              <a:spcAft>
                <a:spcPts val="600"/>
              </a:spcAft>
              <a:buChar char="•"/>
            </a:pPr>
            <a:r>
              <a:rPr sz="1300" b="0">
                <a:solidFill>
                  <a:schemeClr val="tx1"/>
                </a:solidFill>
              </a:rPr>
              <a:t>Wearables only observe marrow strain noisily, so the model must genuinely learn the signal</a:t>
            </a:r>
          </a:p>
          <a:p>
            <a:pPr marL="228600" indent="-228600">
              <a:spcAft>
                <a:spcPts val="600"/>
              </a:spcAft>
              <a:buChar char="•"/>
            </a:pPr>
            <a:r>
              <a:rPr sz="1300" b="0">
                <a:solidFill>
                  <a:schemeClr val="tx1"/>
                </a:solidFill>
              </a:rPr>
              <a:t>Patient-grouped CV: no patient in both train and test</a:t>
            </a:r>
          </a:p>
        </p:txBody>
      </p:sp>
      <p:sp>
        <p:nvSpPr>
          <p:cNvPr id="34" name="Rectangle 33"/>
          <p:cNvSpPr/>
          <p:nvPr/>
        </p:nvSpPr>
        <p:spPr>
          <a:xfrm>
            <a:off x="8077200" y="2560320"/>
            <a:ext cx="3654552" cy="32918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8077200" y="2560320"/>
            <a:ext cx="64008" cy="3291840"/>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87200" y="2660320"/>
            <a:ext cx="3274552" cy="300000"/>
          </a:xfrm>
          <a:prstGeom prst="rect">
            <a:avLst/>
          </a:prstGeom>
          <a:noFill/>
        </p:spPr>
        <p:txBody>
          <a:bodyPr wrap="square" lIns="0" tIns="0" rIns="0" bIns="0" anchor="ctr">
            <a:spAutoFit/>
          </a:bodyPr>
          <a:lstStyle/>
          <a:p>
            <a:pPr>
              <a:spcAft>
                <a:spcPts val="600"/>
              </a:spcAft>
              <a:buNone/>
            </a:pPr>
            <a:r>
              <a:rPr sz="1400" b="1">
                <a:solidFill>
                  <a:schemeClr val="accent3"/>
                </a:solidFill>
              </a:rPr>
              <a:t>Daily re-scoring loop</a:t>
            </a:r>
          </a:p>
        </p:txBody>
      </p:sp>
      <p:sp>
        <p:nvSpPr>
          <p:cNvPr id="37" name="TextBox 36"/>
          <p:cNvSpPr txBox="1"/>
          <p:nvPr/>
        </p:nvSpPr>
        <p:spPr>
          <a:xfrm>
            <a:off x="8287200" y="3010320"/>
            <a:ext cx="3274552" cy="2771840"/>
          </a:xfrm>
          <a:prstGeom prst="rect">
            <a:avLst/>
          </a:prstGeom>
          <a:noFill/>
        </p:spPr>
        <p:txBody>
          <a:bodyPr wrap="square" lIns="0" tIns="0" rIns="0" bIns="0" anchor="t">
            <a:spAutoFit/>
          </a:bodyPr>
          <a:lstStyle/>
          <a:p>
            <a:pPr>
              <a:spcAft>
                <a:spcPts val="600"/>
              </a:spcAft>
              <a:buNone/>
            </a:pPr>
            <a:r>
              <a:rPr sz="1300" b="1">
                <a:solidFill>
                  <a:schemeClr val="tx1"/>
                </a:solidFill>
              </a:rPr>
              <a:t>1  </a:t>
            </a:r>
            <a:r>
              <a:rPr sz="1300" b="0">
                <a:solidFill>
                  <a:schemeClr val="tx1"/>
                </a:solidFill>
              </a:rPr>
              <a:t>Morning: new HRV, RHR, steps, sleep stream in</a:t>
            </a:r>
          </a:p>
          <a:p>
            <a:pPr>
              <a:spcAft>
                <a:spcPts val="600"/>
              </a:spcAft>
              <a:buNone/>
            </a:pPr>
            <a:r>
              <a:rPr sz="1300" b="1">
                <a:solidFill>
                  <a:schemeClr val="tx1"/>
                </a:solidFill>
              </a:rPr>
              <a:t>2  </a:t>
            </a:r>
            <a:r>
              <a:rPr sz="1300" b="0">
                <a:solidFill>
                  <a:schemeClr val="tx1"/>
                </a:solidFill>
              </a:rPr>
              <a:t>Twin state refreshed with all data ≤ today</a:t>
            </a:r>
          </a:p>
          <a:p>
            <a:pPr>
              <a:spcAft>
                <a:spcPts val="600"/>
              </a:spcAft>
              <a:buNone/>
            </a:pPr>
            <a:r>
              <a:rPr sz="1300" b="1">
                <a:solidFill>
                  <a:schemeClr val="tx1"/>
                </a:solidFill>
              </a:rPr>
              <a:t>3  </a:t>
            </a:r>
            <a:r>
              <a:rPr sz="1300" b="0">
                <a:solidFill>
                  <a:schemeClr val="tx1"/>
                </a:solidFill>
              </a:rPr>
              <a:t>Risk re-scored for +0, +3, +7, +14 windows</a:t>
            </a:r>
          </a:p>
          <a:p>
            <a:pPr>
              <a:spcAft>
                <a:spcPts val="600"/>
              </a:spcAft>
              <a:buNone/>
            </a:pPr>
            <a:r>
              <a:rPr sz="1300" b="1">
                <a:solidFill>
                  <a:schemeClr val="tx1"/>
                </a:solidFill>
              </a:rPr>
              <a:t>4  </a:t>
            </a:r>
            <a:r>
              <a:rPr sz="1300" b="0">
                <a:solidFill>
                  <a:schemeClr val="tx1"/>
                </a:solidFill>
              </a:rPr>
              <a:t>Tumor fit and cost-of-delay updated</a:t>
            </a:r>
          </a:p>
          <a:p>
            <a:pPr>
              <a:spcAft>
                <a:spcPts val="600"/>
              </a:spcAft>
              <a:buNone/>
            </a:pPr>
            <a:r>
              <a:rPr sz="1300" b="0">
                <a:solidFill>
                  <a:schemeClr val="tx1"/>
                </a:solidFill>
              </a:rPr>
              <a:t>The twin adapts as marrow recovery unfolds, instead of waiting for the next lab draw.</a:t>
            </a:r>
          </a:p>
        </p:txBody>
      </p:sp>
      <p:sp>
        <p:nvSpPr>
          <p:cNvPr id="25" name="Slide Number Placeholder 0"/>
          <p:cNvSpPr>
            <a:spLocks noGrp="1"/>
          </p:cNvSpPr>
          <p:nvPr>
            <p:ph type="sldNum" sz="quarter" idx="4294967295"/>
          </p:nvPr>
        </p:nvSpPr>
        <p:spPr>
          <a:xfrm>
            <a:off x="11155680" y="6464808"/>
            <a:ext cx="5943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274320"/>
            <a:ext cx="11274552" cy="685800"/>
          </a:xfrm>
          <a:prstGeom prst="rect">
            <a:avLst/>
          </a:prstGeom>
          <a:noFill/>
          <a:ln/>
        </p:spPr>
        <p:txBody>
          <a:bodyPr wrap="square" lIns="0" tIns="0" rIns="0" bIns="0" rtlCol="0" anchor="ctr"/>
          <a:lstStyle/>
          <a:p>
            <a:pPr marL="0" indent="0" algn="l">
              <a:buNone/>
            </a:pPr>
            <a:r>
              <a:rPr lang="en-US" sz="2600" b="1" dirty="0">
                <a:solidFill>
                  <a:schemeClr val="tx2"/>
                </a:solidFill>
              </a:rPr>
              <a:t>Results: wearables consistently improve prediction</a:t>
            </a:r>
            <a:endParaRPr lang="en-US" sz="2600" dirty="0"/>
          </a:p>
        </p:txBody>
      </p:sp>
      <p:sp>
        <p:nvSpPr>
          <p:cNvPr id="3" name="Chart panel card"/>
          <p:cNvSpPr/>
          <p:nvPr/>
        </p:nvSpPr>
        <p:spPr>
          <a:xfrm>
            <a:off x="457200" y="1234440"/>
            <a:ext cx="6035040" cy="4114800"/>
          </a:xfrm>
          <a:prstGeom prst="rect">
            <a:avLst/>
          </a:prstGeom>
          <a:solidFill>
            <a:schemeClr val="bg2"/>
          </a:solidFill>
          <a:ln/>
        </p:spPr>
      </p:sp>
      <p:graphicFrame>
        <p:nvGraphicFramePr>
          <p:cNvPr id="4" name="Chart 0"/>
          <p:cNvGraphicFramePr/>
          <p:nvPr/>
        </p:nvGraphicFramePr>
        <p:xfrm>
          <a:off x="548640" y="1280160"/>
          <a:ext cx="585216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5" name="KPI 1 card"/>
          <p:cNvSpPr/>
          <p:nvPr/>
        </p:nvSpPr>
        <p:spPr>
          <a:xfrm>
            <a:off x="6720840" y="1234440"/>
            <a:ext cx="2441448" cy="1993392"/>
          </a:xfrm>
          <a:prstGeom prst="rect">
            <a:avLst/>
          </a:prstGeom>
          <a:solidFill>
            <a:schemeClr val="bg2"/>
          </a:solidFill>
          <a:ln/>
        </p:spPr>
      </p:sp>
      <p:sp>
        <p:nvSpPr>
          <p:cNvPr id="6" name="KPI 1 accent"/>
          <p:cNvSpPr/>
          <p:nvPr/>
        </p:nvSpPr>
        <p:spPr>
          <a:xfrm>
            <a:off x="6720840" y="1234440"/>
            <a:ext cx="64008" cy="1993392"/>
          </a:xfrm>
          <a:prstGeom prst="rect">
            <a:avLst/>
          </a:prstGeom>
          <a:solidFill>
            <a:schemeClr val="accent1"/>
          </a:solidFill>
          <a:ln/>
        </p:spPr>
      </p:sp>
      <p:sp>
        <p:nvSpPr>
          <p:cNvPr id="7" name="Text 4"/>
          <p:cNvSpPr txBox="1"/>
          <p:nvPr/>
        </p:nvSpPr>
        <p:spPr>
          <a:xfrm>
            <a:off x="6922008" y="1344168"/>
            <a:ext cx="2148840" cy="594360"/>
          </a:xfrm>
          <a:prstGeom prst="rect">
            <a:avLst/>
          </a:prstGeom>
          <a:noFill/>
          <a:ln/>
        </p:spPr>
        <p:txBody>
          <a:bodyPr wrap="square" lIns="0" tIns="0" rIns="0" bIns="0" rtlCol="0" anchor="ctr"/>
          <a:lstStyle/>
          <a:p>
            <a:pPr marL="0" indent="0">
              <a:buNone/>
            </a:pPr>
            <a:r>
              <a:rPr lang="en-US" sz="3000" b="1" dirty="0">
                <a:solidFill>
                  <a:schemeClr val="accent1"/>
                </a:solidFill>
              </a:rPr>
              <a:t>0.908</a:t>
            </a:r>
            <a:endParaRPr lang="en-US" sz="3000" dirty="0"/>
          </a:p>
        </p:txBody>
      </p:sp>
      <p:sp>
        <p:nvSpPr>
          <p:cNvPr id="8" name="Text 5"/>
          <p:cNvSpPr txBox="1"/>
          <p:nvPr/>
        </p:nvSpPr>
        <p:spPr>
          <a:xfrm>
            <a:off x="6922008" y="2011680"/>
            <a:ext cx="2103120" cy="1143000"/>
          </a:xfrm>
          <a:prstGeom prst="rect">
            <a:avLst/>
          </a:prstGeom>
          <a:noFill/>
          <a:ln/>
        </p:spPr>
        <p:txBody>
          <a:bodyPr wrap="square" lIns="0" tIns="0" rIns="0" bIns="0" rtlCol="0" anchor="t"/>
          <a:lstStyle/>
          <a:p>
            <a:pPr marL="0" indent="0">
              <a:buNone/>
            </a:pPr>
            <a:r>
              <a:rPr lang="en-US" sz="1250" dirty="0">
                <a:solidFill>
                  <a:schemeClr val="tx1"/>
                </a:solidFill>
              </a:rPr>
              <a:t>holdout AUROC, 5-seed mean (range 0.872–0.926)</a:t>
            </a:r>
            <a:endParaRPr lang="en-US" sz="1250" dirty="0"/>
          </a:p>
        </p:txBody>
      </p:sp>
      <p:sp>
        <p:nvSpPr>
          <p:cNvPr id="9" name="KPI 2 card"/>
          <p:cNvSpPr/>
          <p:nvPr/>
        </p:nvSpPr>
        <p:spPr>
          <a:xfrm>
            <a:off x="9290304" y="1234440"/>
            <a:ext cx="2441448" cy="1993392"/>
          </a:xfrm>
          <a:prstGeom prst="rect">
            <a:avLst/>
          </a:prstGeom>
          <a:solidFill>
            <a:schemeClr val="bg2"/>
          </a:solidFill>
          <a:ln/>
        </p:spPr>
      </p:sp>
      <p:sp>
        <p:nvSpPr>
          <p:cNvPr id="10" name="KPI 2 accent"/>
          <p:cNvSpPr/>
          <p:nvPr/>
        </p:nvSpPr>
        <p:spPr>
          <a:xfrm>
            <a:off x="9290304" y="1234440"/>
            <a:ext cx="64008" cy="1993392"/>
          </a:xfrm>
          <a:prstGeom prst="rect">
            <a:avLst/>
          </a:prstGeom>
          <a:solidFill>
            <a:schemeClr val="accent2"/>
          </a:solidFill>
          <a:ln/>
        </p:spPr>
      </p:sp>
      <p:sp>
        <p:nvSpPr>
          <p:cNvPr id="11" name="Text 8"/>
          <p:cNvSpPr txBox="1"/>
          <p:nvPr/>
        </p:nvSpPr>
        <p:spPr>
          <a:xfrm>
            <a:off x="9491472" y="1344168"/>
            <a:ext cx="2148840" cy="594360"/>
          </a:xfrm>
          <a:prstGeom prst="rect">
            <a:avLst/>
          </a:prstGeom>
          <a:noFill/>
          <a:ln/>
        </p:spPr>
        <p:txBody>
          <a:bodyPr wrap="square" lIns="0" tIns="0" rIns="0" bIns="0" rtlCol="0" anchor="ctr"/>
          <a:lstStyle/>
          <a:p>
            <a:pPr marL="0" indent="0">
              <a:buNone/>
            </a:pPr>
            <a:r>
              <a:rPr lang="en-US" sz="3000" b="1" dirty="0">
                <a:solidFill>
                  <a:schemeClr val="accent2"/>
                </a:solidFill>
              </a:rPr>
              <a:t>+0.035</a:t>
            </a:r>
            <a:endParaRPr lang="en-US" sz="3000" dirty="0"/>
          </a:p>
        </p:txBody>
      </p:sp>
      <p:sp>
        <p:nvSpPr>
          <p:cNvPr id="12" name="Text 9"/>
          <p:cNvSpPr txBox="1"/>
          <p:nvPr/>
        </p:nvSpPr>
        <p:spPr>
          <a:xfrm>
            <a:off x="9491472" y="2011680"/>
            <a:ext cx="2103120" cy="1143000"/>
          </a:xfrm>
          <a:prstGeom prst="rect">
            <a:avLst/>
          </a:prstGeom>
          <a:noFill/>
          <a:ln/>
        </p:spPr>
        <p:txBody>
          <a:bodyPr wrap="square" lIns="0" tIns="0" rIns="0" bIns="0" rtlCol="0" anchor="t"/>
          <a:lstStyle/>
          <a:p>
            <a:pPr marL="0" indent="0">
              <a:buNone/>
            </a:pPr>
            <a:r>
              <a:rPr lang="en-US" sz="1250" dirty="0">
                <a:solidFill>
                  <a:schemeClr val="tx1"/>
                </a:solidFill>
              </a:rPr>
              <a:t>paired AUROC gain from wearables (+0.027 to +0.048)</a:t>
            </a:r>
            <a:endParaRPr lang="en-US" sz="1250" dirty="0"/>
          </a:p>
        </p:txBody>
      </p:sp>
      <p:sp>
        <p:nvSpPr>
          <p:cNvPr id="13" name="KPI 3 card"/>
          <p:cNvSpPr/>
          <p:nvPr/>
        </p:nvSpPr>
        <p:spPr>
          <a:xfrm>
            <a:off x="6720840" y="3337560"/>
            <a:ext cx="2441448" cy="1993392"/>
          </a:xfrm>
          <a:prstGeom prst="rect">
            <a:avLst/>
          </a:prstGeom>
          <a:solidFill>
            <a:schemeClr val="bg2"/>
          </a:solidFill>
          <a:ln/>
        </p:spPr>
      </p:sp>
      <p:sp>
        <p:nvSpPr>
          <p:cNvPr id="14" name="KPI 3 accent"/>
          <p:cNvSpPr/>
          <p:nvPr/>
        </p:nvSpPr>
        <p:spPr>
          <a:xfrm>
            <a:off x="6720840" y="3337560"/>
            <a:ext cx="64008" cy="1993392"/>
          </a:xfrm>
          <a:prstGeom prst="rect">
            <a:avLst/>
          </a:prstGeom>
          <a:solidFill>
            <a:schemeClr val="accent5"/>
          </a:solidFill>
          <a:ln/>
        </p:spPr>
      </p:sp>
      <p:sp>
        <p:nvSpPr>
          <p:cNvPr id="15" name="Text 12"/>
          <p:cNvSpPr txBox="1"/>
          <p:nvPr/>
        </p:nvSpPr>
        <p:spPr>
          <a:xfrm>
            <a:off x="6922008" y="3447288"/>
            <a:ext cx="2148840" cy="594360"/>
          </a:xfrm>
          <a:prstGeom prst="rect">
            <a:avLst/>
          </a:prstGeom>
          <a:noFill/>
          <a:ln/>
        </p:spPr>
        <p:txBody>
          <a:bodyPr wrap="square" lIns="0" tIns="0" rIns="0" bIns="0" rtlCol="0" anchor="ctr"/>
          <a:lstStyle/>
          <a:p>
            <a:pPr marL="0" indent="0">
              <a:buNone/>
            </a:pPr>
            <a:r>
              <a:rPr lang="en-US" sz="3000" b="1" dirty="0">
                <a:solidFill>
                  <a:schemeClr val="accent5"/>
                </a:solidFill>
              </a:rPr>
              <a:t>88.9%</a:t>
            </a:r>
            <a:endParaRPr lang="en-US" sz="3000" dirty="0"/>
          </a:p>
        </p:txBody>
      </p:sp>
      <p:sp>
        <p:nvSpPr>
          <p:cNvPr id="16" name="Text 13"/>
          <p:cNvSpPr txBox="1"/>
          <p:nvPr/>
        </p:nvSpPr>
        <p:spPr>
          <a:xfrm>
            <a:off x="6922008" y="4114800"/>
            <a:ext cx="2103120" cy="1143000"/>
          </a:xfrm>
          <a:prstGeom prst="rect">
            <a:avLst/>
          </a:prstGeom>
          <a:noFill/>
          <a:ln/>
        </p:spPr>
        <p:txBody>
          <a:bodyPr wrap="square" lIns="0" tIns="0" rIns="0" bIns="0" rtlCol="0" anchor="t"/>
          <a:lstStyle/>
          <a:p>
            <a:pPr marL="0" indent="0">
              <a:buNone/>
            </a:pPr>
            <a:r>
              <a:rPr lang="en-US" sz="1250" dirty="0">
                <a:solidFill>
                  <a:schemeClr val="tx1"/>
                </a:solidFill>
              </a:rPr>
              <a:t>recall of severe events at threshold 0.11; precision 37.4%, so ~6 in 10 alerts are false alarms</a:t>
            </a:r>
            <a:endParaRPr lang="en-US" sz="1250" dirty="0"/>
          </a:p>
        </p:txBody>
      </p:sp>
      <p:sp>
        <p:nvSpPr>
          <p:cNvPr id="17" name="KPI 4 card"/>
          <p:cNvSpPr/>
          <p:nvPr/>
        </p:nvSpPr>
        <p:spPr>
          <a:xfrm>
            <a:off x="9290304" y="3337560"/>
            <a:ext cx="2441448" cy="1993392"/>
          </a:xfrm>
          <a:prstGeom prst="rect">
            <a:avLst/>
          </a:prstGeom>
          <a:solidFill>
            <a:schemeClr val="bg2"/>
          </a:solidFill>
          <a:ln/>
        </p:spPr>
      </p:sp>
      <p:sp>
        <p:nvSpPr>
          <p:cNvPr id="18" name="KPI 4 accent"/>
          <p:cNvSpPr/>
          <p:nvPr/>
        </p:nvSpPr>
        <p:spPr>
          <a:xfrm>
            <a:off x="9290304" y="3337560"/>
            <a:ext cx="64008" cy="1993392"/>
          </a:xfrm>
          <a:prstGeom prst="rect">
            <a:avLst/>
          </a:prstGeom>
          <a:solidFill>
            <a:schemeClr val="accent4"/>
          </a:solidFill>
          <a:ln/>
        </p:spPr>
      </p:sp>
      <p:sp>
        <p:nvSpPr>
          <p:cNvPr id="19" name="Text 16"/>
          <p:cNvSpPr txBox="1"/>
          <p:nvPr/>
        </p:nvSpPr>
        <p:spPr>
          <a:xfrm>
            <a:off x="9491472" y="3447288"/>
            <a:ext cx="2148840" cy="594360"/>
          </a:xfrm>
          <a:prstGeom prst="rect">
            <a:avLst/>
          </a:prstGeom>
          <a:noFill/>
          <a:ln/>
        </p:spPr>
        <p:txBody>
          <a:bodyPr wrap="square" lIns="0" tIns="0" rIns="0" bIns="0" rtlCol="0" anchor="ctr"/>
          <a:lstStyle/>
          <a:p>
            <a:pPr marL="0" indent="0">
              <a:buNone/>
            </a:pPr>
            <a:r>
              <a:rPr lang="en-US" sz="3000" b="1" dirty="0">
                <a:solidFill>
                  <a:schemeClr val="accent4"/>
                </a:solidFill>
              </a:rPr>
              <a:t>−41.8%</a:t>
            </a:r>
            <a:endParaRPr lang="en-US" sz="3000" dirty="0"/>
          </a:p>
        </p:txBody>
      </p:sp>
      <p:sp>
        <p:nvSpPr>
          <p:cNvPr id="20" name="Text 17"/>
          <p:cNvSpPr txBox="1"/>
          <p:nvPr/>
        </p:nvSpPr>
        <p:spPr>
          <a:xfrm>
            <a:off x="9491472" y="4114800"/>
            <a:ext cx="2103120" cy="1143000"/>
          </a:xfrm>
          <a:prstGeom prst="rect">
            <a:avLst/>
          </a:prstGeom>
          <a:noFill/>
          <a:ln/>
        </p:spPr>
        <p:txBody>
          <a:bodyPr wrap="square" lIns="0" tIns="0" rIns="0" bIns="0" rtlCol="0" anchor="t"/>
          <a:lstStyle/>
          <a:p>
            <a:pPr marL="0" indent="0">
              <a:buNone/>
            </a:pPr>
            <a:r>
              <a:rPr lang="en-US" sz="1250" dirty="0">
                <a:solidFill>
                  <a:schemeClr val="tx1"/>
                </a:solidFill>
              </a:rPr>
              <a:t>tumor forecast error vs population curve (MAPE 4.77% vs 8.19%); 90% band coverage 97.5%</a:t>
            </a:r>
            <a:endParaRPr lang="en-US" sz="1250" dirty="0"/>
          </a:p>
        </p:txBody>
      </p:sp>
      <p:sp>
        <p:nvSpPr>
          <p:cNvPr id="21" name="Model banner"/>
          <p:cNvSpPr/>
          <p:nvPr/>
        </p:nvSpPr>
        <p:spPr>
          <a:xfrm>
            <a:off x="457200" y="5486400"/>
            <a:ext cx="11274552" cy="822960"/>
          </a:xfrm>
          <a:prstGeom prst="rect">
            <a:avLst/>
          </a:prstGeom>
          <a:solidFill>
            <a:schemeClr val="tx2"/>
          </a:solidFill>
          <a:ln/>
        </p:spPr>
      </p:sp>
      <p:sp>
        <p:nvSpPr>
          <p:cNvPr id="22" name="Text 19"/>
          <p:cNvSpPr txBox="1"/>
          <p:nvPr/>
        </p:nvSpPr>
        <p:spPr>
          <a:xfrm>
            <a:off x="731520" y="5486400"/>
            <a:ext cx="10744200" cy="822960"/>
          </a:xfrm>
          <a:prstGeom prst="rect">
            <a:avLst/>
          </a:prstGeom>
          <a:noFill/>
          <a:ln/>
        </p:spPr>
        <p:txBody>
          <a:bodyPr wrap="square" lIns="0" tIns="0" rIns="0" bIns="0" rtlCol="0" anchor="ctr"/>
          <a:lstStyle/>
          <a:p>
            <a:pPr marL="0" indent="0">
              <a:buNone/>
            </a:pPr>
            <a:r>
              <a:rPr lang="en-US" sz="1250" b="1" dirty="0">
                <a:solidFill>
                  <a:schemeClr val="accent4"/>
                </a:solidFill>
              </a:rPr>
              <a:t>Main model: standardized logistic regression, </a:t>
            </a:r>
            <a:r>
              <a:rPr lang="en-US" sz="1250" dirty="0">
                <a:solidFill>
                  <a:schemeClr val="bg1"/>
                </a:solidFill>
              </a:rPr>
              <a:t>chosen over Random Forest and Gradient Boosting for the lowest Brier error (0.068) and highest holdout AUROC. Patient-grouped CV across 5 data seeds; threshold tuned inside validation folds. An advisory flag, not a safety guarantee.</a:t>
            </a:r>
            <a:endParaRPr lang="en-US" sz="1250" dirty="0"/>
          </a:p>
        </p:txBody>
      </p:sp>
      <p:sp>
        <p:nvSpPr>
          <p:cNvPr id="25" name="Slide Number Placeholder 0"/>
          <p:cNvSpPr>
            <a:spLocks noGrp="1"/>
          </p:cNvSpPr>
          <p:nvPr>
            <p:ph type="sldNum" sz="quarter" idx="4294967295"/>
          </p:nvPr>
        </p:nvSpPr>
        <p:spPr>
          <a:xfrm>
            <a:off x="11155680" y="6464808"/>
            <a:ext cx="5943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274320"/>
            <a:ext cx="11274552" cy="685800"/>
          </a:xfrm>
          <a:prstGeom prst="rect">
            <a:avLst/>
          </a:prstGeom>
          <a:noFill/>
          <a:ln/>
        </p:spPr>
        <p:txBody>
          <a:bodyPr wrap="square" lIns="0" tIns="0" rIns="0" bIns="0" rtlCol="0" anchor="ctr"/>
          <a:lstStyle/>
          <a:p>
            <a:pPr marL="0" indent="0" algn="l">
              <a:buNone/>
            </a:pPr>
            <a:r>
              <a:rPr lang="en-US" sz="2600" b="1" dirty="0">
                <a:solidFill>
                  <a:schemeClr val="tx2"/>
                </a:solidFill>
              </a:rPr>
              <a:t>Demo: patient PT_001 at day 21, and our honest limits</a:t>
            </a:r>
            <a:endParaRPr lang="en-US" sz="2600" dirty="0"/>
          </a:p>
        </p:txBody>
      </p:sp>
      <p:pic>
        <p:nvPicPr>
          <p:cNvPr id="3" name="Dashboard screenshot" descr="Streamlit dashboard for PT_001 at day 21 showing toxicity risk versus tumor regrowth"/>
          <p:cNvPicPr>
            <a:picLocks noChangeAspect="1"/>
          </p:cNvPicPr>
          <p:nvPr/>
        </p:nvPicPr>
        <p:blipFill>
          <a:blip r:embed="rId3"/>
          <a:stretch>
            <a:fillRect/>
          </a:stretch>
        </p:blipFill>
        <p:spPr>
          <a:xfrm>
            <a:off x="457200" y="1188720"/>
            <a:ext cx="6812280" cy="2968418"/>
          </a:xfrm>
          <a:prstGeom prst="rect">
            <a:avLst/>
          </a:prstGeom>
        </p:spPr>
      </p:pic>
      <p:graphicFrame>
        <p:nvGraphicFramePr>
          <p:cNvPr id="7" name="Option table"/>
          <p:cNvGraphicFramePr>
            <a:graphicFrameLocks noGrp="1"/>
          </p:cNvGraphicFramePr>
          <p:nvPr>
            <p:extLst>
              <p:ext uri="{D42A27DB-BD31-4B8C-83A1-F6EECF244321}">
                <p14:modId xmlns:p14="http://schemas.microsoft.com/office/powerpoint/2010/main" val="1579011935"/>
              </p:ext>
            </p:extLst>
          </p:nvPr>
        </p:nvGraphicFramePr>
        <p:xfrm>
          <a:off x="457200" y="4297680"/>
          <a:ext cx="6812280" cy="1042416"/>
        </p:xfrm>
        <a:graphic>
          <a:graphicData uri="http://schemas.openxmlformats.org/drawingml/2006/table">
            <a:tbl>
              <a:tblPr/>
              <a:tblGrid>
                <a:gridCol w="169164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347472">
                <a:tc>
                  <a:txBody>
                    <a:bodyPr/>
                    <a:lstStyle/>
                    <a:p>
                      <a:pPr marL="0" indent="0" algn="ctr">
                        <a:buNone/>
                      </a:pP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B2545"/>
                    </a:solidFill>
                  </a:tcPr>
                </a:tc>
                <a:tc>
                  <a:txBody>
                    <a:bodyPr/>
                    <a:lstStyle/>
                    <a:p>
                      <a:pPr marL="0" indent="0" algn="ctr">
                        <a:buNone/>
                      </a:pPr>
                      <a:r>
                        <a:rPr lang="en-US" sz="1200" b="1" dirty="0">
                          <a:solidFill>
                            <a:srgbClr val="FFFFFF"/>
                          </a:solidFill>
                        </a:rPr>
                        <a:t>Day +0</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B2545"/>
                    </a:solidFill>
                  </a:tcPr>
                </a:tc>
                <a:tc>
                  <a:txBody>
                    <a:bodyPr/>
                    <a:lstStyle/>
                    <a:p>
                      <a:pPr marL="0" indent="0" algn="ctr">
                        <a:buNone/>
                      </a:pPr>
                      <a:r>
                        <a:rPr lang="en-US" sz="1200" b="1" dirty="0">
                          <a:solidFill>
                            <a:srgbClr val="FFFFFF"/>
                          </a:solidFill>
                        </a:rPr>
                        <a:t>Day +3</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B2545"/>
                    </a:solidFill>
                  </a:tcPr>
                </a:tc>
                <a:tc>
                  <a:txBody>
                    <a:bodyPr/>
                    <a:lstStyle/>
                    <a:p>
                      <a:pPr marL="0" indent="0" algn="ctr">
                        <a:buNone/>
                      </a:pPr>
                      <a:r>
                        <a:rPr lang="en-US" sz="1200" b="1" dirty="0">
                          <a:solidFill>
                            <a:srgbClr val="FFFFFF"/>
                          </a:solidFill>
                        </a:rPr>
                        <a:t>Day +7</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B2545"/>
                    </a:solidFill>
                  </a:tcPr>
                </a:tc>
                <a:tc>
                  <a:txBody>
                    <a:bodyPr/>
                    <a:lstStyle/>
                    <a:p>
                      <a:pPr marL="0" indent="0" algn="ctr">
                        <a:buNone/>
                      </a:pPr>
                      <a:r>
                        <a:rPr lang="en-US" sz="1200" b="1" dirty="0">
                          <a:solidFill>
                            <a:srgbClr val="FFFFFF"/>
                          </a:solidFill>
                        </a:rPr>
                        <a:t>Day +14</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B2545"/>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E293B"/>
                          </a:solidFill>
                        </a:rPr>
                        <a:t>Toxicity risk</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3.3%</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2.6%</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1.8%</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1.0%</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E293B"/>
                          </a:solidFill>
                        </a:rPr>
                        <a:t>Tumor regrowth</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+0.0%</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+10.6%</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+24.2%</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tc>
                  <a:txBody>
                    <a:bodyPr/>
                    <a:lstStyle/>
                    <a:p>
                      <a:pPr marL="0" indent="0" algn="ctr">
                        <a:buNone/>
                      </a:pPr>
                      <a:r>
                        <a:rPr lang="en-US" sz="1200" dirty="0">
                          <a:solidFill>
                            <a:srgbClr val="1E293B"/>
                          </a:solidFill>
                        </a:rPr>
                        <a:t>+45.8%</a:t>
                      </a:r>
                      <a:endParaRPr lang="en-US" sz="1200" dirty="0"/>
                    </a:p>
                  </a:txBody>
                  <a:tcPr marT="0"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1F5F9"/>
                    </a:solidFill>
                  </a:tcPr>
                </a:tc>
                <a:extLst>
                  <a:ext uri="{0D108BD9-81ED-4DB2-BD59-A6C34878D82A}">
                    <a16:rowId xmlns:a16="http://schemas.microsoft.com/office/drawing/2014/main" val="10002"/>
                  </a:ext>
                </a:extLst>
              </a:tr>
            </a:tbl>
          </a:graphicData>
        </a:graphic>
      </p:graphicFrame>
      <p:sp>
        <p:nvSpPr>
          <p:cNvPr id="5" name="Text 1"/>
          <p:cNvSpPr txBox="1"/>
          <p:nvPr/>
        </p:nvSpPr>
        <p:spPr>
          <a:xfrm>
            <a:off x="457200" y="5486400"/>
            <a:ext cx="6812280" cy="640080"/>
          </a:xfrm>
          <a:prstGeom prst="rect">
            <a:avLst/>
          </a:prstGeom>
          <a:noFill/>
          <a:ln/>
        </p:spPr>
        <p:txBody>
          <a:bodyPr wrap="square" lIns="0" tIns="0" rIns="0" bIns="0" rtlCol="0" anchor="t"/>
          <a:lstStyle/>
          <a:p>
            <a:pPr marL="0" indent="0">
              <a:buNone/>
            </a:pPr>
            <a:r>
              <a:rPr lang="en-US" sz="1300" b="1" dirty="0">
                <a:solidFill>
                  <a:schemeClr val="tx2"/>
                </a:solidFill>
              </a:rPr>
              <a:t>The twin supports dosing on schedule: waiting cuts risk by about 2 points but adds 11–46% tumor regrowth. The oncologist verifies labs and decides.</a:t>
            </a:r>
            <a:endParaRPr lang="en-US" sz="1300" dirty="0"/>
          </a:p>
        </p:txBody>
      </p:sp>
      <p:sp>
        <p:nvSpPr>
          <p:cNvPr id="6" name="What the twin shows card"/>
          <p:cNvSpPr/>
          <p:nvPr/>
        </p:nvSpPr>
        <p:spPr>
          <a:xfrm>
            <a:off x="7498080" y="1188720"/>
            <a:ext cx="4233672" cy="1783080"/>
          </a:xfrm>
          <a:prstGeom prst="rect">
            <a:avLst/>
          </a:prstGeom>
          <a:solidFill>
            <a:schemeClr val="bg2"/>
          </a:solidFill>
          <a:ln/>
        </p:spPr>
      </p:sp>
      <p:sp>
        <p:nvSpPr>
          <p:cNvPr id="4" name="What the twin shows accent"/>
          <p:cNvSpPr/>
          <p:nvPr/>
        </p:nvSpPr>
        <p:spPr>
          <a:xfrm>
            <a:off x="7498080" y="1188720"/>
            <a:ext cx="64008" cy="1783080"/>
          </a:xfrm>
          <a:prstGeom prst="rect">
            <a:avLst/>
          </a:prstGeom>
          <a:solidFill>
            <a:schemeClr val="accent1"/>
          </a:solidFill>
          <a:ln/>
        </p:spPr>
      </p:sp>
      <p:sp>
        <p:nvSpPr>
          <p:cNvPr id="8" name="Text 4"/>
          <p:cNvSpPr txBox="1"/>
          <p:nvPr/>
        </p:nvSpPr>
        <p:spPr>
          <a:xfrm>
            <a:off x="7726680" y="1261872"/>
            <a:ext cx="3886200" cy="320040"/>
          </a:xfrm>
          <a:prstGeom prst="rect">
            <a:avLst/>
          </a:prstGeom>
          <a:noFill/>
          <a:ln/>
        </p:spPr>
        <p:txBody>
          <a:bodyPr wrap="square" lIns="0" tIns="0" rIns="0" bIns="0" rtlCol="0" anchor="ctr"/>
          <a:lstStyle/>
          <a:p>
            <a:pPr marL="0" indent="0">
              <a:buNone/>
            </a:pPr>
            <a:r>
              <a:rPr lang="en-US" sz="1500" b="1" dirty="0">
                <a:solidFill>
                  <a:schemeClr val="accent1"/>
                </a:solidFill>
              </a:rPr>
              <a:t>What the twin shows</a:t>
            </a:r>
            <a:endParaRPr lang="en-US" sz="1500" dirty="0"/>
          </a:p>
        </p:txBody>
      </p:sp>
      <p:sp>
        <p:nvSpPr>
          <p:cNvPr id="9" name="Text 5"/>
          <p:cNvSpPr txBox="1"/>
          <p:nvPr/>
        </p:nvSpPr>
        <p:spPr>
          <a:xfrm>
            <a:off x="7726680" y="1627632"/>
            <a:ext cx="3886200" cy="12801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chemeClr val="tx1"/>
                </a:solidFill>
              </a:rPr>
              <a:t>ANC 5.31 ×10⁹/L, well above the 1.0 danger line</a:t>
            </a:r>
            <a:endParaRPr lang="en-US" sz="1200" dirty="0"/>
          </a:p>
          <a:p>
            <a:pPr marL="342900" indent="-342900">
              <a:spcAft>
                <a:spcPts val="500"/>
              </a:spcAft>
              <a:buSzPct val="100000"/>
              <a:buChar char="•"/>
            </a:pPr>
            <a:r>
              <a:rPr lang="en-US" sz="1200" dirty="0">
                <a:solidFill>
                  <a:schemeClr val="tx1"/>
                </a:solidFill>
              </a:rPr>
              <a:t>HRV 43.2 ms, +70.9% vs 30-day baseline: recovery, not strain</a:t>
            </a:r>
            <a:endParaRPr lang="en-US" sz="1200" dirty="0"/>
          </a:p>
          <a:p>
            <a:pPr marL="342900" indent="-342900">
              <a:spcAft>
                <a:spcPts val="500"/>
              </a:spcAft>
              <a:buSzPct val="100000"/>
              <a:buChar char="•"/>
            </a:pPr>
            <a:r>
              <a:rPr lang="en-US" sz="1200" dirty="0">
                <a:solidFill>
                  <a:schemeClr val="tx1"/>
                </a:solidFill>
              </a:rPr>
              <a:t>All four options fall in the lower-risk tier</a:t>
            </a:r>
            <a:endParaRPr lang="en-US" sz="1200" dirty="0"/>
          </a:p>
        </p:txBody>
      </p:sp>
      <p:sp>
        <p:nvSpPr>
          <p:cNvPr id="10" name="Limitations card"/>
          <p:cNvSpPr/>
          <p:nvPr/>
        </p:nvSpPr>
        <p:spPr>
          <a:xfrm>
            <a:off x="7498080" y="3108960"/>
            <a:ext cx="4233672" cy="3200400"/>
          </a:xfrm>
          <a:prstGeom prst="rect">
            <a:avLst/>
          </a:prstGeom>
          <a:solidFill>
            <a:schemeClr val="bg2"/>
          </a:solidFill>
          <a:ln/>
        </p:spPr>
      </p:sp>
      <p:sp>
        <p:nvSpPr>
          <p:cNvPr id="11" name="Limitations accent"/>
          <p:cNvSpPr/>
          <p:nvPr/>
        </p:nvSpPr>
        <p:spPr>
          <a:xfrm>
            <a:off x="7498080" y="3108960"/>
            <a:ext cx="64008" cy="3200400"/>
          </a:xfrm>
          <a:prstGeom prst="rect">
            <a:avLst/>
          </a:prstGeom>
          <a:solidFill>
            <a:schemeClr val="accent5"/>
          </a:solidFill>
          <a:ln/>
        </p:spPr>
      </p:sp>
      <p:sp>
        <p:nvSpPr>
          <p:cNvPr id="12" name="Text 8"/>
          <p:cNvSpPr txBox="1"/>
          <p:nvPr/>
        </p:nvSpPr>
        <p:spPr>
          <a:xfrm>
            <a:off x="7726680" y="3182112"/>
            <a:ext cx="3886200" cy="320040"/>
          </a:xfrm>
          <a:prstGeom prst="rect">
            <a:avLst/>
          </a:prstGeom>
          <a:noFill/>
          <a:ln/>
        </p:spPr>
        <p:txBody>
          <a:bodyPr wrap="square" lIns="0" tIns="0" rIns="0" bIns="0" rtlCol="0" anchor="ctr"/>
          <a:lstStyle/>
          <a:p>
            <a:pPr marL="0" indent="0">
              <a:buNone/>
            </a:pPr>
            <a:r>
              <a:rPr lang="en-US" sz="1500" b="1" dirty="0">
                <a:solidFill>
                  <a:schemeClr val="accent5"/>
                </a:solidFill>
              </a:rPr>
              <a:t>Challenges and next steps</a:t>
            </a:r>
            <a:endParaRPr lang="en-US" sz="1500" dirty="0"/>
          </a:p>
        </p:txBody>
      </p:sp>
      <p:sp>
        <p:nvSpPr>
          <p:cNvPr id="13" name="Text 9"/>
          <p:cNvSpPr txBox="1"/>
          <p:nvPr/>
        </p:nvSpPr>
        <p:spPr>
          <a:xfrm>
            <a:off x="7726680" y="3767328"/>
            <a:ext cx="3886200" cy="182880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Wearable gain assumes wearables track marrow strain</a:t>
            </a:r>
            <a:endParaRPr lang="en-US" sz="1150" dirty="0"/>
          </a:p>
          <a:p>
            <a:pPr marL="342900" indent="-342900">
              <a:spcAft>
                <a:spcPts val="400"/>
              </a:spcAft>
              <a:buSzPct val="100000"/>
              <a:buChar char="•"/>
            </a:pPr>
            <a:r>
              <a:rPr lang="en-US" sz="1150" dirty="0">
                <a:solidFill>
                  <a:schemeClr val="tx1"/>
                </a:solidFill>
              </a:rPr>
              <a:t>Small cohort (150): recall 82–95%, precision 34–45% across seeds</a:t>
            </a:r>
            <a:endParaRPr lang="en-US" sz="1150" dirty="0"/>
          </a:p>
          <a:p>
            <a:pPr marL="342900" indent="-342900">
              <a:spcAft>
                <a:spcPts val="400"/>
              </a:spcAft>
              <a:buSzPct val="100000"/>
              <a:buChar char="•"/>
            </a:pPr>
            <a:r>
              <a:rPr lang="en-US" sz="1150" dirty="0">
                <a:solidFill>
                  <a:schemeClr val="tx1"/>
                </a:solidFill>
              </a:rPr>
              <a:t>Tumor forecast checked on its own model family, so optimistic</a:t>
            </a:r>
            <a:endParaRPr lang="en-US" sz="1150" dirty="0"/>
          </a:p>
          <a:p>
            <a:pPr marL="342900" indent="-342900">
              <a:spcAft>
                <a:spcPts val="400"/>
              </a:spcAft>
              <a:buSzPct val="100000"/>
              <a:buChar char="•"/>
            </a:pPr>
            <a:r>
              <a:rPr lang="en-US" sz="1150" dirty="0">
                <a:solidFill>
                  <a:schemeClr val="tx1"/>
                </a:solidFill>
              </a:rPr>
              <a:t>Delay ranking tau 0.725 (0.64–0.83); never perfect</a:t>
            </a:r>
            <a:endParaRPr lang="en-US" sz="1150" dirty="0"/>
          </a:p>
        </p:txBody>
      </p:sp>
      <p:sp>
        <p:nvSpPr>
          <p:cNvPr id="14" name="Text 10"/>
          <p:cNvSpPr txBox="1"/>
          <p:nvPr/>
        </p:nvSpPr>
        <p:spPr>
          <a:xfrm>
            <a:off x="7726680" y="5440680"/>
            <a:ext cx="3886200" cy="777240"/>
          </a:xfrm>
          <a:prstGeom prst="rect">
            <a:avLst/>
          </a:prstGeom>
          <a:noFill/>
          <a:ln/>
        </p:spPr>
        <p:txBody>
          <a:bodyPr wrap="square" lIns="0" tIns="0" rIns="0" bIns="0" rtlCol="0" anchor="t"/>
          <a:lstStyle/>
          <a:p>
            <a:pPr marL="0" indent="0">
              <a:buNone/>
            </a:pPr>
            <a:r>
              <a:rPr lang="en-US" sz="1150" b="1" dirty="0">
                <a:solidFill>
                  <a:schemeClr val="tx2"/>
                </a:solidFill>
              </a:rPr>
              <a:t>Next: real-data validation, clinical trial, prospective audit, regulatory clearance (DPDP Act, HIPAA, FDA SaMD).</a:t>
            </a:r>
            <a:endParaRPr lang="en-US" sz="1150" dirty="0"/>
          </a:p>
        </p:txBody>
      </p:sp>
      <p:sp>
        <p:nvSpPr>
          <p:cNvPr id="25" name="Slide Number Placeholder 0"/>
          <p:cNvSpPr>
            <a:spLocks noGrp="1"/>
          </p:cNvSpPr>
          <p:nvPr>
            <p:ph type="sldNum" sz="quarter" idx="4294967295"/>
          </p:nvPr>
        </p:nvSpPr>
        <p:spPr>
          <a:xfrm>
            <a:off x="11155680" y="6464808"/>
            <a:ext cx="59436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1"/>
                </a:solidFill>
              </a:defRPr>
            </a:lvl1pPr>
          </a:lstStyle>
          <a:p>
            <a:pPr algn="r"/>
            <a:fld id="{F7021451-1387-4CA6-816F-3879F97B5CBC}" type="slidenum">
              <a:rPr lang="en-US" b="0"/>
              <a:t>6</a:t>
            </a:fld>
            <a:endParaRPr lang="en-US"/>
          </a:p>
        </p:txBody>
      </p:sp>
    </p:spTree>
  </p:cSld>
  <p:clrMapOvr>
    <a:masterClrMapping/>
  </p:clrMapOvr>
</p:sld>
</file>

<file path=ppt/theme/theme1.xml><?xml version="1.0" encoding="utf-8"?>
<a:theme xmlns:a="http://schemas.openxmlformats.org/drawingml/2006/main" name="ONCO-TWIN">
  <a:themeElements>
    <a:clrScheme name="ONCO-TWIN">
      <a:dk1>
        <a:srgbClr val="1E293B"/>
      </a:dk1>
      <a:lt1>
        <a:srgbClr val="FFFFFF"/>
      </a:lt1>
      <a:dk2>
        <a:srgbClr val="0B2545"/>
      </a:dk2>
      <a:lt2>
        <a:srgbClr val="F1F5F9"/>
      </a:lt2>
      <a:accent1>
        <a:srgbClr val="0E7C86"/>
      </a:accent1>
      <a:accent2>
        <a:srgbClr val="2563EB"/>
      </a:accent2>
      <a:accent3>
        <a:srgbClr val="6D28D9"/>
      </a:accent3>
      <a:accent4>
        <a:srgbClr val="D97706"/>
      </a:accent4>
      <a:accent5>
        <a:srgbClr val="B91C1C"/>
      </a:accent5>
      <a:accent6>
        <a:srgbClr val="15803D"/>
      </a:accent6>
      <a:hlink>
        <a:srgbClr val="2563EB"/>
      </a:hlink>
      <a:folHlink>
        <a:srgbClr val="6D28D9"/>
      </a:folHlink>
    </a:clrScheme>
    <a:fontScheme name="ONCO-TWI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1380</Words>
  <Application>Microsoft Office PowerPoint</Application>
  <PresentationFormat>Widescreen</PresentationFormat>
  <Paragraphs>123</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Consolas</vt:lpstr>
      <vt:lpstr>ONCO-TWIN</vt:lpstr>
      <vt:lpstr>ONCO-TWIN</vt:lpstr>
      <vt:lpstr>The problem: chemo toxicity is caught after it happens</vt:lpstr>
      <vt:lpstr>The ONCO-TWIN solution: one virtual patient, two answers</vt:lpstr>
      <vt:lpstr>Architecture &amp; zero-leakage pipeline</vt:lpstr>
      <vt:lpstr>Results: wearables consistently improve prediction</vt:lpstr>
      <vt:lpstr>Demo: patient PT_001 at day 21, and our honest limits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ONCO-TWIN (6-slide version)</dc:title>
  <dc:subject>PptxGenJS Presentation</dc:subject>
  <dc:creator>Team Aurora</dc:creator>
  <cp:lastModifiedBy>Anandha Lakshmi</cp:lastModifiedBy>
  <cp:revision>2</cp:revision>
  <dcterms:created xsi:type="dcterms:W3CDTF">2026-10-12T16:21:16Z</dcterms:created>
  <dcterms:modified xsi:type="dcterms:W3CDTF">2026-10-12T16:48:29Z</dcterms:modified>
</cp:coreProperties>
</file>