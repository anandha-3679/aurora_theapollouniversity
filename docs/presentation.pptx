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2545"/>
                </a:solidFill>
                <a:latin typeface="Arial"/>
              </a:defRPr>
            </a:pPr>
            <a:r>
              <a:rPr lang="en-US" sz="1400" b="0" i="0" u="none" strike="noStrike">
                <a:solidFill>
                  <a:srgbClr val="0B2545"/>
                </a:solidFill>
                <a:latin typeface="Arial"/>
              </a:rPr>
              <a:t>Cross-validated AUROC (seed 42 reference run)</a:t>
            </a:r>
          </a:p>
        </c:rich>
      </c:tx>
      <c:overlay val="0"/>
    </c:title>
    <c:autoTitleDeleted val="0"/>
    <c:plotArea>
      <c:layout/>
      <c:barChart>
        <c:barDir val="col"/>
        <c:grouping val="clustered"/>
        <c:varyColors val="0"/>
        <c:ser>
          <c:idx val="0"/>
          <c:order val="0"/>
          <c:tx>
            <c:strRef>
              <c:f>Sheet1!$B$1</c:f>
              <c:strCache>
                <c:ptCount val="1"/>
                <c:pt idx="0">
                  <c:v>A: clinical only</c:v>
                </c:pt>
              </c:strCache>
            </c:strRef>
          </c:tx>
          <c:spPr>
            <a:solidFill>
              <a:srgbClr val="94A3B8"/>
            </a:solidFill>
            <a:effectLst/>
          </c:spPr>
          <c:invertIfNegative val="0"/>
          <c:dLbls>
            <c:numFmt formatCode="0.000" sourceLinked="0"/>
            <c:spPr>
              <a:noFill/>
              <a:ln>
                <a:noFill/>
              </a:ln>
              <a:effectLst/>
            </c:spPr>
            <c:txPr>
              <a:bodyPr/>
              <a:lstStyle/>
              <a:p>
                <a:pPr>
                  <a:defRPr sz="11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c:v>
                </c:pt>
                <c:pt idx="1">
                  <c:v>Random Forest</c:v>
                </c:pt>
                <c:pt idx="2">
                  <c:v>Gradient Boosting</c:v>
                </c:pt>
              </c:strCache>
            </c:strRef>
          </c:cat>
          <c:val>
            <c:numRef>
              <c:f>Sheet1!$B$2:$B$4</c:f>
              <c:numCache>
                <c:formatCode>General</c:formatCode>
                <c:ptCount val="3"/>
                <c:pt idx="0">
                  <c:v>0.86539999999999995</c:v>
                </c:pt>
                <c:pt idx="1">
                  <c:v>0.84530000000000005</c:v>
                </c:pt>
                <c:pt idx="2">
                  <c:v>0.83730000000000004</c:v>
                </c:pt>
              </c:numCache>
            </c:numRef>
          </c:val>
          <c:extLst>
            <c:ext xmlns:c16="http://schemas.microsoft.com/office/drawing/2014/chart" uri="{C3380CC4-5D6E-409C-BE32-E72D297353CC}">
              <c16:uniqueId val="{00000000-E9A6-484B-9E04-FD351E08F516}"/>
            </c:ext>
          </c:extLst>
        </c:ser>
        <c:ser>
          <c:idx val="1"/>
          <c:order val="1"/>
          <c:tx>
            <c:strRef>
              <c:f>Sheet1!$C$1</c:f>
              <c:strCache>
                <c:ptCount val="1"/>
                <c:pt idx="0">
                  <c:v>B: + wearables</c:v>
                </c:pt>
              </c:strCache>
            </c:strRef>
          </c:tx>
          <c:spPr>
            <a:solidFill>
              <a:srgbClr val="0E7C86"/>
            </a:solidFill>
            <a:effectLst/>
          </c:spPr>
          <c:invertIfNegative val="0"/>
          <c:dLbls>
            <c:numFmt formatCode="0.000" sourceLinked="0"/>
            <c:spPr>
              <a:noFill/>
              <a:ln>
                <a:noFill/>
              </a:ln>
              <a:effectLst/>
            </c:spPr>
            <c:txPr>
              <a:bodyPr/>
              <a:lstStyle/>
              <a:p>
                <a:pPr>
                  <a:defRPr sz="11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c:v>
                </c:pt>
                <c:pt idx="1">
                  <c:v>Random Forest</c:v>
                </c:pt>
                <c:pt idx="2">
                  <c:v>Gradient Boosting</c:v>
                </c:pt>
              </c:strCache>
            </c:strRef>
          </c:cat>
          <c:val>
            <c:numRef>
              <c:f>Sheet1!$C$2:$C$4</c:f>
              <c:numCache>
                <c:formatCode>General</c:formatCode>
                <c:ptCount val="3"/>
                <c:pt idx="0">
                  <c:v>0.87670000000000003</c:v>
                </c:pt>
                <c:pt idx="1">
                  <c:v>0.82269999999999999</c:v>
                </c:pt>
                <c:pt idx="2">
                  <c:v>0.83069999999999999</c:v>
                </c:pt>
              </c:numCache>
            </c:numRef>
          </c:val>
          <c:extLst>
            <c:ext xmlns:c16="http://schemas.microsoft.com/office/drawing/2014/chart" uri="{C3380CC4-5D6E-409C-BE32-E72D297353CC}">
              <c16:uniqueId val="{00000001-E9A6-484B-9E04-FD351E08F51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0.9"/>
          <c:min val="0.8"/>
        </c:scaling>
        <c:delete val="0"/>
        <c:axPos val="l"/>
        <c:majorGridlines>
          <c:spPr>
            <a:ln w="6350" cap="flat">
              <a:solidFill>
                <a:srgbClr val="E2E8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Arial"/>
              </a:defRPr>
            </a:pPr>
            <a:r>
              <a:rPr lang="en-IN" sz="1300" b="0" i="0" u="none" strike="noStrike">
                <a:solidFill>
                  <a:srgbClr val="0B2545"/>
                </a:solidFill>
                <a:latin typeface="Arial"/>
              </a:rPr>
              <a:t>Held-out forecast error, MAPE %</a:t>
            </a:r>
          </a:p>
        </c:rich>
      </c:tx>
      <c:overlay val="0"/>
    </c:title>
    <c:autoTitleDeleted val="0"/>
    <c:plotArea>
      <c:layout/>
      <c:barChart>
        <c:barDir val="col"/>
        <c:grouping val="clustered"/>
        <c:varyColors val="0"/>
        <c:ser>
          <c:idx val="0"/>
          <c:order val="0"/>
          <c:tx>
            <c:strRef>
              <c:f>Sheet1!$B$1</c:f>
              <c:strCache>
                <c:ptCount val="1"/>
                <c:pt idx="0">
                  <c:v>MAPE (%)</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365B-43CE-B0C9-C75A812233DF}"/>
              </c:ext>
            </c:extLst>
          </c:dPt>
          <c:dPt>
            <c:idx val="1"/>
            <c:invertIfNegative val="0"/>
            <c:bubble3D val="0"/>
            <c:spPr>
              <a:solidFill>
                <a:srgbClr val="94A3B8"/>
              </a:solidFill>
              <a:effectLst/>
            </c:spPr>
            <c:extLst>
              <c:ext xmlns:c16="http://schemas.microsoft.com/office/drawing/2014/chart" uri="{C3380CC4-5D6E-409C-BE32-E72D297353CC}">
                <c16:uniqueId val="{00000003-365B-43CE-B0C9-C75A812233DF}"/>
              </c:ext>
            </c:extLst>
          </c:dPt>
          <c:dLbls>
            <c:numFmt formatCode="0.0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Patient-specific fit</c:v>
                </c:pt>
                <c:pt idx="1">
                  <c:v>Population average</c:v>
                </c:pt>
              </c:strCache>
            </c:strRef>
          </c:cat>
          <c:val>
            <c:numRef>
              <c:f>Sheet1!$B$2:$B$3</c:f>
              <c:numCache>
                <c:formatCode>General</c:formatCode>
                <c:ptCount val="2"/>
                <c:pt idx="0">
                  <c:v>4.74</c:v>
                </c:pt>
                <c:pt idx="1">
                  <c:v>7.73</c:v>
                </c:pt>
              </c:numCache>
            </c:numRef>
          </c:val>
          <c:extLst>
            <c:ext xmlns:c16="http://schemas.microsoft.com/office/drawing/2014/chart" uri="{C3380CC4-5D6E-409C-BE32-E72D297353CC}">
              <c16:uniqueId val="{00000004-365B-43CE-B0C9-C75A812233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1339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ONCO-TWIN: a virtual patient that combines a medical record with wearable data to flag a dangerous neutrophil drop and show the cost of delaying chemotherapy. All data is synthetic and the oncologist always decides.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care is retrospective, blind between visits, and based on population averages. Our question is whether a continuously updated virtual patient can flag severe neutropenia early while still showing what waiting costs in tumor control.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Cancer is recognized as a leading noncommunicable disease needing long-term monitoring. In India breast cancer is the largest burden among women and many present late, needing intensive chemotherapy that often causes severe neutropenia. Source: ICMR-NCRP and Mathur et al., JCO Global Oncology 2020.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record plus wearables feed one twin state frozen at decision day D. The main output is the toxicity risk flag for each candidate dosing day. The supporting output is the tumor cost of delay, so the clinician sees both sides.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synthetic data, a leak-free feature pipeline, the twin state, the main toxicity model and the tumor cost-of-delay model, and the dashboard. The red box is the experimental marrow module, hidden by default. The bottom strip shows validation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synthetic data as the sandbox rules require. Labels come from a hidden marrow model, not from wearable features. Wearable signals are generated from the hidden marrow state with a coupling strength we can turn up or down, which the stress test uses.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lab and wearable value is frozen at day D. The delay enters only as scheduling variables. A test overwrites all later data with extreme values and checks that predictions do not change.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an ablation. A has 8 clinical features. B adds 8 wearable features: today's values plus 7-day versus 30-day personal baseline ratios. Logistic regression was the main model, with random forest and gradient boosting as benchmarks.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seed 42 cross-validation. Logistic regression gains from wearables; the tree models do not. Right: five-seed means. Be direct about the limits: the wearable gain is small and one seed was negative, and precision means about six in ten alerts are false alarms. Seed 42 was the hardest split.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ties wearables to hidden marrow depletion with a coupling strength kappa. We swept kappa from 0 to 1 over all five seeds. With no coupling there is no real signal and the gain disappears; at full coupling the gain is about plus 0.010. So the benefit exists only if real wearables track marrow reserve, which real data must test.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this module the safest day is always the latest day. A patient-specific Gompertz model, fitted only on data up to D, forecasts regrowth per delay with a conservative 90 percent band. Fitting per patient cuts forecast error by about 39 percent.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Streamlit app. By default it shows the ML risk and tumor regrowth with the action matrix. The marrow module is behind an Experimental checkbox. Tab 3 leads with the multi-seed table, with seed 42 shown as one example run.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further toward a full twin: a five-compartment marrow model fitted to each patient and updated with a Kalman filter. Our own audit says it is not reliable yet: nadir rises with delay only about half the time, and it shares equations with the generator. So it is hidden by default and presented as research.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Everything is synthetic, the wearable gain depends on our coupling assumption, delay ranking is weak, and about six in ten alerts are false alarms. Real use needs real-data validation and regulatory clearance.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value: a leak-free risk flag, a personalized cost-of-delay model, an honest stress test, and an experimental marrow twin, with the clinician in control. Everything is reproducible with the scripts in the repo.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0E7C86"/>
          </a:solidFill>
          <a:ln/>
        </p:spPr>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E7C86"/>
          </a:solidFill>
          <a:ln w="12700">
            <a:solidFill>
              <a:srgbClr val="0E7C86"/>
            </a:solidFill>
            <a:prstDash val="solid"/>
          </a:ln>
        </p:spPr>
      </p:sp>
      <p:sp>
        <p:nvSpPr>
          <p:cNvPr id="3" name="Text 1"/>
          <p:cNvSpPr txBox="1"/>
          <p:nvPr/>
        </p:nvSpPr>
        <p:spPr>
          <a:xfrm>
            <a:off x="914400" y="1371600"/>
            <a:ext cx="10058400" cy="1005840"/>
          </a:xfrm>
          <a:prstGeom prst="rect">
            <a:avLst/>
          </a:prstGeom>
          <a:noFill/>
          <a:ln/>
        </p:spPr>
        <p:txBody>
          <a:bodyPr wrap="square" lIns="0" tIns="0" rIns="0" bIns="0" rtlCol="0" anchor="ctr"/>
          <a:lstStyle/>
          <a:p>
            <a:pPr marL="0" indent="0">
              <a:buNone/>
            </a:pPr>
            <a:r>
              <a:rPr lang="en-US" sz="6000" b="1" dirty="0">
                <a:solidFill>
                  <a:srgbClr val="FFFFFF"/>
                </a:solidFill>
              </a:rPr>
              <a:t>ONCO-TWIN</a:t>
            </a:r>
            <a:endParaRPr lang="en-US" sz="6000" dirty="0"/>
          </a:p>
        </p:txBody>
      </p:sp>
      <p:sp>
        <p:nvSpPr>
          <p:cNvPr id="4" name="Text 2"/>
          <p:cNvSpPr txBox="1"/>
          <p:nvPr/>
        </p:nvSpPr>
        <p:spPr>
          <a:xfrm>
            <a:off x="914400" y="2514600"/>
            <a:ext cx="9601200" cy="1097280"/>
          </a:xfrm>
          <a:prstGeom prst="rect">
            <a:avLst/>
          </a:prstGeom>
          <a:noFill/>
          <a:ln/>
        </p:spPr>
        <p:txBody>
          <a:bodyPr wrap="square" lIns="0" tIns="0" rIns="0" bIns="0" rtlCol="0" anchor="ctr"/>
          <a:lstStyle/>
          <a:p>
            <a:pPr marL="0" indent="0">
              <a:buNone/>
            </a:pPr>
            <a:r>
              <a:rPr lang="en-US" sz="2600" dirty="0">
                <a:solidFill>
                  <a:srgbClr val="BFD7EA"/>
                </a:solidFill>
              </a:rPr>
              <a:t>A leak-free digital twin that flags severe chemotherapy toxicity and shows what waiting costs the tumor</a:t>
            </a:r>
            <a:endParaRPr lang="en-US" sz="2600" dirty="0"/>
          </a:p>
        </p:txBody>
      </p:sp>
      <p:sp>
        <p:nvSpPr>
          <p:cNvPr id="5" name="Text 3"/>
          <p:cNvSpPr txBox="1"/>
          <p:nvPr/>
        </p:nvSpPr>
        <p:spPr>
          <a:xfrm>
            <a:off x="914400" y="3840480"/>
            <a:ext cx="10058400" cy="457200"/>
          </a:xfrm>
          <a:prstGeom prst="rect">
            <a:avLst/>
          </a:prstGeom>
          <a:noFill/>
          <a:ln/>
        </p:spPr>
        <p:txBody>
          <a:bodyPr wrap="square" lIns="0" tIns="0" rIns="0" bIns="0" rtlCol="0" anchor="ctr"/>
          <a:lstStyle/>
          <a:p>
            <a:pPr marL="0" indent="0">
              <a:buNone/>
            </a:pPr>
            <a:r>
              <a:rPr lang="en-US" sz="1800" dirty="0">
                <a:solidFill>
                  <a:srgbClr val="5EEAD4"/>
                </a:solidFill>
              </a:rPr>
              <a:t>Breast cancer  ·  EHR + wearable data fusion  ·  Clinical decision support  ·  Synthetic data only</a:t>
            </a:r>
            <a:endParaRPr lang="en-US" sz="1800" dirty="0"/>
          </a:p>
        </p:txBody>
      </p:sp>
      <p:sp>
        <p:nvSpPr>
          <p:cNvPr id="6" name="Text 4"/>
          <p:cNvSpPr txBox="1"/>
          <p:nvPr/>
        </p:nvSpPr>
        <p:spPr>
          <a:xfrm>
            <a:off x="914400" y="4846320"/>
            <a:ext cx="10058400" cy="1097280"/>
          </a:xfrm>
          <a:prstGeom prst="rect">
            <a:avLst/>
          </a:prstGeom>
          <a:noFill/>
          <a:ln/>
        </p:spPr>
        <p:txBody>
          <a:bodyPr wrap="square" lIns="0" tIns="0" rIns="0" bIns="0" rtlCol="0" anchor="ctr"/>
          <a:lstStyle/>
          <a:p>
            <a:pPr marL="0" indent="0">
              <a:spcAft>
                <a:spcPts val="400"/>
              </a:spcAft>
              <a:buNone/>
            </a:pPr>
            <a:r>
              <a:rPr lang="en-US" sz="1600" b="1" dirty="0">
                <a:solidFill>
                  <a:srgbClr val="FFFFFF"/>
                </a:solidFill>
              </a:rPr>
              <a:t>Team Aurora</a:t>
            </a:r>
            <a:endParaRPr lang="en-US" sz="1600" dirty="0"/>
          </a:p>
          <a:p>
            <a:pPr marL="0" indent="0">
              <a:spcAft>
                <a:spcPts val="400"/>
              </a:spcAft>
              <a:buNone/>
            </a:pPr>
            <a:r>
              <a:rPr lang="en-US" sz="1600" dirty="0">
                <a:solidFill>
                  <a:srgbClr val="FFFFFF"/>
                </a:solidFill>
              </a:rPr>
              <a:t>Anandha Lakshmi RM (solo entry)  ·  The Apollo University</a:t>
            </a:r>
            <a:endParaRPr lang="en-US" sz="1600" dirty="0"/>
          </a:p>
          <a:p>
            <a:pPr marL="0" indent="0">
              <a:spcAft>
                <a:spcPts val="400"/>
              </a:spcAft>
              <a:buNone/>
            </a:pPr>
            <a:r>
              <a:rPr lang="en-US" sz="1600" dirty="0">
                <a:solidFill>
                  <a:srgbClr val="FFFFFF"/>
                </a:solidFill>
              </a:rPr>
              <a:t>Happiest Health Digital Twin Challenge 2026  ·  Phase 1: Prototype &amp; Code Submission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The problem: chemotherapy toxicity is caught after it happens</a:t>
            </a:r>
            <a:endParaRPr lang="en-US" sz="2600" dirty="0"/>
          </a:p>
        </p:txBody>
      </p:sp>
      <p:sp>
        <p:nvSpPr>
          <p:cNvPr id="4" name="Shape 1"/>
          <p:cNvSpPr/>
          <p:nvPr/>
        </p:nvSpPr>
        <p:spPr>
          <a:xfrm>
            <a:off x="548640" y="1463040"/>
            <a:ext cx="3566160" cy="2743200"/>
          </a:xfrm>
          <a:prstGeom prst="roundRect">
            <a:avLst>
              <a:gd name="adj" fmla="val 2667"/>
            </a:avLst>
          </a:prstGeom>
          <a:solidFill>
            <a:srgbClr val="FFFFFF"/>
          </a:solidFill>
          <a:ln w="19050">
            <a:solidFill>
              <a:srgbClr val="B91C1C"/>
            </a:solidFill>
            <a:prstDash val="solid"/>
          </a:ln>
        </p:spPr>
      </p:sp>
      <p:sp>
        <p:nvSpPr>
          <p:cNvPr id="5" name="Shape 2"/>
          <p:cNvSpPr/>
          <p:nvPr/>
        </p:nvSpPr>
        <p:spPr>
          <a:xfrm>
            <a:off x="548640" y="1536192"/>
            <a:ext cx="82296" cy="2596896"/>
          </a:xfrm>
          <a:prstGeom prst="rect">
            <a:avLst/>
          </a:prstGeom>
          <a:solidFill>
            <a:srgbClr val="B91C1C"/>
          </a:solidFill>
          <a:ln w="12700">
            <a:solidFill>
              <a:srgbClr val="B91C1C"/>
            </a:solidFill>
            <a:prstDash val="solid"/>
          </a:ln>
        </p:spPr>
      </p:sp>
      <p:sp>
        <p:nvSpPr>
          <p:cNvPr id="6" name="Text 3"/>
          <p:cNvSpPr txBox="1"/>
          <p:nvPr/>
        </p:nvSpPr>
        <p:spPr>
          <a:xfrm>
            <a:off x="777240" y="1554480"/>
            <a:ext cx="3200400" cy="411480"/>
          </a:xfrm>
          <a:prstGeom prst="rect">
            <a:avLst/>
          </a:prstGeom>
          <a:noFill/>
          <a:ln/>
        </p:spPr>
        <p:txBody>
          <a:bodyPr wrap="square" lIns="0" tIns="0" rIns="0" bIns="0" rtlCol="0" anchor="ctr"/>
          <a:lstStyle/>
          <a:p>
            <a:pPr marL="0" indent="0">
              <a:buNone/>
            </a:pPr>
            <a:r>
              <a:rPr lang="en-US" sz="2000" b="1" dirty="0">
                <a:solidFill>
                  <a:srgbClr val="B91C1C"/>
                </a:solidFill>
              </a:rPr>
              <a:t>Retrospective</a:t>
            </a:r>
            <a:endParaRPr lang="en-US" sz="2000" dirty="0"/>
          </a:p>
        </p:txBody>
      </p:sp>
      <p:sp>
        <p:nvSpPr>
          <p:cNvPr id="7" name="Text 4"/>
          <p:cNvSpPr txBox="1"/>
          <p:nvPr/>
        </p:nvSpPr>
        <p:spPr>
          <a:xfrm>
            <a:off x="777240" y="2011680"/>
            <a:ext cx="3200400" cy="2103120"/>
          </a:xfrm>
          <a:prstGeom prst="rect">
            <a:avLst/>
          </a:prstGeom>
          <a:noFill/>
          <a:ln/>
        </p:spPr>
        <p:txBody>
          <a:bodyPr wrap="square" lIns="0" tIns="0" rIns="0" bIns="0" rtlCol="0" anchor="t"/>
          <a:lstStyle/>
          <a:p>
            <a:pPr marL="0" indent="0">
              <a:spcAft>
                <a:spcPts val="400"/>
              </a:spcAft>
              <a:buNone/>
            </a:pPr>
            <a:r>
              <a:rPr lang="en-US" sz="1800" dirty="0">
                <a:solidFill>
                  <a:srgbClr val="1E293B"/>
                </a:solidFill>
              </a:rPr>
              <a:t>Severe neutropenia is usually found at scheduled lab checks, after it has already happened.</a:t>
            </a:r>
            <a:endParaRPr lang="en-US" sz="1800" dirty="0"/>
          </a:p>
        </p:txBody>
      </p:sp>
      <p:sp>
        <p:nvSpPr>
          <p:cNvPr id="8" name="Shape 5"/>
          <p:cNvSpPr/>
          <p:nvPr/>
        </p:nvSpPr>
        <p:spPr>
          <a:xfrm>
            <a:off x="4297680" y="1463040"/>
            <a:ext cx="3566160" cy="2743200"/>
          </a:xfrm>
          <a:prstGeom prst="roundRect">
            <a:avLst>
              <a:gd name="adj" fmla="val 2667"/>
            </a:avLst>
          </a:prstGeom>
          <a:solidFill>
            <a:srgbClr val="FFFFFF"/>
          </a:solidFill>
          <a:ln w="19050">
            <a:solidFill>
              <a:srgbClr val="D97706"/>
            </a:solidFill>
            <a:prstDash val="solid"/>
          </a:ln>
        </p:spPr>
      </p:sp>
      <p:sp>
        <p:nvSpPr>
          <p:cNvPr id="9" name="Shape 6"/>
          <p:cNvSpPr/>
          <p:nvPr/>
        </p:nvSpPr>
        <p:spPr>
          <a:xfrm>
            <a:off x="4297680" y="1536192"/>
            <a:ext cx="82296" cy="2596896"/>
          </a:xfrm>
          <a:prstGeom prst="rect">
            <a:avLst/>
          </a:prstGeom>
          <a:solidFill>
            <a:srgbClr val="D97706"/>
          </a:solidFill>
          <a:ln w="12700">
            <a:solidFill>
              <a:srgbClr val="D97706"/>
            </a:solidFill>
            <a:prstDash val="solid"/>
          </a:ln>
        </p:spPr>
      </p:sp>
      <p:sp>
        <p:nvSpPr>
          <p:cNvPr id="10" name="Text 7"/>
          <p:cNvSpPr txBox="1"/>
          <p:nvPr/>
        </p:nvSpPr>
        <p:spPr>
          <a:xfrm>
            <a:off x="4526280" y="1554480"/>
            <a:ext cx="3200400" cy="411480"/>
          </a:xfrm>
          <a:prstGeom prst="rect">
            <a:avLst/>
          </a:prstGeom>
          <a:noFill/>
          <a:ln/>
        </p:spPr>
        <p:txBody>
          <a:bodyPr wrap="square" lIns="0" tIns="0" rIns="0" bIns="0" rtlCol="0" anchor="ctr"/>
          <a:lstStyle/>
          <a:p>
            <a:pPr marL="0" indent="0">
              <a:buNone/>
            </a:pPr>
            <a:r>
              <a:rPr lang="en-US" sz="2000" b="1" dirty="0">
                <a:solidFill>
                  <a:srgbClr val="D97706"/>
                </a:solidFill>
              </a:rPr>
              <a:t>Blind between visits</a:t>
            </a:r>
            <a:endParaRPr lang="en-US" sz="2000" dirty="0"/>
          </a:p>
        </p:txBody>
      </p:sp>
      <p:sp>
        <p:nvSpPr>
          <p:cNvPr id="11" name="Text 8"/>
          <p:cNvSpPr txBox="1"/>
          <p:nvPr/>
        </p:nvSpPr>
        <p:spPr>
          <a:xfrm>
            <a:off x="4526280" y="2011680"/>
            <a:ext cx="3200400" cy="2103120"/>
          </a:xfrm>
          <a:prstGeom prst="rect">
            <a:avLst/>
          </a:prstGeom>
          <a:noFill/>
          <a:ln/>
        </p:spPr>
        <p:txBody>
          <a:bodyPr wrap="square" lIns="0" tIns="0" rIns="0" bIns="0" rtlCol="0" anchor="t"/>
          <a:lstStyle/>
          <a:p>
            <a:pPr marL="0" indent="0">
              <a:spcAft>
                <a:spcPts val="400"/>
              </a:spcAft>
              <a:buNone/>
            </a:pPr>
            <a:r>
              <a:rPr lang="en-US" sz="1800" dirty="0">
                <a:solidFill>
                  <a:srgbClr val="1E293B"/>
                </a:solidFill>
              </a:rPr>
              <a:t>The patient's real-time condition goes unseen between visits, when marrow strain builds.</a:t>
            </a:r>
            <a:endParaRPr lang="en-US" sz="1800" dirty="0"/>
          </a:p>
        </p:txBody>
      </p:sp>
      <p:sp>
        <p:nvSpPr>
          <p:cNvPr id="12" name="Shape 9"/>
          <p:cNvSpPr/>
          <p:nvPr/>
        </p:nvSpPr>
        <p:spPr>
          <a:xfrm>
            <a:off x="8046720" y="1463040"/>
            <a:ext cx="3566160" cy="2743200"/>
          </a:xfrm>
          <a:prstGeom prst="roundRect">
            <a:avLst>
              <a:gd name="adj" fmla="val 2667"/>
            </a:avLst>
          </a:prstGeom>
          <a:solidFill>
            <a:srgbClr val="FFFFFF"/>
          </a:solidFill>
          <a:ln w="19050">
            <a:solidFill>
              <a:srgbClr val="6D28D9"/>
            </a:solidFill>
            <a:prstDash val="solid"/>
          </a:ln>
        </p:spPr>
      </p:sp>
      <p:sp>
        <p:nvSpPr>
          <p:cNvPr id="13" name="Shape 10"/>
          <p:cNvSpPr/>
          <p:nvPr/>
        </p:nvSpPr>
        <p:spPr>
          <a:xfrm>
            <a:off x="8046720" y="1536192"/>
            <a:ext cx="82296" cy="2596896"/>
          </a:xfrm>
          <a:prstGeom prst="rect">
            <a:avLst/>
          </a:prstGeom>
          <a:solidFill>
            <a:srgbClr val="6D28D9"/>
          </a:solidFill>
          <a:ln w="12700">
            <a:solidFill>
              <a:srgbClr val="6D28D9"/>
            </a:solidFill>
            <a:prstDash val="solid"/>
          </a:ln>
        </p:spPr>
      </p:sp>
      <p:sp>
        <p:nvSpPr>
          <p:cNvPr id="14" name="Text 11"/>
          <p:cNvSpPr txBox="1"/>
          <p:nvPr/>
        </p:nvSpPr>
        <p:spPr>
          <a:xfrm>
            <a:off x="8275320" y="1554480"/>
            <a:ext cx="3200400" cy="411480"/>
          </a:xfrm>
          <a:prstGeom prst="rect">
            <a:avLst/>
          </a:prstGeom>
          <a:noFill/>
          <a:ln/>
        </p:spPr>
        <p:txBody>
          <a:bodyPr wrap="square" lIns="0" tIns="0" rIns="0" bIns="0" rtlCol="0" anchor="ctr"/>
          <a:lstStyle/>
          <a:p>
            <a:pPr marL="0" indent="0">
              <a:buNone/>
            </a:pPr>
            <a:r>
              <a:rPr lang="en-US" sz="2000" b="1" dirty="0">
                <a:solidFill>
                  <a:srgbClr val="6D28D9"/>
                </a:solidFill>
              </a:rPr>
              <a:t>Population averages</a:t>
            </a:r>
            <a:endParaRPr lang="en-US" sz="2000" dirty="0"/>
          </a:p>
        </p:txBody>
      </p:sp>
      <p:sp>
        <p:nvSpPr>
          <p:cNvPr id="15" name="Text 12"/>
          <p:cNvSpPr txBox="1"/>
          <p:nvPr/>
        </p:nvSpPr>
        <p:spPr>
          <a:xfrm>
            <a:off x="8275320" y="2011680"/>
            <a:ext cx="3200400" cy="2103120"/>
          </a:xfrm>
          <a:prstGeom prst="rect">
            <a:avLst/>
          </a:prstGeom>
          <a:noFill/>
          <a:ln/>
        </p:spPr>
        <p:txBody>
          <a:bodyPr wrap="square" lIns="0" tIns="0" rIns="0" bIns="0" rtlCol="0" anchor="t"/>
          <a:lstStyle/>
          <a:p>
            <a:pPr marL="0" indent="0">
              <a:spcAft>
                <a:spcPts val="400"/>
              </a:spcAft>
              <a:buNone/>
            </a:pPr>
            <a:r>
              <a:rPr lang="en-US" sz="1800" dirty="0">
                <a:solidFill>
                  <a:srgbClr val="1E293B"/>
                </a:solidFill>
              </a:rPr>
              <a:t>Schedules follow population averages, not how resilient this patient is today.</a:t>
            </a:r>
            <a:endParaRPr lang="en-US" sz="1800" dirty="0"/>
          </a:p>
        </p:txBody>
      </p:sp>
      <p:sp>
        <p:nvSpPr>
          <p:cNvPr id="16" name="Shape 13"/>
          <p:cNvSpPr/>
          <p:nvPr/>
        </p:nvSpPr>
        <p:spPr>
          <a:xfrm>
            <a:off x="548640" y="4663440"/>
            <a:ext cx="11064240" cy="1280160"/>
          </a:xfrm>
          <a:prstGeom prst="roundRect">
            <a:avLst>
              <a:gd name="adj" fmla="val 5714"/>
            </a:avLst>
          </a:prstGeom>
          <a:solidFill>
            <a:srgbClr val="0B2545"/>
          </a:solidFill>
          <a:ln w="12700">
            <a:solidFill>
              <a:srgbClr val="0B2545"/>
            </a:solidFill>
            <a:prstDash val="solid"/>
          </a:ln>
        </p:spPr>
      </p:sp>
      <p:sp>
        <p:nvSpPr>
          <p:cNvPr id="17" name="Text 14"/>
          <p:cNvSpPr txBox="1"/>
          <p:nvPr/>
        </p:nvSpPr>
        <p:spPr>
          <a:xfrm>
            <a:off x="822960" y="4754880"/>
            <a:ext cx="10515600" cy="1097280"/>
          </a:xfrm>
          <a:prstGeom prst="rect">
            <a:avLst/>
          </a:prstGeom>
          <a:noFill/>
          <a:ln/>
        </p:spPr>
        <p:txBody>
          <a:bodyPr wrap="square" lIns="0" tIns="0" rIns="0" bIns="0" rtlCol="0" anchor="ctr"/>
          <a:lstStyle/>
          <a:p>
            <a:pPr marL="0" indent="0">
              <a:buNone/>
            </a:pPr>
            <a:r>
              <a:rPr lang="en-US" sz="1900" b="1" dirty="0">
                <a:solidFill>
                  <a:srgbClr val="5EEAD4"/>
                </a:solidFill>
              </a:rPr>
              <a:t>Our question  </a:t>
            </a:r>
            <a:r>
              <a:rPr lang="en-US" sz="1900" dirty="0">
                <a:solidFill>
                  <a:srgbClr val="FFFFFF"/>
                </a:solidFill>
              </a:rPr>
              <a:t>Can a continuously updated virtual patient flag a severe neutrophil drop early, and show what delaying the dose costs in tumor control?</a:t>
            </a:r>
            <a:endParaRPr lang="en-US" sz="19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Why breast cancer: the most common cancer in Indian women</a:t>
            </a:r>
            <a:endParaRPr lang="en-US" sz="2600" dirty="0"/>
          </a:p>
        </p:txBody>
      </p:sp>
      <p:sp>
        <p:nvSpPr>
          <p:cNvPr id="4" name="Shape 1"/>
          <p:cNvSpPr/>
          <p:nvPr/>
        </p:nvSpPr>
        <p:spPr>
          <a:xfrm>
            <a:off x="548640" y="1463040"/>
            <a:ext cx="2606040" cy="1554480"/>
          </a:xfrm>
          <a:prstGeom prst="roundRect">
            <a:avLst>
              <a:gd name="adj" fmla="val 4706"/>
            </a:avLst>
          </a:prstGeom>
          <a:solidFill>
            <a:srgbClr val="F1F5F9"/>
          </a:solidFill>
          <a:ln w="12700">
            <a:solidFill>
              <a:srgbClr val="F1F5F9"/>
            </a:solidFill>
            <a:prstDash val="solid"/>
          </a:ln>
        </p:spPr>
      </p:sp>
      <p:sp>
        <p:nvSpPr>
          <p:cNvPr id="5" name="Text 2"/>
          <p:cNvSpPr txBox="1"/>
          <p:nvPr/>
        </p:nvSpPr>
        <p:spPr>
          <a:xfrm>
            <a:off x="548640" y="1554480"/>
            <a:ext cx="2606040" cy="777240"/>
          </a:xfrm>
          <a:prstGeom prst="rect">
            <a:avLst/>
          </a:prstGeom>
          <a:noFill/>
          <a:ln/>
        </p:spPr>
        <p:txBody>
          <a:bodyPr wrap="square" lIns="0" tIns="0" rIns="0" bIns="0" rtlCol="0" anchor="ctr"/>
          <a:lstStyle/>
          <a:p>
            <a:pPr marL="0" indent="0" algn="ctr">
              <a:buNone/>
            </a:pPr>
            <a:r>
              <a:rPr lang="en-US" sz="3000" b="1" dirty="0">
                <a:solidFill>
                  <a:srgbClr val="0E7C86"/>
                </a:solidFill>
              </a:rPr>
              <a:t>28.2%</a:t>
            </a:r>
            <a:endParaRPr lang="en-US" sz="3000" dirty="0"/>
          </a:p>
        </p:txBody>
      </p:sp>
      <p:sp>
        <p:nvSpPr>
          <p:cNvPr id="6" name="Text 3"/>
          <p:cNvSpPr txBox="1"/>
          <p:nvPr/>
        </p:nvSpPr>
        <p:spPr>
          <a:xfrm>
            <a:off x="640080" y="2364638"/>
            <a:ext cx="2423160" cy="590702"/>
          </a:xfrm>
          <a:prstGeom prst="rect">
            <a:avLst/>
          </a:prstGeom>
          <a:noFill/>
          <a:ln/>
        </p:spPr>
        <p:txBody>
          <a:bodyPr wrap="square" lIns="0" tIns="0" rIns="0" bIns="0" rtlCol="0" anchor="t"/>
          <a:lstStyle/>
          <a:p>
            <a:pPr marL="0" indent="0" algn="ctr">
              <a:buNone/>
            </a:pPr>
            <a:r>
              <a:rPr lang="en-US" sz="1200" dirty="0">
                <a:solidFill>
                  <a:srgbClr val="475569"/>
                </a:solidFill>
              </a:rPr>
              <a:t>of all female cancer diagnoses in India</a:t>
            </a:r>
            <a:endParaRPr lang="en-US" sz="1200" dirty="0"/>
          </a:p>
        </p:txBody>
      </p:sp>
      <p:sp>
        <p:nvSpPr>
          <p:cNvPr id="7" name="Shape 4"/>
          <p:cNvSpPr/>
          <p:nvPr/>
        </p:nvSpPr>
        <p:spPr>
          <a:xfrm>
            <a:off x="3337560" y="1463040"/>
            <a:ext cx="2606040" cy="1554480"/>
          </a:xfrm>
          <a:prstGeom prst="roundRect">
            <a:avLst>
              <a:gd name="adj" fmla="val 4706"/>
            </a:avLst>
          </a:prstGeom>
          <a:solidFill>
            <a:srgbClr val="F1F5F9"/>
          </a:solidFill>
          <a:ln w="12700">
            <a:solidFill>
              <a:srgbClr val="F1F5F9"/>
            </a:solidFill>
            <a:prstDash val="solid"/>
          </a:ln>
        </p:spPr>
      </p:sp>
      <p:sp>
        <p:nvSpPr>
          <p:cNvPr id="8" name="Text 5"/>
          <p:cNvSpPr txBox="1"/>
          <p:nvPr/>
        </p:nvSpPr>
        <p:spPr>
          <a:xfrm>
            <a:off x="3337560" y="1554480"/>
            <a:ext cx="2606040" cy="777240"/>
          </a:xfrm>
          <a:prstGeom prst="rect">
            <a:avLst/>
          </a:prstGeom>
          <a:noFill/>
          <a:ln/>
        </p:spPr>
        <p:txBody>
          <a:bodyPr wrap="square" lIns="0" tIns="0" rIns="0" bIns="0" rtlCol="0" anchor="ctr"/>
          <a:lstStyle/>
          <a:p>
            <a:pPr marL="0" indent="0" algn="ctr">
              <a:buNone/>
            </a:pPr>
            <a:r>
              <a:rPr lang="en-US" sz="3000" b="1" dirty="0">
                <a:solidFill>
                  <a:srgbClr val="2563EB"/>
                </a:solidFill>
              </a:rPr>
              <a:t>200,000+</a:t>
            </a:r>
            <a:endParaRPr lang="en-US" sz="3000" dirty="0"/>
          </a:p>
        </p:txBody>
      </p:sp>
      <p:sp>
        <p:nvSpPr>
          <p:cNvPr id="9" name="Text 6"/>
          <p:cNvSpPr txBox="1"/>
          <p:nvPr/>
        </p:nvSpPr>
        <p:spPr>
          <a:xfrm>
            <a:off x="3429000" y="2364638"/>
            <a:ext cx="2423160" cy="590702"/>
          </a:xfrm>
          <a:prstGeom prst="rect">
            <a:avLst/>
          </a:prstGeom>
          <a:noFill/>
          <a:ln/>
        </p:spPr>
        <p:txBody>
          <a:bodyPr wrap="square" lIns="0" tIns="0" rIns="0" bIns="0" rtlCol="0" anchor="t"/>
          <a:lstStyle/>
          <a:p>
            <a:pPr marL="0" indent="0" algn="ctr">
              <a:buNone/>
            </a:pPr>
            <a:r>
              <a:rPr lang="en-US" sz="1200" dirty="0">
                <a:solidFill>
                  <a:srgbClr val="475569"/>
                </a:solidFill>
              </a:rPr>
              <a:t>new breast cancer cases each year</a:t>
            </a:r>
            <a:endParaRPr lang="en-US" sz="1200" dirty="0"/>
          </a:p>
        </p:txBody>
      </p:sp>
      <p:sp>
        <p:nvSpPr>
          <p:cNvPr id="10" name="Shape 7"/>
          <p:cNvSpPr/>
          <p:nvPr/>
        </p:nvSpPr>
        <p:spPr>
          <a:xfrm>
            <a:off x="6126480" y="1463040"/>
            <a:ext cx="2606040" cy="1554480"/>
          </a:xfrm>
          <a:prstGeom prst="roundRect">
            <a:avLst>
              <a:gd name="adj" fmla="val 4706"/>
            </a:avLst>
          </a:prstGeom>
          <a:solidFill>
            <a:srgbClr val="F1F5F9"/>
          </a:solidFill>
          <a:ln w="12700">
            <a:solidFill>
              <a:srgbClr val="F1F5F9"/>
            </a:solidFill>
            <a:prstDash val="solid"/>
          </a:ln>
        </p:spPr>
      </p:sp>
      <p:sp>
        <p:nvSpPr>
          <p:cNvPr id="11" name="Text 8"/>
          <p:cNvSpPr txBox="1"/>
          <p:nvPr/>
        </p:nvSpPr>
        <p:spPr>
          <a:xfrm>
            <a:off x="6126480" y="1554480"/>
            <a:ext cx="2606040" cy="777240"/>
          </a:xfrm>
          <a:prstGeom prst="rect">
            <a:avLst/>
          </a:prstGeom>
          <a:noFill/>
          <a:ln/>
        </p:spPr>
        <p:txBody>
          <a:bodyPr wrap="square" lIns="0" tIns="0" rIns="0" bIns="0" rtlCol="0" anchor="ctr"/>
          <a:lstStyle/>
          <a:p>
            <a:pPr marL="0" indent="0" algn="ctr">
              <a:buNone/>
            </a:pPr>
            <a:r>
              <a:rPr lang="en-US" sz="3000" b="1" dirty="0">
                <a:solidFill>
                  <a:srgbClr val="6D28D9"/>
                </a:solidFill>
              </a:rPr>
              <a:t>1 in 28</a:t>
            </a:r>
            <a:endParaRPr lang="en-US" sz="3000" dirty="0"/>
          </a:p>
        </p:txBody>
      </p:sp>
      <p:sp>
        <p:nvSpPr>
          <p:cNvPr id="12" name="Text 9"/>
          <p:cNvSpPr txBox="1"/>
          <p:nvPr/>
        </p:nvSpPr>
        <p:spPr>
          <a:xfrm>
            <a:off x="6217920" y="2364638"/>
            <a:ext cx="2423160" cy="590702"/>
          </a:xfrm>
          <a:prstGeom prst="rect">
            <a:avLst/>
          </a:prstGeom>
          <a:noFill/>
          <a:ln/>
        </p:spPr>
        <p:txBody>
          <a:bodyPr wrap="square" lIns="0" tIns="0" rIns="0" bIns="0" rtlCol="0" anchor="t"/>
          <a:lstStyle/>
          <a:p>
            <a:pPr marL="0" indent="0" algn="ctr">
              <a:buNone/>
            </a:pPr>
            <a:r>
              <a:rPr lang="en-US" sz="1200" dirty="0">
                <a:solidFill>
                  <a:srgbClr val="475569"/>
                </a:solidFill>
              </a:rPr>
              <a:t>projected lifetime risk for Indian women</a:t>
            </a:r>
            <a:endParaRPr lang="en-US" sz="1200" dirty="0"/>
          </a:p>
        </p:txBody>
      </p:sp>
      <p:sp>
        <p:nvSpPr>
          <p:cNvPr id="13" name="Shape 10"/>
          <p:cNvSpPr/>
          <p:nvPr/>
        </p:nvSpPr>
        <p:spPr>
          <a:xfrm>
            <a:off x="8915400" y="1463040"/>
            <a:ext cx="2697480" cy="1554480"/>
          </a:xfrm>
          <a:prstGeom prst="roundRect">
            <a:avLst>
              <a:gd name="adj" fmla="val 4706"/>
            </a:avLst>
          </a:prstGeom>
          <a:solidFill>
            <a:srgbClr val="F1F5F9"/>
          </a:solidFill>
          <a:ln w="12700">
            <a:solidFill>
              <a:srgbClr val="F1F5F9"/>
            </a:solidFill>
            <a:prstDash val="solid"/>
          </a:ln>
        </p:spPr>
      </p:sp>
      <p:sp>
        <p:nvSpPr>
          <p:cNvPr id="14" name="Text 11"/>
          <p:cNvSpPr txBox="1"/>
          <p:nvPr/>
        </p:nvSpPr>
        <p:spPr>
          <a:xfrm>
            <a:off x="8915400" y="1554480"/>
            <a:ext cx="2697480" cy="777240"/>
          </a:xfrm>
          <a:prstGeom prst="rect">
            <a:avLst/>
          </a:prstGeom>
          <a:noFill/>
          <a:ln/>
        </p:spPr>
        <p:txBody>
          <a:bodyPr wrap="square" lIns="0" tIns="0" rIns="0" bIns="0" rtlCol="0" anchor="ctr"/>
          <a:lstStyle/>
          <a:p>
            <a:pPr marL="0" indent="0" algn="ctr">
              <a:buNone/>
            </a:pPr>
            <a:r>
              <a:rPr lang="en-US" sz="3000" b="1" dirty="0">
                <a:solidFill>
                  <a:srgbClr val="D97706"/>
                </a:solidFill>
              </a:rPr>
              <a:t>&gt; 50%</a:t>
            </a:r>
            <a:endParaRPr lang="en-US" sz="3000" dirty="0"/>
          </a:p>
        </p:txBody>
      </p:sp>
      <p:sp>
        <p:nvSpPr>
          <p:cNvPr id="15" name="Text 12"/>
          <p:cNvSpPr txBox="1"/>
          <p:nvPr/>
        </p:nvSpPr>
        <p:spPr>
          <a:xfrm>
            <a:off x="9006840" y="2364638"/>
            <a:ext cx="2514600" cy="590702"/>
          </a:xfrm>
          <a:prstGeom prst="rect">
            <a:avLst/>
          </a:prstGeom>
          <a:noFill/>
          <a:ln/>
        </p:spPr>
        <p:txBody>
          <a:bodyPr wrap="square" lIns="0" tIns="0" rIns="0" bIns="0" rtlCol="0" anchor="t"/>
          <a:lstStyle/>
          <a:p>
            <a:pPr marL="0" indent="0" algn="ctr">
              <a:buNone/>
            </a:pPr>
            <a:r>
              <a:rPr lang="en-US" sz="1200" dirty="0">
                <a:solidFill>
                  <a:srgbClr val="475569"/>
                </a:solidFill>
              </a:rPr>
              <a:t>present at locally advanced stages</a:t>
            </a:r>
            <a:endParaRPr lang="en-US" sz="1200" dirty="0"/>
          </a:p>
        </p:txBody>
      </p:sp>
      <p:sp>
        <p:nvSpPr>
          <p:cNvPr id="16" name="Shape 13"/>
          <p:cNvSpPr/>
          <p:nvPr/>
        </p:nvSpPr>
        <p:spPr>
          <a:xfrm>
            <a:off x="548640" y="3383280"/>
            <a:ext cx="5486400" cy="2377440"/>
          </a:xfrm>
          <a:prstGeom prst="roundRect">
            <a:avLst>
              <a:gd name="adj" fmla="val 3077"/>
            </a:avLst>
          </a:prstGeom>
          <a:solidFill>
            <a:srgbClr val="FFFFFF"/>
          </a:solidFill>
          <a:ln w="19050">
            <a:solidFill>
              <a:srgbClr val="0E7C86"/>
            </a:solidFill>
            <a:prstDash val="solid"/>
          </a:ln>
        </p:spPr>
      </p:sp>
      <p:sp>
        <p:nvSpPr>
          <p:cNvPr id="17" name="Shape 14"/>
          <p:cNvSpPr/>
          <p:nvPr/>
        </p:nvSpPr>
        <p:spPr>
          <a:xfrm>
            <a:off x="548640" y="3456432"/>
            <a:ext cx="82296" cy="2231136"/>
          </a:xfrm>
          <a:prstGeom prst="rect">
            <a:avLst/>
          </a:prstGeom>
          <a:solidFill>
            <a:srgbClr val="0E7C86"/>
          </a:solidFill>
          <a:ln w="12700">
            <a:solidFill>
              <a:srgbClr val="0E7C86"/>
            </a:solidFill>
            <a:prstDash val="solid"/>
          </a:ln>
        </p:spPr>
      </p:sp>
      <p:sp>
        <p:nvSpPr>
          <p:cNvPr id="18" name="Text 15"/>
          <p:cNvSpPr txBox="1"/>
          <p:nvPr/>
        </p:nvSpPr>
        <p:spPr>
          <a:xfrm>
            <a:off x="777240" y="3474720"/>
            <a:ext cx="5120640" cy="411480"/>
          </a:xfrm>
          <a:prstGeom prst="rect">
            <a:avLst/>
          </a:prstGeom>
          <a:noFill/>
          <a:ln/>
        </p:spPr>
        <p:txBody>
          <a:bodyPr wrap="square" lIns="0" tIns="0" rIns="0" bIns="0" rtlCol="0" anchor="ctr"/>
          <a:lstStyle/>
          <a:p>
            <a:pPr marL="0" indent="0">
              <a:buNone/>
            </a:pPr>
            <a:r>
              <a:rPr lang="en-US" sz="1900" b="1" dirty="0">
                <a:solidFill>
                  <a:srgbClr val="0E7C86"/>
                </a:solidFill>
              </a:rPr>
              <a:t>Chosen cancer type</a:t>
            </a:r>
            <a:endParaRPr lang="en-US" sz="1900" dirty="0"/>
          </a:p>
        </p:txBody>
      </p:sp>
      <p:sp>
        <p:nvSpPr>
          <p:cNvPr id="19" name="Text 16"/>
          <p:cNvSpPr txBox="1"/>
          <p:nvPr/>
        </p:nvSpPr>
        <p:spPr>
          <a:xfrm>
            <a:off x="777240" y="3931920"/>
            <a:ext cx="5120640" cy="1737360"/>
          </a:xfrm>
          <a:prstGeom prst="rect">
            <a:avLst/>
          </a:prstGeom>
          <a:noFill/>
          <a:ln/>
        </p:spPr>
        <p:txBody>
          <a:bodyPr wrap="square" lIns="0" tIns="0" rIns="0" bIns="0" rtlCol="0" anchor="t"/>
          <a:lstStyle/>
          <a:p>
            <a:pPr marL="0" indent="0">
              <a:spcAft>
                <a:spcPts val="400"/>
              </a:spcAft>
              <a:buNone/>
            </a:pPr>
            <a:r>
              <a:rPr lang="en-US" sz="1700" dirty="0">
                <a:solidFill>
                  <a:srgbClr val="1E293B"/>
                </a:solidFill>
              </a:rPr>
              <a:t>Breast cancer (invasive ductal carcinoma, Stage II-IV) on myelosuppressive regimens such as doxorubicin + cyclophosphamide or paclitaxel.</a:t>
            </a:r>
            <a:endParaRPr lang="en-US" sz="1700" dirty="0"/>
          </a:p>
        </p:txBody>
      </p:sp>
      <p:sp>
        <p:nvSpPr>
          <p:cNvPr id="20" name="Shape 17"/>
          <p:cNvSpPr/>
          <p:nvPr/>
        </p:nvSpPr>
        <p:spPr>
          <a:xfrm>
            <a:off x="6217920" y="3383280"/>
            <a:ext cx="5394960" cy="2377440"/>
          </a:xfrm>
          <a:prstGeom prst="roundRect">
            <a:avLst>
              <a:gd name="adj" fmla="val 3077"/>
            </a:avLst>
          </a:prstGeom>
          <a:solidFill>
            <a:srgbClr val="FFFFFF"/>
          </a:solidFill>
          <a:ln w="19050">
            <a:solidFill>
              <a:srgbClr val="2563EB"/>
            </a:solidFill>
            <a:prstDash val="solid"/>
          </a:ln>
        </p:spPr>
      </p:sp>
      <p:sp>
        <p:nvSpPr>
          <p:cNvPr id="21" name="Shape 18"/>
          <p:cNvSpPr/>
          <p:nvPr/>
        </p:nvSpPr>
        <p:spPr>
          <a:xfrm>
            <a:off x="6217920" y="3456432"/>
            <a:ext cx="82296" cy="2231136"/>
          </a:xfrm>
          <a:prstGeom prst="rect">
            <a:avLst/>
          </a:prstGeom>
          <a:solidFill>
            <a:srgbClr val="2563EB"/>
          </a:solidFill>
          <a:ln w="12700">
            <a:solidFill>
              <a:srgbClr val="2563EB"/>
            </a:solidFill>
            <a:prstDash val="solid"/>
          </a:ln>
        </p:spPr>
      </p:sp>
      <p:sp>
        <p:nvSpPr>
          <p:cNvPr id="22" name="Text 19"/>
          <p:cNvSpPr txBox="1"/>
          <p:nvPr/>
        </p:nvSpPr>
        <p:spPr>
          <a:xfrm>
            <a:off x="6446520" y="3474720"/>
            <a:ext cx="5029200" cy="411480"/>
          </a:xfrm>
          <a:prstGeom prst="rect">
            <a:avLst/>
          </a:prstGeom>
          <a:noFill/>
          <a:ln/>
        </p:spPr>
        <p:txBody>
          <a:bodyPr wrap="square" lIns="0" tIns="0" rIns="0" bIns="0" rtlCol="0" anchor="ctr"/>
          <a:lstStyle/>
          <a:p>
            <a:pPr marL="0" indent="0">
              <a:buNone/>
            </a:pPr>
            <a:r>
              <a:rPr lang="en-US" sz="1900" b="1" dirty="0">
                <a:solidFill>
                  <a:srgbClr val="2563EB"/>
                </a:solidFill>
              </a:rPr>
              <a:t>Why it fits</a:t>
            </a:r>
            <a:endParaRPr lang="en-US" sz="1900" dirty="0"/>
          </a:p>
        </p:txBody>
      </p:sp>
      <p:sp>
        <p:nvSpPr>
          <p:cNvPr id="23" name="Text 20"/>
          <p:cNvSpPr txBox="1"/>
          <p:nvPr/>
        </p:nvSpPr>
        <p:spPr>
          <a:xfrm>
            <a:off x="6446520" y="3931920"/>
            <a:ext cx="5029200" cy="1737360"/>
          </a:xfrm>
          <a:prstGeom prst="rect">
            <a:avLst/>
          </a:prstGeom>
          <a:noFill/>
          <a:ln/>
        </p:spPr>
        <p:txBody>
          <a:bodyPr wrap="square" lIns="0" tIns="0" rIns="0" bIns="0" rtlCol="0" anchor="t"/>
          <a:lstStyle/>
          <a:p>
            <a:pPr marL="0" indent="0">
              <a:spcAft>
                <a:spcPts val="400"/>
              </a:spcAft>
              <a:buNone/>
            </a:pPr>
            <a:r>
              <a:rPr lang="en-US" sz="1700" dirty="0">
                <a:solidFill>
                  <a:srgbClr val="1E293B"/>
                </a:solidFill>
              </a:rPr>
              <a:t>Long-term, prevalent in India, and its chemotherapy causes a measurable adverse event: grade 3+ neutropenia (ANC below 1.0 ×10⁹/L).</a:t>
            </a:r>
            <a:endParaRPr lang="en-US" sz="1700" dirty="0"/>
          </a:p>
        </p:txBody>
      </p:sp>
      <p:sp>
        <p:nvSpPr>
          <p:cNvPr id="24" name="Text 21"/>
          <p:cNvSpPr txBox="1"/>
          <p:nvPr/>
        </p:nvSpPr>
        <p:spPr>
          <a:xfrm>
            <a:off x="548640" y="5989320"/>
            <a:ext cx="9144000" cy="274320"/>
          </a:xfrm>
          <a:prstGeom prst="rect">
            <a:avLst/>
          </a:prstGeom>
          <a:noFill/>
          <a:ln/>
        </p:spPr>
        <p:txBody>
          <a:bodyPr wrap="square" lIns="0" tIns="0" rIns="0" bIns="0" rtlCol="0" anchor="ctr"/>
          <a:lstStyle/>
          <a:p>
            <a:pPr marL="0" indent="0">
              <a:buNone/>
            </a:pPr>
            <a:r>
              <a:rPr lang="en-US" sz="1100" i="1" dirty="0">
                <a:solidFill>
                  <a:srgbClr val="475569"/>
                </a:solidFill>
              </a:rPr>
              <a:t>Source: ICMR-NCRP report 2020-2025; Mathur et al., JCO Global Oncology 2020.</a:t>
            </a:r>
            <a:endParaRPr lang="en-US" sz="11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The solution: one virtual patient, two outputs</a:t>
            </a:r>
            <a:endParaRPr lang="en-US" sz="2600" dirty="0"/>
          </a:p>
        </p:txBody>
      </p:sp>
      <p:sp>
        <p:nvSpPr>
          <p:cNvPr id="4" name="Shape 1"/>
          <p:cNvSpPr/>
          <p:nvPr/>
        </p:nvSpPr>
        <p:spPr>
          <a:xfrm>
            <a:off x="548640" y="1371600"/>
            <a:ext cx="3108960" cy="1920240"/>
          </a:xfrm>
          <a:prstGeom prst="roundRect">
            <a:avLst>
              <a:gd name="adj" fmla="val 3810"/>
            </a:avLst>
          </a:prstGeom>
          <a:solidFill>
            <a:srgbClr val="FFFFFF"/>
          </a:solidFill>
          <a:ln w="19050">
            <a:solidFill>
              <a:srgbClr val="0E7C86"/>
            </a:solidFill>
            <a:prstDash val="solid"/>
          </a:ln>
        </p:spPr>
      </p:sp>
      <p:sp>
        <p:nvSpPr>
          <p:cNvPr id="5" name="Shape 2"/>
          <p:cNvSpPr/>
          <p:nvPr/>
        </p:nvSpPr>
        <p:spPr>
          <a:xfrm>
            <a:off x="548640" y="1444752"/>
            <a:ext cx="82296" cy="1773936"/>
          </a:xfrm>
          <a:prstGeom prst="rect">
            <a:avLst/>
          </a:prstGeom>
          <a:solidFill>
            <a:srgbClr val="0E7C86"/>
          </a:solidFill>
          <a:ln w="12700">
            <a:solidFill>
              <a:srgbClr val="0E7C86"/>
            </a:solidFill>
            <a:prstDash val="solid"/>
          </a:ln>
        </p:spPr>
      </p:sp>
      <p:sp>
        <p:nvSpPr>
          <p:cNvPr id="6" name="Text 3"/>
          <p:cNvSpPr txBox="1"/>
          <p:nvPr/>
        </p:nvSpPr>
        <p:spPr>
          <a:xfrm>
            <a:off x="777240" y="1463040"/>
            <a:ext cx="2743200" cy="411480"/>
          </a:xfrm>
          <a:prstGeom prst="rect">
            <a:avLst/>
          </a:prstGeom>
          <a:noFill/>
          <a:ln/>
        </p:spPr>
        <p:txBody>
          <a:bodyPr wrap="square" lIns="0" tIns="0" rIns="0" bIns="0" rtlCol="0" anchor="ctr"/>
          <a:lstStyle/>
          <a:p>
            <a:pPr marL="0" indent="0">
              <a:buNone/>
            </a:pPr>
            <a:r>
              <a:rPr lang="en-US" sz="1700" b="1" dirty="0">
                <a:solidFill>
                  <a:srgbClr val="0E7C86"/>
                </a:solidFill>
              </a:rPr>
              <a:t>Static / historical</a:t>
            </a:r>
            <a:endParaRPr lang="en-US" sz="1700" dirty="0"/>
          </a:p>
        </p:txBody>
      </p:sp>
      <p:sp>
        <p:nvSpPr>
          <p:cNvPr id="7" name="Text 4"/>
          <p:cNvSpPr txBox="1"/>
          <p:nvPr/>
        </p:nvSpPr>
        <p:spPr>
          <a:xfrm>
            <a:off x="777240" y="1920240"/>
            <a:ext cx="2743200" cy="1280160"/>
          </a:xfrm>
          <a:prstGeom prst="rect">
            <a:avLst/>
          </a:prstGeom>
          <a:noFill/>
          <a:ln/>
        </p:spPr>
        <p:txBody>
          <a:bodyPr wrap="square" lIns="0" tIns="0" rIns="0" bIns="0" rtlCol="0" anchor="t"/>
          <a:lstStyle/>
          <a:p>
            <a:pPr marL="0" indent="0">
              <a:spcAft>
                <a:spcPts val="400"/>
              </a:spcAft>
              <a:buNone/>
            </a:pPr>
            <a:r>
              <a:rPr lang="en-US" sz="1500" dirty="0">
                <a:solidFill>
                  <a:srgbClr val="1E293B"/>
                </a:solidFill>
              </a:rPr>
              <a:t>Simulated EHR: demographics, stage, biomarkers, ECOG, baseline labs, treatment history</a:t>
            </a:r>
            <a:endParaRPr lang="en-US" sz="1500" dirty="0"/>
          </a:p>
        </p:txBody>
      </p:sp>
      <p:sp>
        <p:nvSpPr>
          <p:cNvPr id="8" name="Shape 5"/>
          <p:cNvSpPr/>
          <p:nvPr/>
        </p:nvSpPr>
        <p:spPr>
          <a:xfrm>
            <a:off x="548640" y="3474720"/>
            <a:ext cx="3108960" cy="1920240"/>
          </a:xfrm>
          <a:prstGeom prst="roundRect">
            <a:avLst>
              <a:gd name="adj" fmla="val 3810"/>
            </a:avLst>
          </a:prstGeom>
          <a:solidFill>
            <a:srgbClr val="FFFFFF"/>
          </a:solidFill>
          <a:ln w="19050">
            <a:solidFill>
              <a:srgbClr val="2563EB"/>
            </a:solidFill>
            <a:prstDash val="solid"/>
          </a:ln>
        </p:spPr>
      </p:sp>
      <p:sp>
        <p:nvSpPr>
          <p:cNvPr id="9" name="Shape 6"/>
          <p:cNvSpPr/>
          <p:nvPr/>
        </p:nvSpPr>
        <p:spPr>
          <a:xfrm>
            <a:off x="548640" y="3547872"/>
            <a:ext cx="82296" cy="1773936"/>
          </a:xfrm>
          <a:prstGeom prst="rect">
            <a:avLst/>
          </a:prstGeom>
          <a:solidFill>
            <a:srgbClr val="2563EB"/>
          </a:solidFill>
          <a:ln w="12700">
            <a:solidFill>
              <a:srgbClr val="2563EB"/>
            </a:solidFill>
            <a:prstDash val="solid"/>
          </a:ln>
        </p:spPr>
      </p:sp>
      <p:sp>
        <p:nvSpPr>
          <p:cNvPr id="10" name="Text 7"/>
          <p:cNvSpPr txBox="1"/>
          <p:nvPr/>
        </p:nvSpPr>
        <p:spPr>
          <a:xfrm>
            <a:off x="777240" y="3566160"/>
            <a:ext cx="2743200" cy="411480"/>
          </a:xfrm>
          <a:prstGeom prst="rect">
            <a:avLst/>
          </a:prstGeom>
          <a:noFill/>
          <a:ln/>
        </p:spPr>
        <p:txBody>
          <a:bodyPr wrap="square" lIns="0" tIns="0" rIns="0" bIns="0" rtlCol="0" anchor="ctr"/>
          <a:lstStyle/>
          <a:p>
            <a:pPr marL="0" indent="0">
              <a:buNone/>
            </a:pPr>
            <a:r>
              <a:rPr lang="en-US" sz="1700" b="1" dirty="0">
                <a:solidFill>
                  <a:srgbClr val="2563EB"/>
                </a:solidFill>
              </a:rPr>
              <a:t>Dynamic / real-time</a:t>
            </a:r>
            <a:endParaRPr lang="en-US" sz="1700" dirty="0"/>
          </a:p>
        </p:txBody>
      </p:sp>
      <p:sp>
        <p:nvSpPr>
          <p:cNvPr id="11" name="Text 8"/>
          <p:cNvSpPr txBox="1"/>
          <p:nvPr/>
        </p:nvSpPr>
        <p:spPr>
          <a:xfrm>
            <a:off x="777240" y="4023360"/>
            <a:ext cx="2743200" cy="1280160"/>
          </a:xfrm>
          <a:prstGeom prst="rect">
            <a:avLst/>
          </a:prstGeom>
          <a:noFill/>
          <a:ln/>
        </p:spPr>
        <p:txBody>
          <a:bodyPr wrap="square" lIns="0" tIns="0" rIns="0" bIns="0" rtlCol="0" anchor="t"/>
          <a:lstStyle/>
          <a:p>
            <a:pPr marL="0" indent="0">
              <a:spcAft>
                <a:spcPts val="400"/>
              </a:spcAft>
              <a:buNone/>
            </a:pPr>
            <a:r>
              <a:rPr lang="en-US" sz="1500" dirty="0">
                <a:solidFill>
                  <a:srgbClr val="1E293B"/>
                </a:solidFill>
              </a:rPr>
              <a:t>Simulated wearables: HRV, resting heart rate, step count, sleep</a:t>
            </a:r>
            <a:endParaRPr lang="en-US" sz="1500" dirty="0"/>
          </a:p>
        </p:txBody>
      </p:sp>
      <p:sp>
        <p:nvSpPr>
          <p:cNvPr id="12" name="Text 9"/>
          <p:cNvSpPr txBox="1"/>
          <p:nvPr/>
        </p:nvSpPr>
        <p:spPr>
          <a:xfrm>
            <a:off x="3703320" y="2834640"/>
            <a:ext cx="548640" cy="640080"/>
          </a:xfrm>
          <a:prstGeom prst="rect">
            <a:avLst/>
          </a:prstGeom>
          <a:noFill/>
          <a:ln/>
        </p:spPr>
        <p:txBody>
          <a:bodyPr wrap="square" lIns="0" tIns="0" rIns="0" bIns="0" rtlCol="0" anchor="ctr"/>
          <a:lstStyle/>
          <a:p>
            <a:pPr marL="0" indent="0" algn="ctr">
              <a:buNone/>
            </a:pPr>
            <a:r>
              <a:rPr lang="en-US" sz="3600" b="1" dirty="0">
                <a:solidFill>
                  <a:srgbClr val="475569"/>
                </a:solidFill>
              </a:rPr>
              <a:t>→</a:t>
            </a:r>
            <a:endParaRPr lang="en-US" sz="3600" dirty="0"/>
          </a:p>
        </p:txBody>
      </p:sp>
      <p:sp>
        <p:nvSpPr>
          <p:cNvPr id="13" name="Shape 10"/>
          <p:cNvSpPr/>
          <p:nvPr/>
        </p:nvSpPr>
        <p:spPr>
          <a:xfrm>
            <a:off x="4297680" y="1920240"/>
            <a:ext cx="2743200" cy="2926080"/>
          </a:xfrm>
          <a:prstGeom prst="roundRect">
            <a:avLst>
              <a:gd name="adj" fmla="val 3333"/>
            </a:avLst>
          </a:prstGeom>
          <a:solidFill>
            <a:srgbClr val="6D28D9"/>
          </a:solidFill>
          <a:ln w="12700">
            <a:solidFill>
              <a:srgbClr val="6D28D9"/>
            </a:solidFill>
            <a:prstDash val="solid"/>
          </a:ln>
        </p:spPr>
      </p:sp>
      <p:sp>
        <p:nvSpPr>
          <p:cNvPr id="14" name="Text 11"/>
          <p:cNvSpPr txBox="1"/>
          <p:nvPr/>
        </p:nvSpPr>
        <p:spPr>
          <a:xfrm>
            <a:off x="4480560" y="2103120"/>
            <a:ext cx="2377440" cy="2560320"/>
          </a:xfrm>
          <a:prstGeom prst="rect">
            <a:avLst/>
          </a:prstGeom>
          <a:noFill/>
          <a:ln/>
        </p:spPr>
        <p:txBody>
          <a:bodyPr wrap="square" lIns="0" tIns="0" rIns="0" bIns="0" rtlCol="0" anchor="ctr"/>
          <a:lstStyle/>
          <a:p>
            <a:pPr marL="0" indent="0" algn="ctr">
              <a:spcAft>
                <a:spcPts val="800"/>
              </a:spcAft>
              <a:buNone/>
            </a:pPr>
            <a:r>
              <a:rPr lang="en-US" sz="2000" b="1" dirty="0">
                <a:solidFill>
                  <a:srgbClr val="FFFFFF"/>
                </a:solidFill>
              </a:rPr>
              <a:t>Digital twin state</a:t>
            </a:r>
            <a:endParaRPr lang="en-US" sz="2000" dirty="0"/>
          </a:p>
          <a:p>
            <a:pPr marL="0" indent="0" algn="ctr">
              <a:spcAft>
                <a:spcPts val="800"/>
              </a:spcAft>
              <a:buNone/>
            </a:pPr>
            <a:r>
              <a:rPr lang="en-US" sz="1400" dirty="0">
                <a:solidFill>
                  <a:srgbClr val="FFFFFF"/>
                </a:solidFill>
              </a:rPr>
              <a:t>Everything known up to day D, re-scored every morning</a:t>
            </a:r>
            <a:endParaRPr lang="en-US" sz="2000" dirty="0"/>
          </a:p>
        </p:txBody>
      </p:sp>
      <p:sp>
        <p:nvSpPr>
          <p:cNvPr id="15" name="Text 12"/>
          <p:cNvSpPr txBox="1"/>
          <p:nvPr/>
        </p:nvSpPr>
        <p:spPr>
          <a:xfrm>
            <a:off x="7086600" y="2834640"/>
            <a:ext cx="548640" cy="640080"/>
          </a:xfrm>
          <a:prstGeom prst="rect">
            <a:avLst/>
          </a:prstGeom>
          <a:noFill/>
          <a:ln/>
        </p:spPr>
        <p:txBody>
          <a:bodyPr wrap="square" lIns="0" tIns="0" rIns="0" bIns="0" rtlCol="0" anchor="ctr"/>
          <a:lstStyle/>
          <a:p>
            <a:pPr marL="0" indent="0" algn="ctr">
              <a:buNone/>
            </a:pPr>
            <a:r>
              <a:rPr lang="en-US" sz="3600" b="1" dirty="0">
                <a:solidFill>
                  <a:srgbClr val="475569"/>
                </a:solidFill>
              </a:rPr>
              <a:t>→</a:t>
            </a:r>
            <a:endParaRPr lang="en-US" sz="3600" dirty="0"/>
          </a:p>
        </p:txBody>
      </p:sp>
      <p:sp>
        <p:nvSpPr>
          <p:cNvPr id="16" name="Shape 13"/>
          <p:cNvSpPr/>
          <p:nvPr/>
        </p:nvSpPr>
        <p:spPr>
          <a:xfrm>
            <a:off x="7680960" y="1371600"/>
            <a:ext cx="3931920" cy="2286000"/>
          </a:xfrm>
          <a:prstGeom prst="roundRect">
            <a:avLst>
              <a:gd name="adj" fmla="val 3200"/>
            </a:avLst>
          </a:prstGeom>
          <a:solidFill>
            <a:srgbClr val="FFFFFF"/>
          </a:solidFill>
          <a:ln w="19050">
            <a:solidFill>
              <a:srgbClr val="D97706"/>
            </a:solidFill>
            <a:prstDash val="solid"/>
          </a:ln>
        </p:spPr>
      </p:sp>
      <p:sp>
        <p:nvSpPr>
          <p:cNvPr id="17" name="Shape 14"/>
          <p:cNvSpPr/>
          <p:nvPr/>
        </p:nvSpPr>
        <p:spPr>
          <a:xfrm>
            <a:off x="7680960" y="1444752"/>
            <a:ext cx="82296" cy="2139696"/>
          </a:xfrm>
          <a:prstGeom prst="rect">
            <a:avLst/>
          </a:prstGeom>
          <a:solidFill>
            <a:srgbClr val="D97706"/>
          </a:solidFill>
          <a:ln w="12700">
            <a:solidFill>
              <a:srgbClr val="D97706"/>
            </a:solidFill>
            <a:prstDash val="solid"/>
          </a:ln>
        </p:spPr>
      </p:sp>
      <p:sp>
        <p:nvSpPr>
          <p:cNvPr id="18" name="Text 15"/>
          <p:cNvSpPr txBox="1"/>
          <p:nvPr/>
        </p:nvSpPr>
        <p:spPr>
          <a:xfrm>
            <a:off x="7909560" y="1463040"/>
            <a:ext cx="3566160" cy="411480"/>
          </a:xfrm>
          <a:prstGeom prst="rect">
            <a:avLst/>
          </a:prstGeom>
          <a:noFill/>
          <a:ln/>
        </p:spPr>
        <p:txBody>
          <a:bodyPr wrap="square" lIns="0" tIns="0" rIns="0" bIns="0" rtlCol="0" anchor="ctr"/>
          <a:lstStyle/>
          <a:p>
            <a:pPr marL="0" indent="0">
              <a:buNone/>
            </a:pPr>
            <a:r>
              <a:rPr lang="en-US" sz="1700" b="1" dirty="0">
                <a:solidFill>
                  <a:srgbClr val="D97706"/>
                </a:solidFill>
              </a:rPr>
              <a:t>Main: toxicity risk flag</a:t>
            </a:r>
            <a:endParaRPr lang="en-US" sz="1700" dirty="0"/>
          </a:p>
        </p:txBody>
      </p:sp>
      <p:sp>
        <p:nvSpPr>
          <p:cNvPr id="19" name="Text 16"/>
          <p:cNvSpPr txBox="1"/>
          <p:nvPr/>
        </p:nvSpPr>
        <p:spPr>
          <a:xfrm>
            <a:off x="7909560" y="1920240"/>
            <a:ext cx="3566160" cy="1645920"/>
          </a:xfrm>
          <a:prstGeom prst="rect">
            <a:avLst/>
          </a:prstGeom>
          <a:noFill/>
          <a:ln/>
        </p:spPr>
        <p:txBody>
          <a:bodyPr wrap="square" lIns="0" tIns="0" rIns="0" bIns="0" rtlCol="0" anchor="t"/>
          <a:lstStyle/>
          <a:p>
            <a:pPr marL="0" indent="0">
              <a:spcAft>
                <a:spcPts val="400"/>
              </a:spcAft>
              <a:buNone/>
            </a:pPr>
            <a:r>
              <a:rPr lang="en-US" sz="1500" dirty="0">
                <a:solidFill>
                  <a:srgbClr val="1E293B"/>
                </a:solidFill>
              </a:rPr>
              <a:t>Probability of grade 3+ neutropenia after a dose, scored for each candidate dosing day (+0, +3, +7, +14).</a:t>
            </a:r>
            <a:endParaRPr lang="en-US" sz="1500" dirty="0"/>
          </a:p>
        </p:txBody>
      </p:sp>
      <p:sp>
        <p:nvSpPr>
          <p:cNvPr id="20" name="Shape 17"/>
          <p:cNvSpPr/>
          <p:nvPr/>
        </p:nvSpPr>
        <p:spPr>
          <a:xfrm>
            <a:off x="7680960" y="3840480"/>
            <a:ext cx="3931920" cy="1554480"/>
          </a:xfrm>
          <a:prstGeom prst="roundRect">
            <a:avLst>
              <a:gd name="adj" fmla="val 4706"/>
            </a:avLst>
          </a:prstGeom>
          <a:solidFill>
            <a:srgbClr val="FFFFFF"/>
          </a:solidFill>
          <a:ln w="19050">
            <a:solidFill>
              <a:srgbClr val="15803D"/>
            </a:solidFill>
            <a:prstDash val="solid"/>
          </a:ln>
        </p:spPr>
      </p:sp>
      <p:sp>
        <p:nvSpPr>
          <p:cNvPr id="21" name="Shape 18"/>
          <p:cNvSpPr/>
          <p:nvPr/>
        </p:nvSpPr>
        <p:spPr>
          <a:xfrm>
            <a:off x="7680960" y="3913632"/>
            <a:ext cx="82296" cy="1408176"/>
          </a:xfrm>
          <a:prstGeom prst="rect">
            <a:avLst/>
          </a:prstGeom>
          <a:solidFill>
            <a:srgbClr val="15803D"/>
          </a:solidFill>
          <a:ln w="12700">
            <a:solidFill>
              <a:srgbClr val="15803D"/>
            </a:solidFill>
            <a:prstDash val="solid"/>
          </a:ln>
        </p:spPr>
      </p:sp>
      <p:sp>
        <p:nvSpPr>
          <p:cNvPr id="22" name="Text 19"/>
          <p:cNvSpPr txBox="1"/>
          <p:nvPr/>
        </p:nvSpPr>
        <p:spPr>
          <a:xfrm>
            <a:off x="7909560" y="3931920"/>
            <a:ext cx="3566160" cy="411480"/>
          </a:xfrm>
          <a:prstGeom prst="rect">
            <a:avLst/>
          </a:prstGeom>
          <a:noFill/>
          <a:ln/>
        </p:spPr>
        <p:txBody>
          <a:bodyPr wrap="square" lIns="0" tIns="0" rIns="0" bIns="0" rtlCol="0" anchor="ctr"/>
          <a:lstStyle/>
          <a:p>
            <a:pPr marL="0" indent="0">
              <a:buNone/>
            </a:pPr>
            <a:r>
              <a:rPr lang="en-US" sz="1700" b="1" dirty="0">
                <a:solidFill>
                  <a:srgbClr val="15803D"/>
                </a:solidFill>
              </a:rPr>
              <a:t>Support: cost of delay</a:t>
            </a:r>
            <a:endParaRPr lang="en-US" sz="1700" dirty="0"/>
          </a:p>
        </p:txBody>
      </p:sp>
      <p:sp>
        <p:nvSpPr>
          <p:cNvPr id="23" name="Text 20"/>
          <p:cNvSpPr txBox="1"/>
          <p:nvPr/>
        </p:nvSpPr>
        <p:spPr>
          <a:xfrm>
            <a:off x="7909560" y="4389120"/>
            <a:ext cx="3566160" cy="914400"/>
          </a:xfrm>
          <a:prstGeom prst="rect">
            <a:avLst/>
          </a:prstGeom>
          <a:noFill/>
          <a:ln/>
        </p:spPr>
        <p:txBody>
          <a:bodyPr wrap="square" lIns="0" tIns="0" rIns="0" bIns="0" rtlCol="0" anchor="t"/>
          <a:lstStyle/>
          <a:p>
            <a:pPr marL="0" indent="0">
              <a:spcAft>
                <a:spcPts val="400"/>
              </a:spcAft>
              <a:buNone/>
            </a:pPr>
            <a:r>
              <a:rPr lang="en-US" sz="1500" dirty="0">
                <a:solidFill>
                  <a:srgbClr val="1E293B"/>
                </a:solidFill>
              </a:rPr>
              <a:t>Patient-specific Gompertz tumor regrowth for each delay, with a 90% band.</a:t>
            </a:r>
            <a:endParaRPr lang="en-US" sz="1500" dirty="0"/>
          </a:p>
        </p:txBody>
      </p:sp>
      <p:sp>
        <p:nvSpPr>
          <p:cNvPr id="24" name="Text 21"/>
          <p:cNvSpPr txBox="1"/>
          <p:nvPr/>
        </p:nvSpPr>
        <p:spPr>
          <a:xfrm>
            <a:off x="548640" y="5669280"/>
            <a:ext cx="11064240" cy="548640"/>
          </a:xfrm>
          <a:prstGeom prst="rect">
            <a:avLst/>
          </a:prstGeom>
          <a:noFill/>
          <a:ln/>
        </p:spPr>
        <p:txBody>
          <a:bodyPr wrap="square" lIns="0" tIns="0" rIns="0" bIns="0" rtlCol="0" anchor="ctr"/>
          <a:lstStyle/>
          <a:p>
            <a:pPr marL="0" indent="0">
              <a:buNone/>
            </a:pPr>
            <a:r>
              <a:rPr lang="en-US" sz="1700" b="1" dirty="0">
                <a:solidFill>
                  <a:srgbClr val="0B2545"/>
                </a:solidFill>
              </a:rPr>
              <a:t>The oncologist sees the safety-versus-tumor-control trade-off and decides.</a:t>
            </a:r>
            <a:endParaRPr lang="en-US" sz="17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deck/arch-1.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Data: synthetic, and built so labels never come from wearables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035040" cy="3968496"/>
        </p:xfrm>
        <a:graphic>
          <a:graphicData uri="http://schemas.openxmlformats.org/drawingml/2006/table">
            <a:tbl>
              <a:tblPr/>
              <a:tblGrid>
                <a:gridCol w="17373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FFFF"/>
                          </a:solidFill>
                        </a:rPr>
                        <a:t>File</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Rows</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Role</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1E293B"/>
                          </a:solidFill>
                        </a:rPr>
                        <a:t>patient_profiles</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150</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Static demographics, stage, baseline biology</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1E293B"/>
                          </a:solidFill>
                        </a:rPr>
                        <a:t>clinical_logs</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13,500</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Daily ANC, WBC, 600 doses, tumor volume</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1E293B"/>
                          </a:solidFill>
                        </a:rPr>
                        <a:t>wearable_streams</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13,500</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Daily RHR, HRV, steps, sleep (90 days/patient)</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1E293B"/>
                          </a:solidFill>
                        </a:rPr>
                        <a:t>timing_eval</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1,200</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Counterfactual outcomes (+0/+3/+7/+14 d)</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b="1" dirty="0">
                          <a:solidFill>
                            <a:srgbClr val="1E293B"/>
                          </a:solidFill>
                        </a:rPr>
                        <a:t>processed_dataset</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1,500</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Engineered training samples</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00" b="1" dirty="0">
                          <a:solidFill>
                            <a:srgbClr val="1E293B"/>
                          </a:solidFill>
                        </a:rPr>
                        <a:t>timing_features</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1,200</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rPr>
                        <a:t>Candidate-delay feature matrix at day D</a:t>
                      </a:r>
                      <a:endParaRPr lang="en-US" sz="12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1"/>
          <p:cNvSpPr/>
          <p:nvPr/>
        </p:nvSpPr>
        <p:spPr>
          <a:xfrm>
            <a:off x="6858000" y="1463040"/>
            <a:ext cx="4754880" cy="4480560"/>
          </a:xfrm>
          <a:prstGeom prst="roundRect">
            <a:avLst>
              <a:gd name="adj" fmla="val 1633"/>
            </a:avLst>
          </a:prstGeom>
          <a:solidFill>
            <a:srgbClr val="FFFFFF"/>
          </a:solidFill>
          <a:ln w="19050">
            <a:solidFill>
              <a:srgbClr val="0E7C86"/>
            </a:solidFill>
            <a:prstDash val="solid"/>
          </a:ln>
        </p:spPr>
      </p:sp>
      <p:sp>
        <p:nvSpPr>
          <p:cNvPr id="6" name="Shape 2"/>
          <p:cNvSpPr/>
          <p:nvPr/>
        </p:nvSpPr>
        <p:spPr>
          <a:xfrm>
            <a:off x="6858000" y="1536192"/>
            <a:ext cx="82296" cy="4334256"/>
          </a:xfrm>
          <a:prstGeom prst="rect">
            <a:avLst/>
          </a:prstGeom>
          <a:solidFill>
            <a:srgbClr val="0E7C86"/>
          </a:solidFill>
          <a:ln w="12700">
            <a:solidFill>
              <a:srgbClr val="0E7C86"/>
            </a:solidFill>
            <a:prstDash val="solid"/>
          </a:ln>
        </p:spPr>
      </p:sp>
      <p:sp>
        <p:nvSpPr>
          <p:cNvPr id="3" name="Text 3"/>
          <p:cNvSpPr txBox="1"/>
          <p:nvPr/>
        </p:nvSpPr>
        <p:spPr>
          <a:xfrm>
            <a:off x="7086600" y="1554480"/>
            <a:ext cx="4389120" cy="411480"/>
          </a:xfrm>
          <a:prstGeom prst="rect">
            <a:avLst/>
          </a:prstGeom>
          <a:noFill/>
          <a:ln/>
        </p:spPr>
        <p:txBody>
          <a:bodyPr wrap="square" lIns="0" tIns="0" rIns="0" bIns="0" rtlCol="0" anchor="ctr"/>
          <a:lstStyle/>
          <a:p>
            <a:pPr marL="0" indent="0">
              <a:buNone/>
            </a:pPr>
            <a:r>
              <a:rPr lang="en-US" sz="1600" b="1" dirty="0">
                <a:solidFill>
                  <a:srgbClr val="0E7C86"/>
                </a:solidFill>
              </a:rPr>
              <a:t>How the generator is built</a:t>
            </a:r>
            <a:endParaRPr lang="en-US" sz="1600" dirty="0"/>
          </a:p>
        </p:txBody>
      </p:sp>
      <p:sp>
        <p:nvSpPr>
          <p:cNvPr id="8" name="Text 4"/>
          <p:cNvSpPr txBox="1"/>
          <p:nvPr/>
        </p:nvSpPr>
        <p:spPr>
          <a:xfrm>
            <a:off x="7086600" y="2011680"/>
            <a:ext cx="4389120" cy="3840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rPr>
              <a:t>Hidden 5-compartment Friberg marrow model per patient (nadir about day 10-14)</a:t>
            </a:r>
            <a:endParaRPr lang="en-US" sz="1400" dirty="0"/>
          </a:p>
          <a:p>
            <a:pPr marL="342900" indent="-342900">
              <a:spcAft>
                <a:spcPts val="400"/>
              </a:spcAft>
              <a:buSzPct val="100000"/>
              <a:buChar char="•"/>
            </a:pPr>
            <a:r>
              <a:rPr lang="en-US" sz="1400" dirty="0">
                <a:solidFill>
                  <a:srgbClr val="1E293B"/>
                </a:solidFill>
              </a:rPr>
              <a:t>Label: hidden ANC below 1.0, never computed from wearables</a:t>
            </a:r>
            <a:endParaRPr lang="en-US" sz="1400" dirty="0"/>
          </a:p>
          <a:p>
            <a:pPr marL="342900" indent="-342900">
              <a:spcAft>
                <a:spcPts val="400"/>
              </a:spcAft>
              <a:buSzPct val="100000"/>
              <a:buChar char="•"/>
            </a:pPr>
            <a:r>
              <a:rPr lang="en-US" sz="1400" dirty="0">
                <a:solidFill>
                  <a:srgbClr val="1E293B"/>
                </a:solidFill>
              </a:rPr>
              <a:t>Wearables respond to upstream marrow depletion, noisy and lagged; strength set by coupling κ</a:t>
            </a:r>
            <a:endParaRPr lang="en-US" sz="1400" dirty="0"/>
          </a:p>
          <a:p>
            <a:pPr marL="342900" indent="-342900">
              <a:spcAft>
                <a:spcPts val="400"/>
              </a:spcAft>
              <a:buSzPct val="100000"/>
              <a:buChar char="•"/>
            </a:pPr>
            <a:r>
              <a:rPr lang="en-US" sz="1400" dirty="0">
                <a:solidFill>
                  <a:srgbClr val="1E293B"/>
                </a:solidFill>
              </a:rPr>
              <a:t>Sleep has independent noise</a:t>
            </a:r>
            <a:endParaRPr lang="en-US" sz="1400" dirty="0"/>
          </a:p>
          <a:p>
            <a:pPr marL="342900" indent="-342900">
              <a:spcAft>
                <a:spcPts val="400"/>
              </a:spcAft>
              <a:buSzPct val="100000"/>
              <a:buChar char="•"/>
            </a:pPr>
            <a:r>
              <a:rPr lang="en-US" sz="1400" dirty="0">
                <a:solidFill>
                  <a:srgbClr val="1E293B"/>
                </a:solidFill>
              </a:rPr>
              <a:t>Gompertz tumor with imaging noise</a:t>
            </a:r>
            <a:endParaRPr lang="en-US" sz="1400" dirty="0"/>
          </a:p>
          <a:p>
            <a:pPr marL="342900" indent="-342900">
              <a:spcAft>
                <a:spcPts val="400"/>
              </a:spcAft>
              <a:buSzPct val="100000"/>
              <a:buChar char="•"/>
            </a:pPr>
            <a:r>
              <a:rPr lang="en-US" sz="1400" dirty="0">
                <a:solidFill>
                  <a:srgbClr val="1E293B"/>
                </a:solidFill>
              </a:rPr>
              <a:t>Caveat: generator and experimental twin share one ODE family</a:t>
            </a: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Zero future lookahead: the twin never peeks past decision day D</a:t>
            </a:r>
            <a:endParaRPr lang="en-US" sz="2600" dirty="0"/>
          </a:p>
        </p:txBody>
      </p:sp>
      <p:sp>
        <p:nvSpPr>
          <p:cNvPr id="4" name="Shape 1"/>
          <p:cNvSpPr/>
          <p:nvPr/>
        </p:nvSpPr>
        <p:spPr>
          <a:xfrm>
            <a:off x="548640" y="1463040"/>
            <a:ext cx="5486400" cy="4480560"/>
          </a:xfrm>
          <a:prstGeom prst="roundRect">
            <a:avLst>
              <a:gd name="adj" fmla="val 1633"/>
            </a:avLst>
          </a:prstGeom>
          <a:solidFill>
            <a:srgbClr val="FFFFFF"/>
          </a:solidFill>
          <a:ln w="19050">
            <a:solidFill>
              <a:srgbClr val="B91C1C"/>
            </a:solidFill>
            <a:prstDash val="solid"/>
          </a:ln>
        </p:spPr>
      </p:sp>
      <p:sp>
        <p:nvSpPr>
          <p:cNvPr id="5" name="Shape 2"/>
          <p:cNvSpPr/>
          <p:nvPr/>
        </p:nvSpPr>
        <p:spPr>
          <a:xfrm>
            <a:off x="548640" y="1536192"/>
            <a:ext cx="82296" cy="4334256"/>
          </a:xfrm>
          <a:prstGeom prst="rect">
            <a:avLst/>
          </a:prstGeom>
          <a:solidFill>
            <a:srgbClr val="B91C1C"/>
          </a:solidFill>
          <a:ln w="12700">
            <a:solidFill>
              <a:srgbClr val="B91C1C"/>
            </a:solidFill>
            <a:prstDash val="solid"/>
          </a:ln>
        </p:spPr>
      </p:sp>
      <p:sp>
        <p:nvSpPr>
          <p:cNvPr id="6" name="Text 3"/>
          <p:cNvSpPr txBox="1"/>
          <p:nvPr/>
        </p:nvSpPr>
        <p:spPr>
          <a:xfrm>
            <a:off x="777240" y="1554480"/>
            <a:ext cx="5120640" cy="411480"/>
          </a:xfrm>
          <a:prstGeom prst="rect">
            <a:avLst/>
          </a:prstGeom>
          <a:noFill/>
          <a:ln/>
        </p:spPr>
        <p:txBody>
          <a:bodyPr wrap="square" lIns="0" tIns="0" rIns="0" bIns="0" rtlCol="0" anchor="ctr"/>
          <a:lstStyle/>
          <a:p>
            <a:pPr marL="0" indent="0">
              <a:buNone/>
            </a:pPr>
            <a:r>
              <a:rPr lang="en-US" sz="1800" b="1" dirty="0">
                <a:solidFill>
                  <a:srgbClr val="B91C1C"/>
                </a:solidFill>
              </a:rPr>
              <a:t>The rule</a:t>
            </a:r>
            <a:endParaRPr lang="en-US" sz="1800" dirty="0"/>
          </a:p>
        </p:txBody>
      </p:sp>
      <p:sp>
        <p:nvSpPr>
          <p:cNvPr id="7" name="Text 4"/>
          <p:cNvSpPr txBox="1"/>
          <p:nvPr/>
        </p:nvSpPr>
        <p:spPr>
          <a:xfrm>
            <a:off x="777240" y="2011680"/>
            <a:ext cx="5120640" cy="38404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1E293B"/>
                </a:solidFill>
              </a:rPr>
              <a:t>Labs and wearables use only data up to day D</a:t>
            </a:r>
            <a:endParaRPr lang="en-US" sz="1600" dirty="0"/>
          </a:p>
          <a:p>
            <a:pPr marL="342900" indent="-342900">
              <a:spcAft>
                <a:spcPts val="400"/>
              </a:spcAft>
              <a:buSzPct val="100000"/>
              <a:buChar char="•"/>
            </a:pPr>
            <a:r>
              <a:rPr lang="en-US" sz="1600" dirty="0">
                <a:solidFill>
                  <a:srgbClr val="1E293B"/>
                </a:solidFill>
              </a:rPr>
              <a:t>A delay enters only as known scheduling variables</a:t>
            </a:r>
            <a:endParaRPr lang="en-US" sz="1600" dirty="0"/>
          </a:p>
          <a:p>
            <a:pPr marL="342900" indent="-342900">
              <a:spcAft>
                <a:spcPts val="400"/>
              </a:spcAft>
              <a:buSzPct val="100000"/>
              <a:buChar char="•"/>
            </a:pPr>
            <a:r>
              <a:rPr lang="en-US" sz="1600" dirty="0">
                <a:solidFill>
                  <a:srgbClr val="1E293B"/>
                </a:solidFill>
              </a:rPr>
              <a:t>Label window: the 21 days after a dose, or until the next dose</a:t>
            </a:r>
            <a:endParaRPr lang="en-US" sz="1600" dirty="0"/>
          </a:p>
          <a:p>
            <a:pPr marL="342900" indent="-342900">
              <a:spcAft>
                <a:spcPts val="400"/>
              </a:spcAft>
              <a:buSzPct val="100000"/>
              <a:buChar char="•"/>
            </a:pPr>
            <a:r>
              <a:rPr lang="en-US" sz="1600" dirty="0">
                <a:solidFill>
                  <a:srgbClr val="1E293B"/>
                </a:solidFill>
              </a:rPr>
              <a:t>Evaluation is grouped by patient, so no patient is in both train and test</a:t>
            </a:r>
            <a:endParaRPr lang="en-US" sz="1600" dirty="0"/>
          </a:p>
          <a:p>
            <a:pPr marL="342900" indent="-342900">
              <a:spcAft>
                <a:spcPts val="400"/>
              </a:spcAft>
              <a:buSzPct val="100000"/>
              <a:buChar char="•"/>
            </a:pPr>
            <a:r>
              <a:rPr lang="en-US" sz="1600" dirty="0">
                <a:solidFill>
                  <a:srgbClr val="1E293B"/>
                </a:solidFill>
              </a:rPr>
              <a:t>The twin re-scores every morning as new data arrives</a:t>
            </a:r>
            <a:endParaRPr lang="en-US" sz="1600" dirty="0"/>
          </a:p>
        </p:txBody>
      </p:sp>
      <p:sp>
        <p:nvSpPr>
          <p:cNvPr id="8" name="Shape 5"/>
          <p:cNvSpPr/>
          <p:nvPr/>
        </p:nvSpPr>
        <p:spPr>
          <a:xfrm>
            <a:off x="6309360" y="1463040"/>
            <a:ext cx="5303520" cy="4480560"/>
          </a:xfrm>
          <a:prstGeom prst="roundRect">
            <a:avLst>
              <a:gd name="adj" fmla="val 2041"/>
            </a:avLst>
          </a:prstGeom>
          <a:solidFill>
            <a:srgbClr val="0B2545"/>
          </a:solidFill>
          <a:ln w="12700">
            <a:solidFill>
              <a:srgbClr val="0B2545"/>
            </a:solidFill>
            <a:prstDash val="solid"/>
          </a:ln>
        </p:spPr>
      </p:sp>
      <p:sp>
        <p:nvSpPr>
          <p:cNvPr id="9" name="Text 6"/>
          <p:cNvSpPr txBox="1"/>
          <p:nvPr/>
        </p:nvSpPr>
        <p:spPr>
          <a:xfrm>
            <a:off x="6583680" y="1645920"/>
            <a:ext cx="4754880" cy="457200"/>
          </a:xfrm>
          <a:prstGeom prst="rect">
            <a:avLst/>
          </a:prstGeom>
          <a:noFill/>
          <a:ln/>
        </p:spPr>
        <p:txBody>
          <a:bodyPr wrap="square" lIns="0" tIns="0" rIns="0" bIns="0" rtlCol="0" anchor="ctr"/>
          <a:lstStyle/>
          <a:p>
            <a:pPr marL="0" indent="0">
              <a:buNone/>
            </a:pPr>
            <a:r>
              <a:rPr lang="en-US" sz="2000" b="1" dirty="0">
                <a:solidFill>
                  <a:srgbClr val="5EEAD4"/>
                </a:solidFill>
              </a:rPr>
              <a:t>The invariance test</a:t>
            </a:r>
            <a:endParaRPr lang="en-US" sz="2000" dirty="0"/>
          </a:p>
        </p:txBody>
      </p:sp>
      <p:sp>
        <p:nvSpPr>
          <p:cNvPr id="10" name="Text 7"/>
          <p:cNvSpPr txBox="1"/>
          <p:nvPr/>
        </p:nvSpPr>
        <p:spPr>
          <a:xfrm>
            <a:off x="6583680" y="2194560"/>
            <a:ext cx="4754880" cy="548640"/>
          </a:xfrm>
          <a:prstGeom prst="rect">
            <a:avLst/>
          </a:prstGeom>
          <a:noFill/>
          <a:ln/>
        </p:spPr>
        <p:txBody>
          <a:bodyPr wrap="square" lIns="0" tIns="0" rIns="0" bIns="0" rtlCol="0" anchor="ctr"/>
          <a:lstStyle/>
          <a:p>
            <a:pPr marL="0" indent="0">
              <a:buNone/>
            </a:pPr>
            <a:r>
              <a:rPr lang="en-US" sz="1500" dirty="0">
                <a:solidFill>
                  <a:srgbClr val="FFFFFF"/>
                </a:solidFill>
              </a:rPr>
              <a:t>Overwrite every value after D with extremes:</a:t>
            </a:r>
            <a:endParaRPr lang="en-US" sz="1500" dirty="0"/>
          </a:p>
        </p:txBody>
      </p:sp>
      <p:sp>
        <p:nvSpPr>
          <p:cNvPr id="11" name="Text 8"/>
          <p:cNvSpPr txBox="1"/>
          <p:nvPr/>
        </p:nvSpPr>
        <p:spPr>
          <a:xfrm>
            <a:off x="6583680" y="2926080"/>
            <a:ext cx="4754880" cy="548640"/>
          </a:xfrm>
          <a:prstGeom prst="rect">
            <a:avLst/>
          </a:prstGeom>
          <a:noFill/>
          <a:ln/>
        </p:spPr>
        <p:txBody>
          <a:bodyPr wrap="square" lIns="0" tIns="0" rIns="0" bIns="0" rtlCol="0" anchor="ctr"/>
          <a:lstStyle/>
          <a:p>
            <a:pPr marL="0" indent="0">
              <a:buNone/>
            </a:pPr>
            <a:r>
              <a:rPr lang="en-US" sz="1700" b="1" dirty="0">
                <a:solidFill>
                  <a:srgbClr val="FBBF24"/>
                </a:solidFill>
                <a:latin typeface="Courier New" pitchFamily="34" charset="0"/>
                <a:ea typeface="Courier New" pitchFamily="34" charset="-122"/>
                <a:cs typeface="Courier New" pitchFamily="34" charset="-120"/>
              </a:rPr>
              <a:t>ANC = 0.05   RHR = 180   HRV = 5</a:t>
            </a:r>
            <a:endParaRPr lang="en-US" sz="1700" dirty="0"/>
          </a:p>
        </p:txBody>
      </p:sp>
      <p:sp>
        <p:nvSpPr>
          <p:cNvPr id="12" name="Text 9"/>
          <p:cNvSpPr txBox="1"/>
          <p:nvPr/>
        </p:nvSpPr>
        <p:spPr>
          <a:xfrm>
            <a:off x="6583680" y="3749040"/>
            <a:ext cx="4754880" cy="914400"/>
          </a:xfrm>
          <a:prstGeom prst="rect">
            <a:avLst/>
          </a:prstGeom>
          <a:noFill/>
          <a:ln/>
        </p:spPr>
        <p:txBody>
          <a:bodyPr wrap="square" lIns="0" tIns="0" rIns="0" bIns="0" rtlCol="0" anchor="ctr"/>
          <a:lstStyle/>
          <a:p>
            <a:pPr marL="0" indent="0">
              <a:buNone/>
            </a:pPr>
            <a:r>
              <a:rPr lang="en-US" sz="1500" dirty="0">
                <a:solidFill>
                  <a:srgbClr val="FFFFFF"/>
                </a:solidFill>
              </a:rPr>
              <a:t>Predictions for every candidate delay stay identical (tolerance 1e-7).</a:t>
            </a:r>
            <a:endParaRPr lang="en-US" sz="1500" dirty="0"/>
          </a:p>
        </p:txBody>
      </p:sp>
      <p:sp>
        <p:nvSpPr>
          <p:cNvPr id="13" name="Text 10"/>
          <p:cNvSpPr txBox="1"/>
          <p:nvPr/>
        </p:nvSpPr>
        <p:spPr>
          <a:xfrm>
            <a:off x="6583680" y="5029200"/>
            <a:ext cx="4754880" cy="457200"/>
          </a:xfrm>
          <a:prstGeom prst="rect">
            <a:avLst/>
          </a:prstGeom>
          <a:noFill/>
          <a:ln/>
        </p:spPr>
        <p:txBody>
          <a:bodyPr wrap="square" lIns="0" tIns="0" rIns="0" bIns="0" rtlCol="0" anchor="ctr"/>
          <a:lstStyle/>
          <a:p>
            <a:pPr marL="0" indent="0">
              <a:buNone/>
            </a:pPr>
            <a:r>
              <a:rPr lang="en-US" sz="1200" i="1" dirty="0">
                <a:solidFill>
                  <a:srgbClr val="BFD7EA"/>
                </a:solidFill>
              </a:rPr>
              <a:t>Automated in tests/test_features_and_models.py</a:t>
            </a:r>
            <a:endParaRPr lang="en-US" sz="12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Model: do wearables add anything beyond the clinical record?</a:t>
            </a:r>
            <a:endParaRPr lang="en-US" sz="2600" dirty="0"/>
          </a:p>
        </p:txBody>
      </p:sp>
      <p:sp>
        <p:nvSpPr>
          <p:cNvPr id="4" name="Shape 1"/>
          <p:cNvSpPr/>
          <p:nvPr/>
        </p:nvSpPr>
        <p:spPr>
          <a:xfrm>
            <a:off x="548640" y="1463040"/>
            <a:ext cx="5394960" cy="2651760"/>
          </a:xfrm>
          <a:prstGeom prst="roundRect">
            <a:avLst>
              <a:gd name="adj" fmla="val 2759"/>
            </a:avLst>
          </a:prstGeom>
          <a:solidFill>
            <a:srgbClr val="FFFFFF"/>
          </a:solidFill>
          <a:ln w="19050">
            <a:solidFill>
              <a:srgbClr val="0E7C86"/>
            </a:solidFill>
            <a:prstDash val="solid"/>
          </a:ln>
        </p:spPr>
      </p:sp>
      <p:sp>
        <p:nvSpPr>
          <p:cNvPr id="5" name="Shape 2"/>
          <p:cNvSpPr/>
          <p:nvPr/>
        </p:nvSpPr>
        <p:spPr>
          <a:xfrm>
            <a:off x="548640" y="1536192"/>
            <a:ext cx="82296" cy="2505456"/>
          </a:xfrm>
          <a:prstGeom prst="rect">
            <a:avLst/>
          </a:prstGeom>
          <a:solidFill>
            <a:srgbClr val="0E7C86"/>
          </a:solidFill>
          <a:ln w="12700">
            <a:solidFill>
              <a:srgbClr val="0E7C86"/>
            </a:solidFill>
            <a:prstDash val="solid"/>
          </a:ln>
        </p:spPr>
      </p:sp>
      <p:sp>
        <p:nvSpPr>
          <p:cNvPr id="6" name="Text 3"/>
          <p:cNvSpPr txBox="1"/>
          <p:nvPr/>
        </p:nvSpPr>
        <p:spPr>
          <a:xfrm>
            <a:off x="777240" y="1554480"/>
            <a:ext cx="5029200" cy="411480"/>
          </a:xfrm>
          <a:prstGeom prst="rect">
            <a:avLst/>
          </a:prstGeom>
          <a:noFill/>
          <a:ln/>
        </p:spPr>
        <p:txBody>
          <a:bodyPr wrap="square" lIns="0" tIns="0" rIns="0" bIns="0" rtlCol="0" anchor="ctr"/>
          <a:lstStyle/>
          <a:p>
            <a:pPr marL="0" indent="0">
              <a:buNone/>
            </a:pPr>
            <a:r>
              <a:rPr lang="en-US" sz="1700" b="1" dirty="0">
                <a:solidFill>
                  <a:srgbClr val="0E7C86"/>
                </a:solidFill>
              </a:rPr>
              <a:t>Ablation A: clinical only (8)</a:t>
            </a:r>
            <a:endParaRPr lang="en-US" sz="1700" dirty="0"/>
          </a:p>
        </p:txBody>
      </p:sp>
      <p:sp>
        <p:nvSpPr>
          <p:cNvPr id="7" name="Text 4"/>
          <p:cNvSpPr txBox="1"/>
          <p:nvPr/>
        </p:nvSpPr>
        <p:spPr>
          <a:xfrm>
            <a:off x="777240" y="2011680"/>
            <a:ext cx="5029200" cy="2011680"/>
          </a:xfrm>
          <a:prstGeom prst="rect">
            <a:avLst/>
          </a:prstGeom>
          <a:noFill/>
          <a:ln/>
        </p:spPr>
        <p:txBody>
          <a:bodyPr wrap="square" lIns="0" tIns="0" rIns="0" bIns="0" rtlCol="0" anchor="t"/>
          <a:lstStyle/>
          <a:p>
            <a:pPr marL="0" indent="0">
              <a:spcAft>
                <a:spcPts val="400"/>
              </a:spcAft>
              <a:buNone/>
            </a:pPr>
            <a:r>
              <a:rPr lang="en-US" sz="1500" dirty="0">
                <a:solidFill>
                  <a:srgbClr val="1E293B"/>
                </a:solidFill>
              </a:rPr>
              <a:t>age, baseline ECOG, baseline ANC, pre-dose ANC, tumor volume, delay_days, days_since_last_dose, interval bin</a:t>
            </a:r>
            <a:endParaRPr lang="en-US" sz="1500" dirty="0"/>
          </a:p>
        </p:txBody>
      </p:sp>
      <p:sp>
        <p:nvSpPr>
          <p:cNvPr id="8" name="Shape 5"/>
          <p:cNvSpPr/>
          <p:nvPr/>
        </p:nvSpPr>
        <p:spPr>
          <a:xfrm>
            <a:off x="6217920" y="1463040"/>
            <a:ext cx="5394960" cy="2651760"/>
          </a:xfrm>
          <a:prstGeom prst="roundRect">
            <a:avLst>
              <a:gd name="adj" fmla="val 2759"/>
            </a:avLst>
          </a:prstGeom>
          <a:solidFill>
            <a:srgbClr val="FFFFFF"/>
          </a:solidFill>
          <a:ln w="19050">
            <a:solidFill>
              <a:srgbClr val="2563EB"/>
            </a:solidFill>
            <a:prstDash val="solid"/>
          </a:ln>
        </p:spPr>
      </p:sp>
      <p:sp>
        <p:nvSpPr>
          <p:cNvPr id="9" name="Shape 6"/>
          <p:cNvSpPr/>
          <p:nvPr/>
        </p:nvSpPr>
        <p:spPr>
          <a:xfrm>
            <a:off x="6217920" y="1536192"/>
            <a:ext cx="82296" cy="2505456"/>
          </a:xfrm>
          <a:prstGeom prst="rect">
            <a:avLst/>
          </a:prstGeom>
          <a:solidFill>
            <a:srgbClr val="2563EB"/>
          </a:solidFill>
          <a:ln w="12700">
            <a:solidFill>
              <a:srgbClr val="2563EB"/>
            </a:solidFill>
            <a:prstDash val="solid"/>
          </a:ln>
        </p:spPr>
      </p:sp>
      <p:sp>
        <p:nvSpPr>
          <p:cNvPr id="10" name="Text 7"/>
          <p:cNvSpPr txBox="1"/>
          <p:nvPr/>
        </p:nvSpPr>
        <p:spPr>
          <a:xfrm>
            <a:off x="6446520" y="1554480"/>
            <a:ext cx="5029200" cy="411480"/>
          </a:xfrm>
          <a:prstGeom prst="rect">
            <a:avLst/>
          </a:prstGeom>
          <a:noFill/>
          <a:ln/>
        </p:spPr>
        <p:txBody>
          <a:bodyPr wrap="square" lIns="0" tIns="0" rIns="0" bIns="0" rtlCol="0" anchor="ctr"/>
          <a:lstStyle/>
          <a:p>
            <a:pPr marL="0" indent="0">
              <a:buNone/>
            </a:pPr>
            <a:r>
              <a:rPr lang="en-US" sz="1700" b="1" dirty="0">
                <a:solidFill>
                  <a:srgbClr val="2563EB"/>
                </a:solidFill>
              </a:rPr>
              <a:t>Ablation B: + wearables (16)</a:t>
            </a:r>
            <a:endParaRPr lang="en-US" sz="1700" dirty="0"/>
          </a:p>
        </p:txBody>
      </p:sp>
      <p:sp>
        <p:nvSpPr>
          <p:cNvPr id="11" name="Text 8"/>
          <p:cNvSpPr txBox="1"/>
          <p:nvPr/>
        </p:nvSpPr>
        <p:spPr>
          <a:xfrm>
            <a:off x="6446520" y="2011680"/>
            <a:ext cx="5029200" cy="2011680"/>
          </a:xfrm>
          <a:prstGeom prst="rect">
            <a:avLst/>
          </a:prstGeom>
          <a:noFill/>
          <a:ln/>
        </p:spPr>
        <p:txBody>
          <a:bodyPr wrap="square" lIns="0" tIns="0" rIns="0" bIns="0" rtlCol="0" anchor="t"/>
          <a:lstStyle/>
          <a:p>
            <a:pPr marL="0" indent="0">
              <a:spcAft>
                <a:spcPts val="400"/>
              </a:spcAft>
              <a:buNone/>
            </a:pPr>
            <a:r>
              <a:rPr lang="en-US" sz="1500" dirty="0">
                <a:solidFill>
                  <a:srgbClr val="1E293B"/>
                </a:solidFill>
              </a:rPr>
              <a:t>Everything in A, plus resting HR, HRV, steps, sleep, and 7-day vs 30-day ratios for each</a:t>
            </a:r>
            <a:endParaRPr lang="en-US" sz="1500" dirty="0"/>
          </a:p>
        </p:txBody>
      </p:sp>
      <p:sp>
        <p:nvSpPr>
          <p:cNvPr id="12" name="Shape 9"/>
          <p:cNvSpPr/>
          <p:nvPr/>
        </p:nvSpPr>
        <p:spPr>
          <a:xfrm>
            <a:off x="548640" y="4343400"/>
            <a:ext cx="11064240" cy="1691640"/>
          </a:xfrm>
          <a:prstGeom prst="roundRect">
            <a:avLst>
              <a:gd name="adj" fmla="val 4324"/>
            </a:avLst>
          </a:prstGeom>
          <a:solidFill>
            <a:srgbClr val="FFFFFF"/>
          </a:solidFill>
          <a:ln w="19050">
            <a:solidFill>
              <a:srgbClr val="D97706"/>
            </a:solidFill>
            <a:prstDash val="solid"/>
          </a:ln>
        </p:spPr>
      </p:sp>
      <p:sp>
        <p:nvSpPr>
          <p:cNvPr id="13" name="Shape 10"/>
          <p:cNvSpPr/>
          <p:nvPr/>
        </p:nvSpPr>
        <p:spPr>
          <a:xfrm>
            <a:off x="548640" y="4416552"/>
            <a:ext cx="82296" cy="1545336"/>
          </a:xfrm>
          <a:prstGeom prst="rect">
            <a:avLst/>
          </a:prstGeom>
          <a:solidFill>
            <a:srgbClr val="D97706"/>
          </a:solidFill>
          <a:ln w="12700">
            <a:solidFill>
              <a:srgbClr val="D97706"/>
            </a:solidFill>
            <a:prstDash val="solid"/>
          </a:ln>
        </p:spPr>
      </p:sp>
      <p:sp>
        <p:nvSpPr>
          <p:cNvPr id="14" name="Text 11"/>
          <p:cNvSpPr txBox="1"/>
          <p:nvPr/>
        </p:nvSpPr>
        <p:spPr>
          <a:xfrm>
            <a:off x="777240" y="4434840"/>
            <a:ext cx="10698480" cy="411480"/>
          </a:xfrm>
          <a:prstGeom prst="rect">
            <a:avLst/>
          </a:prstGeom>
          <a:noFill/>
          <a:ln/>
        </p:spPr>
        <p:txBody>
          <a:bodyPr wrap="square" lIns="0" tIns="0" rIns="0" bIns="0" rtlCol="0" anchor="ctr"/>
          <a:lstStyle/>
          <a:p>
            <a:pPr marL="0" indent="0">
              <a:buNone/>
            </a:pPr>
            <a:r>
              <a:rPr lang="en-US" sz="1700" b="1" dirty="0">
                <a:solidFill>
                  <a:srgbClr val="D97706"/>
                </a:solidFill>
              </a:rPr>
              <a:t>Main model: standardized logistic regression</a:t>
            </a:r>
            <a:endParaRPr lang="en-US" sz="1700" dirty="0"/>
          </a:p>
        </p:txBody>
      </p:sp>
      <p:sp>
        <p:nvSpPr>
          <p:cNvPr id="15" name="Text 12"/>
          <p:cNvSpPr txBox="1"/>
          <p:nvPr/>
        </p:nvSpPr>
        <p:spPr>
          <a:xfrm>
            <a:off x="777240" y="4892040"/>
            <a:ext cx="10698480" cy="1051560"/>
          </a:xfrm>
          <a:prstGeom prst="rect">
            <a:avLst/>
          </a:prstGeom>
          <a:noFill/>
          <a:ln/>
        </p:spPr>
        <p:txBody>
          <a:bodyPr wrap="square" lIns="0" tIns="0" rIns="0" bIns="0" rtlCol="0" anchor="t"/>
          <a:lstStyle/>
          <a:p>
            <a:pPr marL="0" indent="0">
              <a:spcAft>
                <a:spcPts val="400"/>
              </a:spcAft>
              <a:buNone/>
            </a:pPr>
            <a:r>
              <a:rPr lang="en-US" sz="1500" dirty="0">
                <a:solidFill>
                  <a:srgbClr val="1E293B"/>
                </a:solidFill>
              </a:rPr>
              <a:t>Benchmarked against random forest and gradient boosting. Patient-grouped splits and repeated 5×5 cross-validation, run on 5 independent data seeds. The threshold is tuned inside validation folds, not left at 0.50.</a:t>
            </a:r>
            <a:endParaRPr lang="en-US" sz="15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Results: a useful risk flag, with a modest and assumption-dependent wearable gain</a:t>
            </a:r>
            <a:endParaRPr lang="en-US" sz="2600" dirty="0"/>
          </a:p>
        </p:txBody>
      </p:sp>
      <p:graphicFrame>
        <p:nvGraphicFramePr>
          <p:cNvPr id="4" name="Chart 0"/>
          <p:cNvGraphicFramePr/>
          <p:nvPr/>
        </p:nvGraphicFramePr>
        <p:xfrm>
          <a:off x="548640" y="1371600"/>
          <a:ext cx="6675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7589520" y="1371600"/>
            <a:ext cx="4023360" cy="1097280"/>
          </a:xfrm>
          <a:prstGeom prst="roundRect">
            <a:avLst>
              <a:gd name="adj" fmla="val 6667"/>
            </a:avLst>
          </a:prstGeom>
          <a:solidFill>
            <a:srgbClr val="F1F5F9"/>
          </a:solidFill>
          <a:ln w="12700">
            <a:solidFill>
              <a:srgbClr val="F1F5F9"/>
            </a:solidFill>
            <a:prstDash val="solid"/>
          </a:ln>
        </p:spPr>
      </p:sp>
      <p:sp>
        <p:nvSpPr>
          <p:cNvPr id="6" name="Text 2"/>
          <p:cNvSpPr txBox="1"/>
          <p:nvPr/>
        </p:nvSpPr>
        <p:spPr>
          <a:xfrm>
            <a:off x="7589520" y="1463040"/>
            <a:ext cx="4023360" cy="548640"/>
          </a:xfrm>
          <a:prstGeom prst="rect">
            <a:avLst/>
          </a:prstGeom>
          <a:noFill/>
          <a:ln/>
        </p:spPr>
        <p:txBody>
          <a:bodyPr wrap="square" lIns="0" tIns="0" rIns="0" bIns="0" rtlCol="0" anchor="ctr"/>
          <a:lstStyle/>
          <a:p>
            <a:pPr marL="0" indent="0" algn="ctr">
              <a:buNone/>
            </a:pPr>
            <a:r>
              <a:rPr lang="en-US" sz="3000" b="1" dirty="0">
                <a:solidFill>
                  <a:srgbClr val="0E7C86"/>
                </a:solidFill>
              </a:rPr>
              <a:t>0.891</a:t>
            </a:r>
            <a:endParaRPr lang="en-US" sz="3000" dirty="0"/>
          </a:p>
        </p:txBody>
      </p:sp>
      <p:sp>
        <p:nvSpPr>
          <p:cNvPr id="7" name="Text 3"/>
          <p:cNvSpPr txBox="1"/>
          <p:nvPr/>
        </p:nvSpPr>
        <p:spPr>
          <a:xfrm>
            <a:off x="7680960" y="2008022"/>
            <a:ext cx="3840480" cy="416966"/>
          </a:xfrm>
          <a:prstGeom prst="rect">
            <a:avLst/>
          </a:prstGeom>
          <a:noFill/>
          <a:ln/>
        </p:spPr>
        <p:txBody>
          <a:bodyPr wrap="square" lIns="0" tIns="0" rIns="0" bIns="0" rtlCol="0" anchor="t"/>
          <a:lstStyle/>
          <a:p>
            <a:pPr marL="0" indent="0" algn="ctr">
              <a:buNone/>
            </a:pPr>
            <a:r>
              <a:rPr lang="en-US" sz="1200" dirty="0">
                <a:solidFill>
                  <a:srgbClr val="475569"/>
                </a:solidFill>
              </a:rPr>
              <a:t>holdout AUROC, 5-seed mean (0.774 to 0.953)</a:t>
            </a:r>
            <a:endParaRPr lang="en-US" sz="1200" dirty="0"/>
          </a:p>
        </p:txBody>
      </p:sp>
      <p:sp>
        <p:nvSpPr>
          <p:cNvPr id="8" name="Shape 4"/>
          <p:cNvSpPr/>
          <p:nvPr/>
        </p:nvSpPr>
        <p:spPr>
          <a:xfrm>
            <a:off x="7589520" y="2606040"/>
            <a:ext cx="4023360" cy="1097280"/>
          </a:xfrm>
          <a:prstGeom prst="roundRect">
            <a:avLst>
              <a:gd name="adj" fmla="val 6667"/>
            </a:avLst>
          </a:prstGeom>
          <a:solidFill>
            <a:srgbClr val="F1F5F9"/>
          </a:solidFill>
          <a:ln w="12700">
            <a:solidFill>
              <a:srgbClr val="F1F5F9"/>
            </a:solidFill>
            <a:prstDash val="solid"/>
          </a:ln>
        </p:spPr>
      </p:sp>
      <p:sp>
        <p:nvSpPr>
          <p:cNvPr id="9" name="Text 5"/>
          <p:cNvSpPr txBox="1"/>
          <p:nvPr/>
        </p:nvSpPr>
        <p:spPr>
          <a:xfrm>
            <a:off x="7589520" y="2697480"/>
            <a:ext cx="4023360" cy="548640"/>
          </a:xfrm>
          <a:prstGeom prst="rect">
            <a:avLst/>
          </a:prstGeom>
          <a:noFill/>
          <a:ln/>
        </p:spPr>
        <p:txBody>
          <a:bodyPr wrap="square" lIns="0" tIns="0" rIns="0" bIns="0" rtlCol="0" anchor="ctr"/>
          <a:lstStyle/>
          <a:p>
            <a:pPr marL="0" indent="0" algn="ctr">
              <a:buNone/>
            </a:pPr>
            <a:r>
              <a:rPr lang="en-US" sz="3000" b="1" dirty="0">
                <a:solidFill>
                  <a:srgbClr val="2563EB"/>
                </a:solidFill>
              </a:rPr>
              <a:t>+0.010</a:t>
            </a:r>
            <a:endParaRPr lang="en-US" sz="3000" dirty="0"/>
          </a:p>
        </p:txBody>
      </p:sp>
      <p:sp>
        <p:nvSpPr>
          <p:cNvPr id="10" name="Text 6"/>
          <p:cNvSpPr txBox="1"/>
          <p:nvPr/>
        </p:nvSpPr>
        <p:spPr>
          <a:xfrm>
            <a:off x="7680960" y="3242462"/>
            <a:ext cx="3840480" cy="416966"/>
          </a:xfrm>
          <a:prstGeom prst="rect">
            <a:avLst/>
          </a:prstGeom>
          <a:noFill/>
          <a:ln/>
        </p:spPr>
        <p:txBody>
          <a:bodyPr wrap="square" lIns="0" tIns="0" rIns="0" bIns="0" rtlCol="0" anchor="t"/>
          <a:lstStyle/>
          <a:p>
            <a:pPr marL="0" indent="0" algn="ctr">
              <a:buNone/>
            </a:pPr>
            <a:r>
              <a:rPr lang="en-US" sz="1200" dirty="0">
                <a:solidFill>
                  <a:srgbClr val="475569"/>
                </a:solidFill>
              </a:rPr>
              <a:t>wearable gain, 5-seed mean (-0.009 to +0.021)</a:t>
            </a:r>
            <a:endParaRPr lang="en-US" sz="1200" dirty="0"/>
          </a:p>
        </p:txBody>
      </p:sp>
      <p:sp>
        <p:nvSpPr>
          <p:cNvPr id="11" name="Shape 7"/>
          <p:cNvSpPr/>
          <p:nvPr/>
        </p:nvSpPr>
        <p:spPr>
          <a:xfrm>
            <a:off x="7589520" y="3840480"/>
            <a:ext cx="4023360" cy="1097280"/>
          </a:xfrm>
          <a:prstGeom prst="roundRect">
            <a:avLst>
              <a:gd name="adj" fmla="val 6667"/>
            </a:avLst>
          </a:prstGeom>
          <a:solidFill>
            <a:srgbClr val="F1F5F9"/>
          </a:solidFill>
          <a:ln w="12700">
            <a:solidFill>
              <a:srgbClr val="F1F5F9"/>
            </a:solidFill>
            <a:prstDash val="solid"/>
          </a:ln>
        </p:spPr>
      </p:sp>
      <p:sp>
        <p:nvSpPr>
          <p:cNvPr id="12" name="Text 8"/>
          <p:cNvSpPr txBox="1"/>
          <p:nvPr/>
        </p:nvSpPr>
        <p:spPr>
          <a:xfrm>
            <a:off x="7589520" y="3931920"/>
            <a:ext cx="4023360" cy="548640"/>
          </a:xfrm>
          <a:prstGeom prst="rect">
            <a:avLst/>
          </a:prstGeom>
          <a:noFill/>
          <a:ln/>
        </p:spPr>
        <p:txBody>
          <a:bodyPr wrap="square" lIns="0" tIns="0" rIns="0" bIns="0" rtlCol="0" anchor="ctr"/>
          <a:lstStyle/>
          <a:p>
            <a:pPr marL="0" indent="0" algn="ctr">
              <a:buNone/>
            </a:pPr>
            <a:r>
              <a:rPr lang="en-US" sz="3000" b="1" dirty="0">
                <a:solidFill>
                  <a:srgbClr val="D97706"/>
                </a:solidFill>
              </a:rPr>
              <a:t>90.9% / 42.7%</a:t>
            </a:r>
            <a:endParaRPr lang="en-US" sz="3000" dirty="0"/>
          </a:p>
        </p:txBody>
      </p:sp>
      <p:sp>
        <p:nvSpPr>
          <p:cNvPr id="13" name="Text 9"/>
          <p:cNvSpPr txBox="1"/>
          <p:nvPr/>
        </p:nvSpPr>
        <p:spPr>
          <a:xfrm>
            <a:off x="7680960" y="4476902"/>
            <a:ext cx="3840480" cy="416966"/>
          </a:xfrm>
          <a:prstGeom prst="rect">
            <a:avLst/>
          </a:prstGeom>
          <a:noFill/>
          <a:ln/>
        </p:spPr>
        <p:txBody>
          <a:bodyPr wrap="square" lIns="0" tIns="0" rIns="0" bIns="0" rtlCol="0" anchor="t"/>
          <a:lstStyle/>
          <a:p>
            <a:pPr marL="0" indent="0" algn="ctr">
              <a:buNone/>
            </a:pPr>
            <a:r>
              <a:rPr lang="en-US" sz="1200" dirty="0">
                <a:solidFill>
                  <a:srgbClr val="475569"/>
                </a:solidFill>
              </a:rPr>
              <a:t>recall / precision: about 6 in 10 alerts are false alarms</a:t>
            </a:r>
            <a:endParaRPr lang="en-US" sz="1200" dirty="0"/>
          </a:p>
        </p:txBody>
      </p:sp>
      <p:sp>
        <p:nvSpPr>
          <p:cNvPr id="14" name="Text 10"/>
          <p:cNvSpPr txBox="1"/>
          <p:nvPr/>
        </p:nvSpPr>
        <p:spPr>
          <a:xfrm>
            <a:off x="548640" y="5897880"/>
            <a:ext cx="11064240" cy="548640"/>
          </a:xfrm>
          <a:prstGeom prst="rect">
            <a:avLst/>
          </a:prstGeom>
          <a:noFill/>
          <a:ln/>
        </p:spPr>
        <p:txBody>
          <a:bodyPr wrap="square" lIns="0" tIns="0" rIns="0" bIns="0" rtlCol="0" anchor="ctr"/>
          <a:lstStyle/>
          <a:p>
            <a:pPr marL="0" indent="0">
              <a:buNone/>
            </a:pPr>
            <a:r>
              <a:rPr lang="en-US" sz="1200" i="1" dirty="0">
                <a:solidFill>
                  <a:srgbClr val="475569"/>
                </a:solidFill>
              </a:rPr>
              <a:t>Seed 42 is the hardest split: holdout AUROC 0.774, precision 26%. Trees lose accuracy with wearables, so logistic regression is the main model.</a:t>
            </a:r>
            <a:endParaRPr lang="en-US" sz="12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Stress test: how much of the wearable gain depends on our assumption?</a:t>
            </a:r>
            <a:endParaRPr lang="en-US" sz="2600" dirty="0"/>
          </a:p>
        </p:txBody>
      </p:sp>
      <p:sp>
        <p:nvSpPr>
          <p:cNvPr id="4" name="Shape 1"/>
          <p:cNvSpPr/>
          <p:nvPr/>
        </p:nvSpPr>
        <p:spPr>
          <a:xfrm>
            <a:off x="548640" y="1463040"/>
            <a:ext cx="4754880" cy="4480560"/>
          </a:xfrm>
          <a:prstGeom prst="roundRect">
            <a:avLst>
              <a:gd name="adj" fmla="val 1633"/>
            </a:avLst>
          </a:prstGeom>
          <a:solidFill>
            <a:srgbClr val="FFFFFF"/>
          </a:solidFill>
          <a:ln w="19050">
            <a:solidFill>
              <a:srgbClr val="6D28D9"/>
            </a:solidFill>
            <a:prstDash val="solid"/>
          </a:ln>
        </p:spPr>
      </p:sp>
      <p:sp>
        <p:nvSpPr>
          <p:cNvPr id="5" name="Shape 2"/>
          <p:cNvSpPr/>
          <p:nvPr/>
        </p:nvSpPr>
        <p:spPr>
          <a:xfrm>
            <a:off x="548640" y="1536192"/>
            <a:ext cx="82296" cy="4334256"/>
          </a:xfrm>
          <a:prstGeom prst="rect">
            <a:avLst/>
          </a:prstGeom>
          <a:solidFill>
            <a:srgbClr val="6D28D9"/>
          </a:solidFill>
          <a:ln w="12700">
            <a:solidFill>
              <a:srgbClr val="6D28D9"/>
            </a:solidFill>
            <a:prstDash val="solid"/>
          </a:ln>
        </p:spPr>
      </p:sp>
      <p:sp>
        <p:nvSpPr>
          <p:cNvPr id="6" name="Text 3"/>
          <p:cNvSpPr txBox="1"/>
          <p:nvPr/>
        </p:nvSpPr>
        <p:spPr>
          <a:xfrm>
            <a:off x="777240" y="1554480"/>
            <a:ext cx="4389120" cy="411480"/>
          </a:xfrm>
          <a:prstGeom prst="rect">
            <a:avLst/>
          </a:prstGeom>
          <a:noFill/>
          <a:ln/>
        </p:spPr>
        <p:txBody>
          <a:bodyPr wrap="square" lIns="0" tIns="0" rIns="0" bIns="0" rtlCol="0" anchor="ctr"/>
          <a:lstStyle/>
          <a:p>
            <a:pPr marL="0" indent="0">
              <a:buNone/>
            </a:pPr>
            <a:r>
              <a:rPr lang="en-US" sz="1700" b="1" dirty="0">
                <a:solidFill>
                  <a:srgbClr val="6D28D9"/>
                </a:solidFill>
              </a:rPr>
              <a:t>What we tested</a:t>
            </a:r>
            <a:endParaRPr lang="en-US" sz="1700" dirty="0"/>
          </a:p>
        </p:txBody>
      </p:sp>
      <p:sp>
        <p:nvSpPr>
          <p:cNvPr id="7" name="Text 4"/>
          <p:cNvSpPr txBox="1"/>
          <p:nvPr/>
        </p:nvSpPr>
        <p:spPr>
          <a:xfrm>
            <a:off x="777240" y="2011680"/>
            <a:ext cx="4389120" cy="3840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E293B"/>
                </a:solidFill>
              </a:rPr>
              <a:t>Wearable signals are generated from the hidden marrow state</a:t>
            </a:r>
            <a:endParaRPr lang="en-US" sz="1500" dirty="0"/>
          </a:p>
          <a:p>
            <a:pPr marL="342900" indent="-342900">
              <a:spcAft>
                <a:spcPts val="400"/>
              </a:spcAft>
              <a:buSzPct val="100000"/>
              <a:buChar char="•"/>
            </a:pPr>
            <a:r>
              <a:rPr lang="en-US" sz="1500" dirty="0">
                <a:solidFill>
                  <a:srgbClr val="1E293B"/>
                </a:solidFill>
              </a:rPr>
              <a:t>Coupling κ is varied from 0 to 1 across 5 seeds</a:t>
            </a:r>
            <a:endParaRPr lang="en-US" sz="1500" dirty="0"/>
          </a:p>
          <a:p>
            <a:pPr marL="342900" indent="-342900">
              <a:spcAft>
                <a:spcPts val="400"/>
              </a:spcAft>
              <a:buSzPct val="100000"/>
              <a:buChar char="•"/>
            </a:pPr>
            <a:r>
              <a:rPr lang="en-US" sz="1500" dirty="0">
                <a:solidFill>
                  <a:srgbClr val="1E293B"/>
                </a:solidFill>
              </a:rPr>
              <a:t>At κ = 0 there is no real signal, so the gain is about zero</a:t>
            </a:r>
            <a:endParaRPr lang="en-US" sz="1500" dirty="0"/>
          </a:p>
          <a:p>
            <a:pPr marL="342900" indent="-342900">
              <a:spcAft>
                <a:spcPts val="400"/>
              </a:spcAft>
              <a:buSzPct val="100000"/>
              <a:buChar char="•"/>
            </a:pPr>
            <a:r>
              <a:rPr lang="en-US" sz="1500" dirty="0">
                <a:solidFill>
                  <a:srgbClr val="1E293B"/>
                </a:solidFill>
              </a:rPr>
              <a:t>At κ = 1 the mean gain is +0.010 AUROC</a:t>
            </a:r>
            <a:endParaRPr lang="en-US" sz="1500" dirty="0"/>
          </a:p>
          <a:p>
            <a:pPr marL="342900" indent="-342900">
              <a:spcAft>
                <a:spcPts val="400"/>
              </a:spcAft>
              <a:buSzPct val="100000"/>
              <a:buChar char="•"/>
            </a:pPr>
            <a:r>
              <a:rPr lang="en-US" sz="1500" dirty="0">
                <a:solidFill>
                  <a:srgbClr val="1E293B"/>
                </a:solidFill>
              </a:rPr>
              <a:t>Takeaway: wearables help only if they truly track marrow reserve; real wearable data must test this</a:t>
            </a:r>
            <a:endParaRPr lang="en-US" sz="1500" dirty="0"/>
          </a:p>
        </p:txBody>
      </p:sp>
      <p:sp>
        <p:nvSpPr>
          <p:cNvPr id="8" name="Shape 5"/>
          <p:cNvSpPr/>
          <p:nvPr/>
        </p:nvSpPr>
        <p:spPr>
          <a:xfrm>
            <a:off x="5577840" y="1463040"/>
            <a:ext cx="6035040" cy="4480560"/>
          </a:xfrm>
          <a:prstGeom prst="roundRect">
            <a:avLst>
              <a:gd name="adj" fmla="val 1633"/>
            </a:avLst>
          </a:prstGeom>
          <a:solidFill>
            <a:srgbClr val="F8FAFC"/>
          </a:solidFill>
          <a:ln w="19050">
            <a:solidFill>
              <a:srgbClr val="94A3B8"/>
            </a:solidFill>
            <a:prstDash val="dash"/>
          </a:ln>
        </p:spPr>
      </p:sp>
      <p:sp>
        <p:nvSpPr>
          <p:cNvPr id="9" name="Text 6"/>
          <p:cNvSpPr txBox="1"/>
          <p:nvPr/>
        </p:nvSpPr>
        <p:spPr>
          <a:xfrm>
            <a:off x="5760720" y="1463040"/>
            <a:ext cx="5669280" cy="4480560"/>
          </a:xfrm>
          <a:prstGeom prst="rect">
            <a:avLst/>
          </a:prstGeom>
          <a:noFill/>
          <a:ln/>
        </p:spPr>
        <p:txBody>
          <a:bodyPr wrap="square" lIns="0" tIns="0" rIns="0" bIns="0" rtlCol="0" anchor="ctr"/>
          <a:lstStyle/>
          <a:p>
            <a:pPr marL="0" indent="0" algn="ctr">
              <a:buNone/>
            </a:pPr>
            <a:r>
              <a:rPr lang="en-US" sz="1400" i="1" dirty="0">
                <a:solidFill>
                  <a:srgbClr val="475569"/>
                </a:solidFill>
              </a:rPr>
              <a:t>Insert plot: docs/figures/coupling_sensitivity_stress_test.png</a:t>
            </a: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10</a:t>
            </a:fld>
            <a:endParaRPr lang="en-US"/>
          </a:p>
        </p:txBody>
      </p:sp>
      <p:pic>
        <p:nvPicPr>
          <p:cNvPr id="10" name="Picture 9">
            <a:extLst>
              <a:ext uri="{FF2B5EF4-FFF2-40B4-BE49-F238E27FC236}">
                <a16:creationId xmlns:a16="http://schemas.microsoft.com/office/drawing/2014/main" id="{9C5AEC9C-2ED2-3791-6AE4-C5DE28BA9A22}"/>
              </a:ext>
            </a:extLst>
          </p:cNvPr>
          <p:cNvPicPr>
            <a:picLocks noChangeAspect="1"/>
          </p:cNvPicPr>
          <p:nvPr/>
        </p:nvPicPr>
        <p:blipFill>
          <a:blip r:embed="rId3"/>
          <a:stretch>
            <a:fillRect/>
          </a:stretch>
        </p:blipFill>
        <p:spPr>
          <a:xfrm>
            <a:off x="5577840" y="1463040"/>
            <a:ext cx="6035040" cy="44805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Cost of delay: what does waiting do to the tumor?</a:t>
            </a:r>
            <a:endParaRPr lang="en-US" sz="2600" dirty="0"/>
          </a:p>
        </p:txBody>
      </p:sp>
      <p:sp>
        <p:nvSpPr>
          <p:cNvPr id="4" name="Text 1"/>
          <p:cNvSpPr txBox="1"/>
          <p:nvPr/>
        </p:nvSpPr>
        <p:spPr>
          <a:xfrm>
            <a:off x="548640" y="1371600"/>
            <a:ext cx="11064240" cy="548640"/>
          </a:xfrm>
          <a:prstGeom prst="rect">
            <a:avLst/>
          </a:prstGeom>
          <a:noFill/>
          <a:ln/>
        </p:spPr>
        <p:txBody>
          <a:bodyPr wrap="square" lIns="0" tIns="0" rIns="0" bIns="0" rtlCol="0" anchor="ctr"/>
          <a:lstStyle/>
          <a:p>
            <a:pPr marL="0" indent="0">
              <a:buNone/>
            </a:pPr>
            <a:r>
              <a:rPr lang="en-US" sz="2000" b="1" dirty="0">
                <a:solidFill>
                  <a:srgbClr val="0B2545"/>
                </a:solidFill>
                <a:latin typeface="Courier New" pitchFamily="34" charset="0"/>
                <a:ea typeface="Courier New" pitchFamily="34" charset="-122"/>
                <a:cs typeface="Courier New" pitchFamily="34" charset="-120"/>
              </a:rPr>
              <a:t>dV/dt = α · V · ln(K/V) − κ · Dose · V</a:t>
            </a:r>
            <a:endParaRPr lang="en-US" sz="2000" dirty="0"/>
          </a:p>
        </p:txBody>
      </p:sp>
      <p:sp>
        <p:nvSpPr>
          <p:cNvPr id="5" name="Text 2"/>
          <p:cNvSpPr txBox="1"/>
          <p:nvPr/>
        </p:nvSpPr>
        <p:spPr>
          <a:xfrm>
            <a:off x="548640" y="1920240"/>
            <a:ext cx="11064240" cy="457200"/>
          </a:xfrm>
          <a:prstGeom prst="rect">
            <a:avLst/>
          </a:prstGeom>
          <a:noFill/>
          <a:ln/>
        </p:spPr>
        <p:txBody>
          <a:bodyPr wrap="square" lIns="0" tIns="0" rIns="0" bIns="0" rtlCol="0" anchor="ctr"/>
          <a:lstStyle/>
          <a:p>
            <a:pPr marL="0" indent="0">
              <a:buNone/>
            </a:pPr>
            <a:r>
              <a:rPr lang="en-US" sz="1400" dirty="0">
                <a:solidFill>
                  <a:srgbClr val="475569"/>
                </a:solidFill>
              </a:rPr>
              <a:t>Growth α and chemo kill κ are fitted per patient on observations up to day D.</a:t>
            </a:r>
            <a:endParaRPr lang="en-US" sz="1400" dirty="0"/>
          </a:p>
        </p:txBody>
      </p:sp>
      <p:graphicFrame>
        <p:nvGraphicFramePr>
          <p:cNvPr id="6" name="Chart 0"/>
          <p:cNvGraphicFramePr/>
          <p:nvPr/>
        </p:nvGraphicFramePr>
        <p:xfrm>
          <a:off x="548640" y="256032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6400800" y="2560320"/>
            <a:ext cx="2468880" cy="1463040"/>
          </a:xfrm>
          <a:prstGeom prst="roundRect">
            <a:avLst>
              <a:gd name="adj" fmla="val 5000"/>
            </a:avLst>
          </a:prstGeom>
          <a:solidFill>
            <a:srgbClr val="F1F5F9"/>
          </a:solidFill>
          <a:ln w="12700">
            <a:solidFill>
              <a:srgbClr val="F1F5F9"/>
            </a:solidFill>
            <a:prstDash val="solid"/>
          </a:ln>
        </p:spPr>
      </p:sp>
      <p:sp>
        <p:nvSpPr>
          <p:cNvPr id="8" name="Text 4"/>
          <p:cNvSpPr txBox="1"/>
          <p:nvPr/>
        </p:nvSpPr>
        <p:spPr>
          <a:xfrm>
            <a:off x="6400800" y="2651760"/>
            <a:ext cx="2468880" cy="731520"/>
          </a:xfrm>
          <a:prstGeom prst="rect">
            <a:avLst/>
          </a:prstGeom>
          <a:noFill/>
          <a:ln/>
        </p:spPr>
        <p:txBody>
          <a:bodyPr wrap="square" lIns="0" tIns="0" rIns="0" bIns="0" rtlCol="0" anchor="ctr"/>
          <a:lstStyle/>
          <a:p>
            <a:pPr marL="0" indent="0" algn="ctr">
              <a:buNone/>
            </a:pPr>
            <a:r>
              <a:rPr lang="en-US" sz="3000" b="1" dirty="0">
                <a:solidFill>
                  <a:srgbClr val="0E7C86"/>
                </a:solidFill>
              </a:rPr>
              <a:t>-39%</a:t>
            </a:r>
            <a:endParaRPr lang="en-US" sz="3000" dirty="0"/>
          </a:p>
        </p:txBody>
      </p:sp>
      <p:sp>
        <p:nvSpPr>
          <p:cNvPr id="9" name="Text 5"/>
          <p:cNvSpPr txBox="1"/>
          <p:nvPr/>
        </p:nvSpPr>
        <p:spPr>
          <a:xfrm>
            <a:off x="6492240" y="3408883"/>
            <a:ext cx="2286000" cy="555955"/>
          </a:xfrm>
          <a:prstGeom prst="rect">
            <a:avLst/>
          </a:prstGeom>
          <a:noFill/>
          <a:ln/>
        </p:spPr>
        <p:txBody>
          <a:bodyPr wrap="square" lIns="0" tIns="0" rIns="0" bIns="0" rtlCol="0" anchor="t"/>
          <a:lstStyle/>
          <a:p>
            <a:pPr marL="0" indent="0" algn="ctr">
              <a:buNone/>
            </a:pPr>
            <a:r>
              <a:rPr lang="en-US" sz="1200" dirty="0">
                <a:solidFill>
                  <a:srgbClr val="475569"/>
                </a:solidFill>
              </a:rPr>
              <a:t>forecast error vs population average</a:t>
            </a:r>
            <a:endParaRPr lang="en-US" sz="1200" dirty="0"/>
          </a:p>
        </p:txBody>
      </p:sp>
      <p:sp>
        <p:nvSpPr>
          <p:cNvPr id="10" name="Shape 6"/>
          <p:cNvSpPr/>
          <p:nvPr/>
        </p:nvSpPr>
        <p:spPr>
          <a:xfrm>
            <a:off x="9144000" y="2560320"/>
            <a:ext cx="2468880" cy="1463040"/>
          </a:xfrm>
          <a:prstGeom prst="roundRect">
            <a:avLst>
              <a:gd name="adj" fmla="val 5000"/>
            </a:avLst>
          </a:prstGeom>
          <a:solidFill>
            <a:srgbClr val="F1F5F9"/>
          </a:solidFill>
          <a:ln w="12700">
            <a:solidFill>
              <a:srgbClr val="F1F5F9"/>
            </a:solidFill>
            <a:prstDash val="solid"/>
          </a:ln>
        </p:spPr>
      </p:sp>
      <p:sp>
        <p:nvSpPr>
          <p:cNvPr id="11" name="Text 7"/>
          <p:cNvSpPr txBox="1"/>
          <p:nvPr/>
        </p:nvSpPr>
        <p:spPr>
          <a:xfrm>
            <a:off x="9144000" y="2651760"/>
            <a:ext cx="2468880" cy="731520"/>
          </a:xfrm>
          <a:prstGeom prst="rect">
            <a:avLst/>
          </a:prstGeom>
          <a:noFill/>
          <a:ln/>
        </p:spPr>
        <p:txBody>
          <a:bodyPr wrap="square" lIns="0" tIns="0" rIns="0" bIns="0" rtlCol="0" anchor="ctr"/>
          <a:lstStyle/>
          <a:p>
            <a:pPr marL="0" indent="0" algn="ctr">
              <a:buNone/>
            </a:pPr>
            <a:r>
              <a:rPr lang="en-US" sz="3000" b="1" dirty="0">
                <a:solidFill>
                  <a:srgbClr val="15803D"/>
                </a:solidFill>
              </a:rPr>
              <a:t>98.1%</a:t>
            </a:r>
            <a:endParaRPr lang="en-US" sz="3000" dirty="0"/>
          </a:p>
        </p:txBody>
      </p:sp>
      <p:sp>
        <p:nvSpPr>
          <p:cNvPr id="12" name="Text 8"/>
          <p:cNvSpPr txBox="1"/>
          <p:nvPr/>
        </p:nvSpPr>
        <p:spPr>
          <a:xfrm>
            <a:off x="9235440" y="3408883"/>
            <a:ext cx="2286000" cy="555955"/>
          </a:xfrm>
          <a:prstGeom prst="rect">
            <a:avLst/>
          </a:prstGeom>
          <a:noFill/>
          <a:ln/>
        </p:spPr>
        <p:txBody>
          <a:bodyPr wrap="square" lIns="0" tIns="0" rIns="0" bIns="0" rtlCol="0" anchor="t"/>
          <a:lstStyle/>
          <a:p>
            <a:pPr marL="0" indent="0" algn="ctr">
              <a:buNone/>
            </a:pPr>
            <a:r>
              <a:rPr lang="en-US" sz="1200" dirty="0">
                <a:solidFill>
                  <a:srgbClr val="475569"/>
                </a:solidFill>
              </a:rPr>
              <a:t>empirical coverage of the 90% band</a:t>
            </a:r>
            <a:endParaRPr lang="en-US" sz="1200" dirty="0"/>
          </a:p>
        </p:txBody>
      </p:sp>
      <p:sp>
        <p:nvSpPr>
          <p:cNvPr id="13" name="Shape 9"/>
          <p:cNvSpPr/>
          <p:nvPr/>
        </p:nvSpPr>
        <p:spPr>
          <a:xfrm>
            <a:off x="6400800" y="4251960"/>
            <a:ext cx="5212080" cy="1783080"/>
          </a:xfrm>
          <a:prstGeom prst="roundRect">
            <a:avLst>
              <a:gd name="adj" fmla="val 4103"/>
            </a:avLst>
          </a:prstGeom>
          <a:solidFill>
            <a:srgbClr val="FFFFFF"/>
          </a:solidFill>
          <a:ln w="19050">
            <a:solidFill>
              <a:srgbClr val="D97706"/>
            </a:solidFill>
            <a:prstDash val="solid"/>
          </a:ln>
        </p:spPr>
      </p:sp>
      <p:sp>
        <p:nvSpPr>
          <p:cNvPr id="14" name="Shape 10"/>
          <p:cNvSpPr/>
          <p:nvPr/>
        </p:nvSpPr>
        <p:spPr>
          <a:xfrm>
            <a:off x="6400800" y="4325112"/>
            <a:ext cx="82296" cy="1636776"/>
          </a:xfrm>
          <a:prstGeom prst="rect">
            <a:avLst/>
          </a:prstGeom>
          <a:solidFill>
            <a:srgbClr val="D97706"/>
          </a:solidFill>
          <a:ln w="12700">
            <a:solidFill>
              <a:srgbClr val="D97706"/>
            </a:solidFill>
            <a:prstDash val="solid"/>
          </a:ln>
        </p:spPr>
      </p:sp>
      <p:sp>
        <p:nvSpPr>
          <p:cNvPr id="15" name="Text 11"/>
          <p:cNvSpPr txBox="1"/>
          <p:nvPr/>
        </p:nvSpPr>
        <p:spPr>
          <a:xfrm>
            <a:off x="6629400" y="4343400"/>
            <a:ext cx="4846320" cy="411480"/>
          </a:xfrm>
          <a:prstGeom prst="rect">
            <a:avLst/>
          </a:prstGeom>
          <a:noFill/>
          <a:ln/>
        </p:spPr>
        <p:txBody>
          <a:bodyPr wrap="square" lIns="0" tIns="0" rIns="0" bIns="0" rtlCol="0" anchor="ctr"/>
          <a:lstStyle/>
          <a:p>
            <a:pPr marL="0" indent="0">
              <a:buNone/>
            </a:pPr>
            <a:r>
              <a:rPr lang="en-US" sz="1500" b="1" dirty="0">
                <a:solidFill>
                  <a:srgbClr val="D97706"/>
                </a:solidFill>
              </a:rPr>
              <a:t>Caveat</a:t>
            </a:r>
            <a:endParaRPr lang="en-US" sz="1500" dirty="0"/>
          </a:p>
        </p:txBody>
      </p:sp>
      <p:sp>
        <p:nvSpPr>
          <p:cNvPr id="16" name="Text 12"/>
          <p:cNvSpPr txBox="1"/>
          <p:nvPr/>
        </p:nvSpPr>
        <p:spPr>
          <a:xfrm>
            <a:off x="6629400" y="4800600"/>
            <a:ext cx="4846320" cy="1143000"/>
          </a:xfrm>
          <a:prstGeom prst="rect">
            <a:avLst/>
          </a:prstGeom>
          <a:noFill/>
          <a:ln/>
        </p:spPr>
        <p:txBody>
          <a:bodyPr wrap="square" lIns="0" tIns="0" rIns="0" bIns="0" rtlCol="0" anchor="t"/>
          <a:lstStyle/>
          <a:p>
            <a:pPr marL="0" indent="0">
              <a:spcAft>
                <a:spcPts val="400"/>
              </a:spcAft>
              <a:buNone/>
            </a:pPr>
            <a:r>
              <a:rPr lang="en-US" sz="1300" dirty="0">
                <a:solidFill>
                  <a:srgbClr val="1E293B"/>
                </a:solidFill>
              </a:rPr>
              <a:t>Validated on synthetic data from the same Gompertz family, so treat the accuracy as optimistic. The band is conservative: wider than nominal.</a:t>
            </a:r>
            <a:endParaRPr lang="en-US" sz="13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Doctor dashboard: how an oncologist interacts with the twin</a:t>
            </a:r>
            <a:endParaRPr lang="en-US" sz="2600" dirty="0"/>
          </a:p>
        </p:txBody>
      </p:sp>
      <p:sp>
        <p:nvSpPr>
          <p:cNvPr id="4" name="Shape 1"/>
          <p:cNvSpPr/>
          <p:nvPr/>
        </p:nvSpPr>
        <p:spPr>
          <a:xfrm>
            <a:off x="548640" y="1325880"/>
            <a:ext cx="7589520" cy="3749040"/>
          </a:xfrm>
          <a:prstGeom prst="roundRect">
            <a:avLst>
              <a:gd name="adj" fmla="val 1951"/>
            </a:avLst>
          </a:prstGeom>
          <a:solidFill>
            <a:srgbClr val="F8FAFC"/>
          </a:solidFill>
          <a:ln w="19050">
            <a:solidFill>
              <a:srgbClr val="94A3B8"/>
            </a:solidFill>
            <a:prstDash val="dash"/>
          </a:ln>
        </p:spPr>
      </p:sp>
      <p:sp>
        <p:nvSpPr>
          <p:cNvPr id="5" name="Text 2"/>
          <p:cNvSpPr txBox="1"/>
          <p:nvPr/>
        </p:nvSpPr>
        <p:spPr>
          <a:xfrm>
            <a:off x="731520" y="1325880"/>
            <a:ext cx="7223760" cy="3749040"/>
          </a:xfrm>
          <a:prstGeom prst="rect">
            <a:avLst/>
          </a:prstGeom>
          <a:noFill/>
          <a:ln/>
        </p:spPr>
        <p:txBody>
          <a:bodyPr wrap="square" lIns="0" tIns="0" rIns="0" bIns="0" rtlCol="0" anchor="ctr"/>
          <a:lstStyle/>
          <a:p>
            <a:pPr marL="0" indent="0" algn="ctr">
              <a:buNone/>
            </a:pPr>
            <a:r>
              <a:rPr lang="en-US" sz="1400" i="1" dirty="0">
                <a:solidFill>
                  <a:srgbClr val="475569"/>
                </a:solidFill>
              </a:rPr>
              <a:t>Insert screenshot: dashboard Tab 1 (experimental toggle OFF)</a:t>
            </a:r>
            <a:endParaRPr lang="en-US" sz="1400" dirty="0"/>
          </a:p>
        </p:txBody>
      </p:sp>
      <p:sp>
        <p:nvSpPr>
          <p:cNvPr id="6" name="Shape 3"/>
          <p:cNvSpPr/>
          <p:nvPr/>
        </p:nvSpPr>
        <p:spPr>
          <a:xfrm>
            <a:off x="8412480" y="1325880"/>
            <a:ext cx="3200400" cy="1371600"/>
          </a:xfrm>
          <a:prstGeom prst="roundRect">
            <a:avLst>
              <a:gd name="adj" fmla="val 5333"/>
            </a:avLst>
          </a:prstGeom>
          <a:solidFill>
            <a:srgbClr val="FFFFFF"/>
          </a:solidFill>
          <a:ln w="19050">
            <a:solidFill>
              <a:srgbClr val="B91C1C"/>
            </a:solidFill>
            <a:prstDash val="solid"/>
          </a:ln>
        </p:spPr>
      </p:sp>
      <p:sp>
        <p:nvSpPr>
          <p:cNvPr id="7" name="Shape 4"/>
          <p:cNvSpPr/>
          <p:nvPr/>
        </p:nvSpPr>
        <p:spPr>
          <a:xfrm>
            <a:off x="8412480" y="1399032"/>
            <a:ext cx="82296" cy="1225296"/>
          </a:xfrm>
          <a:prstGeom prst="rect">
            <a:avLst/>
          </a:prstGeom>
          <a:solidFill>
            <a:srgbClr val="B91C1C"/>
          </a:solidFill>
          <a:ln w="12700">
            <a:solidFill>
              <a:srgbClr val="B91C1C"/>
            </a:solidFill>
            <a:prstDash val="solid"/>
          </a:ln>
        </p:spPr>
      </p:sp>
      <p:sp>
        <p:nvSpPr>
          <p:cNvPr id="8" name="Text 5"/>
          <p:cNvSpPr txBox="1"/>
          <p:nvPr/>
        </p:nvSpPr>
        <p:spPr>
          <a:xfrm>
            <a:off x="8641080" y="1417320"/>
            <a:ext cx="2834640" cy="411480"/>
          </a:xfrm>
          <a:prstGeom prst="rect">
            <a:avLst/>
          </a:prstGeom>
          <a:noFill/>
          <a:ln/>
        </p:spPr>
        <p:txBody>
          <a:bodyPr wrap="square" lIns="0" tIns="0" rIns="0" bIns="0" rtlCol="0" anchor="ctr"/>
          <a:lstStyle/>
          <a:p>
            <a:pPr marL="0" indent="0">
              <a:buNone/>
            </a:pPr>
            <a:r>
              <a:rPr lang="en-US" sz="1400" b="1" dirty="0">
                <a:solidFill>
                  <a:srgbClr val="B91C1C"/>
                </a:solidFill>
              </a:rPr>
              <a:t>Trade-off chart</a:t>
            </a:r>
            <a:endParaRPr lang="en-US" sz="1400" dirty="0"/>
          </a:p>
        </p:txBody>
      </p:sp>
      <p:sp>
        <p:nvSpPr>
          <p:cNvPr id="9" name="Text 6"/>
          <p:cNvSpPr txBox="1"/>
          <p:nvPr/>
        </p:nvSpPr>
        <p:spPr>
          <a:xfrm>
            <a:off x="8641080" y="1874520"/>
            <a:ext cx="2834640" cy="731520"/>
          </a:xfrm>
          <a:prstGeom prst="rect">
            <a:avLst/>
          </a:prstGeom>
          <a:noFill/>
          <a:ln/>
        </p:spPr>
        <p:txBody>
          <a:bodyPr wrap="square" lIns="0" tIns="0" rIns="0" bIns="0" rtlCol="0" anchor="t"/>
          <a:lstStyle/>
          <a:p>
            <a:pPr marL="0" indent="0">
              <a:spcAft>
                <a:spcPts val="400"/>
              </a:spcAft>
              <a:buNone/>
            </a:pPr>
            <a:r>
              <a:rPr lang="en-US" sz="1200" dirty="0">
                <a:solidFill>
                  <a:srgbClr val="1E293B"/>
                </a:solidFill>
              </a:rPr>
              <a:t>Toxicity risk vs tumor regrowth for +0/+3/+7/+14 days, with 90% band</a:t>
            </a:r>
            <a:endParaRPr lang="en-US" sz="1200" dirty="0"/>
          </a:p>
        </p:txBody>
      </p:sp>
      <p:sp>
        <p:nvSpPr>
          <p:cNvPr id="10" name="Shape 7"/>
          <p:cNvSpPr/>
          <p:nvPr/>
        </p:nvSpPr>
        <p:spPr>
          <a:xfrm>
            <a:off x="8412480" y="2834640"/>
            <a:ext cx="3200400" cy="1371600"/>
          </a:xfrm>
          <a:prstGeom prst="roundRect">
            <a:avLst>
              <a:gd name="adj" fmla="val 5333"/>
            </a:avLst>
          </a:prstGeom>
          <a:solidFill>
            <a:srgbClr val="FFFFFF"/>
          </a:solidFill>
          <a:ln w="19050">
            <a:solidFill>
              <a:srgbClr val="15803D"/>
            </a:solidFill>
            <a:prstDash val="solid"/>
          </a:ln>
        </p:spPr>
      </p:sp>
      <p:sp>
        <p:nvSpPr>
          <p:cNvPr id="11" name="Shape 8"/>
          <p:cNvSpPr/>
          <p:nvPr/>
        </p:nvSpPr>
        <p:spPr>
          <a:xfrm>
            <a:off x="8412480" y="2907792"/>
            <a:ext cx="82296" cy="1225296"/>
          </a:xfrm>
          <a:prstGeom prst="rect">
            <a:avLst/>
          </a:prstGeom>
          <a:solidFill>
            <a:srgbClr val="15803D"/>
          </a:solidFill>
          <a:ln w="12700">
            <a:solidFill>
              <a:srgbClr val="15803D"/>
            </a:solidFill>
            <a:prstDash val="solid"/>
          </a:ln>
        </p:spPr>
      </p:sp>
      <p:sp>
        <p:nvSpPr>
          <p:cNvPr id="12" name="Text 9"/>
          <p:cNvSpPr txBox="1"/>
          <p:nvPr/>
        </p:nvSpPr>
        <p:spPr>
          <a:xfrm>
            <a:off x="8641080" y="2926080"/>
            <a:ext cx="2834640" cy="411480"/>
          </a:xfrm>
          <a:prstGeom prst="rect">
            <a:avLst/>
          </a:prstGeom>
          <a:noFill/>
          <a:ln/>
        </p:spPr>
        <p:txBody>
          <a:bodyPr wrap="square" lIns="0" tIns="0" rIns="0" bIns="0" rtlCol="0" anchor="ctr"/>
          <a:lstStyle/>
          <a:p>
            <a:pPr marL="0" indent="0">
              <a:buNone/>
            </a:pPr>
            <a:r>
              <a:rPr lang="en-US" sz="1400" b="1" dirty="0">
                <a:solidFill>
                  <a:srgbClr val="15803D"/>
                </a:solidFill>
              </a:rPr>
              <a:t>Action matrix</a:t>
            </a:r>
            <a:endParaRPr lang="en-US" sz="1400" dirty="0"/>
          </a:p>
        </p:txBody>
      </p:sp>
      <p:sp>
        <p:nvSpPr>
          <p:cNvPr id="13" name="Text 10"/>
          <p:cNvSpPr txBox="1"/>
          <p:nvPr/>
        </p:nvSpPr>
        <p:spPr>
          <a:xfrm>
            <a:off x="8641080" y="3383280"/>
            <a:ext cx="2834640" cy="731520"/>
          </a:xfrm>
          <a:prstGeom prst="rect">
            <a:avLst/>
          </a:prstGeom>
          <a:noFill/>
          <a:ln/>
        </p:spPr>
        <p:txBody>
          <a:bodyPr wrap="square" lIns="0" tIns="0" rIns="0" bIns="0" rtlCol="0" anchor="t"/>
          <a:lstStyle/>
          <a:p>
            <a:pPr marL="0" indent="0">
              <a:spcAft>
                <a:spcPts val="400"/>
              </a:spcAft>
              <a:buNone/>
            </a:pPr>
            <a:r>
              <a:rPr lang="en-US" sz="1200" dirty="0">
                <a:solidFill>
                  <a:srgbClr val="1E293B"/>
                </a:solidFill>
              </a:rPr>
              <a:t>Risk tiers built on the tuned threshold, plus tumor volume CI</a:t>
            </a:r>
            <a:endParaRPr lang="en-US" sz="1200" dirty="0"/>
          </a:p>
        </p:txBody>
      </p:sp>
      <p:sp>
        <p:nvSpPr>
          <p:cNvPr id="14" name="Shape 11"/>
          <p:cNvSpPr/>
          <p:nvPr/>
        </p:nvSpPr>
        <p:spPr>
          <a:xfrm>
            <a:off x="8412480" y="4343400"/>
            <a:ext cx="3200400" cy="1371600"/>
          </a:xfrm>
          <a:prstGeom prst="roundRect">
            <a:avLst>
              <a:gd name="adj" fmla="val 5333"/>
            </a:avLst>
          </a:prstGeom>
          <a:solidFill>
            <a:srgbClr val="FFFFFF"/>
          </a:solidFill>
          <a:ln w="19050">
            <a:solidFill>
              <a:srgbClr val="D97706"/>
            </a:solidFill>
            <a:prstDash val="solid"/>
          </a:ln>
        </p:spPr>
      </p:sp>
      <p:sp>
        <p:nvSpPr>
          <p:cNvPr id="15" name="Shape 12"/>
          <p:cNvSpPr/>
          <p:nvPr/>
        </p:nvSpPr>
        <p:spPr>
          <a:xfrm>
            <a:off x="8412480" y="4416552"/>
            <a:ext cx="82296" cy="1225296"/>
          </a:xfrm>
          <a:prstGeom prst="rect">
            <a:avLst/>
          </a:prstGeom>
          <a:solidFill>
            <a:srgbClr val="D97706"/>
          </a:solidFill>
          <a:ln w="12700">
            <a:solidFill>
              <a:srgbClr val="D97706"/>
            </a:solidFill>
            <a:prstDash val="solid"/>
          </a:ln>
        </p:spPr>
      </p:sp>
      <p:sp>
        <p:nvSpPr>
          <p:cNvPr id="16" name="Text 13"/>
          <p:cNvSpPr txBox="1"/>
          <p:nvPr/>
        </p:nvSpPr>
        <p:spPr>
          <a:xfrm>
            <a:off x="8641080" y="4434840"/>
            <a:ext cx="2834640" cy="411480"/>
          </a:xfrm>
          <a:prstGeom prst="rect">
            <a:avLst/>
          </a:prstGeom>
          <a:noFill/>
          <a:ln/>
        </p:spPr>
        <p:txBody>
          <a:bodyPr wrap="square" lIns="0" tIns="0" rIns="0" bIns="0" rtlCol="0" anchor="ctr"/>
          <a:lstStyle/>
          <a:p>
            <a:pPr marL="0" indent="0">
              <a:buNone/>
            </a:pPr>
            <a:r>
              <a:rPr lang="en-US" sz="1400" b="1" dirty="0">
                <a:solidFill>
                  <a:srgbClr val="D97706"/>
                </a:solidFill>
              </a:rPr>
              <a:t>Safety banner</a:t>
            </a:r>
            <a:endParaRPr lang="en-US" sz="1400" dirty="0"/>
          </a:p>
        </p:txBody>
      </p:sp>
      <p:sp>
        <p:nvSpPr>
          <p:cNvPr id="17" name="Text 14"/>
          <p:cNvSpPr txBox="1"/>
          <p:nvPr/>
        </p:nvSpPr>
        <p:spPr>
          <a:xfrm>
            <a:off x="8641080" y="4892040"/>
            <a:ext cx="2834640" cy="731520"/>
          </a:xfrm>
          <a:prstGeom prst="rect">
            <a:avLst/>
          </a:prstGeom>
          <a:noFill/>
          <a:ln/>
        </p:spPr>
        <p:txBody>
          <a:bodyPr wrap="square" lIns="0" tIns="0" rIns="0" bIns="0" rtlCol="0" anchor="t"/>
          <a:lstStyle/>
          <a:p>
            <a:pPr marL="0" indent="0">
              <a:spcAft>
                <a:spcPts val="400"/>
              </a:spcAft>
              <a:buNone/>
            </a:pPr>
            <a:r>
              <a:rPr lang="en-US" sz="1200" dirty="0">
                <a:solidFill>
                  <a:srgbClr val="1E293B"/>
                </a:solidFill>
              </a:rPr>
              <a:t>Decision support only; oncologist review and lab check required</a:t>
            </a:r>
            <a:endParaRPr lang="en-US" sz="1200" dirty="0"/>
          </a:p>
        </p:txBody>
      </p:sp>
      <p:sp>
        <p:nvSpPr>
          <p:cNvPr id="18" name="Text 15"/>
          <p:cNvSpPr txBox="1"/>
          <p:nvPr/>
        </p:nvSpPr>
        <p:spPr>
          <a:xfrm>
            <a:off x="548640" y="5257800"/>
            <a:ext cx="7589520" cy="822960"/>
          </a:xfrm>
          <a:prstGeom prst="rect">
            <a:avLst/>
          </a:prstGeom>
          <a:noFill/>
          <a:ln/>
        </p:spPr>
        <p:txBody>
          <a:bodyPr wrap="square" lIns="0" tIns="0" rIns="0" bIns="0" rtlCol="0" anchor="ctr"/>
          <a:lstStyle/>
          <a:p>
            <a:pPr marL="0" indent="0">
              <a:buNone/>
            </a:pPr>
            <a:r>
              <a:rPr lang="en-US" sz="1400" b="1" dirty="0">
                <a:solidFill>
                  <a:srgbClr val="0B2545"/>
                </a:solidFill>
              </a:rPr>
              <a:t>Tab 2: ANC and HRV trajectories.  Tab 3: multi-seed benchmark first, seed 42 as an example.  Sidebar: Experimental marrow toggle (off by default).</a:t>
            </a:r>
            <a:endParaRPr lang="en-US" sz="14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12</a:t>
            </a:fld>
            <a:endParaRPr lang="en-US"/>
          </a:p>
        </p:txBody>
      </p:sp>
      <p:pic>
        <p:nvPicPr>
          <p:cNvPr id="19" name="Picture 18">
            <a:extLst>
              <a:ext uri="{FF2B5EF4-FFF2-40B4-BE49-F238E27FC236}">
                <a16:creationId xmlns:a16="http://schemas.microsoft.com/office/drawing/2014/main" id="{04AD9CDE-EBC1-CAD3-3BC3-770B078302A9}"/>
              </a:ext>
            </a:extLst>
          </p:cNvPr>
          <p:cNvPicPr>
            <a:picLocks noChangeAspect="1"/>
          </p:cNvPicPr>
          <p:nvPr/>
        </p:nvPicPr>
        <p:blipFill>
          <a:blip r:embed="rId3"/>
          <a:stretch>
            <a:fillRect/>
          </a:stretch>
        </p:blipFill>
        <p:spPr>
          <a:xfrm>
            <a:off x="546822" y="1325880"/>
            <a:ext cx="7591338" cy="3749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Experimental extension: a mechanistic marrow twin</a:t>
            </a:r>
            <a:endParaRPr lang="en-US" sz="2600" dirty="0"/>
          </a:p>
        </p:txBody>
      </p:sp>
      <p:sp>
        <p:nvSpPr>
          <p:cNvPr id="4" name="Shape 1"/>
          <p:cNvSpPr/>
          <p:nvPr/>
        </p:nvSpPr>
        <p:spPr>
          <a:xfrm>
            <a:off x="548640" y="1463040"/>
            <a:ext cx="5394960" cy="3108960"/>
          </a:xfrm>
          <a:prstGeom prst="roundRect">
            <a:avLst>
              <a:gd name="adj" fmla="val 2353"/>
            </a:avLst>
          </a:prstGeom>
          <a:solidFill>
            <a:srgbClr val="FFFFFF"/>
          </a:solidFill>
          <a:ln w="19050">
            <a:solidFill>
              <a:srgbClr val="6D28D9"/>
            </a:solidFill>
            <a:prstDash val="solid"/>
          </a:ln>
        </p:spPr>
      </p:sp>
      <p:sp>
        <p:nvSpPr>
          <p:cNvPr id="5" name="Shape 2"/>
          <p:cNvSpPr/>
          <p:nvPr/>
        </p:nvSpPr>
        <p:spPr>
          <a:xfrm>
            <a:off x="548640" y="1536192"/>
            <a:ext cx="82296" cy="2962656"/>
          </a:xfrm>
          <a:prstGeom prst="rect">
            <a:avLst/>
          </a:prstGeom>
          <a:solidFill>
            <a:srgbClr val="6D28D9"/>
          </a:solidFill>
          <a:ln w="12700">
            <a:solidFill>
              <a:srgbClr val="6D28D9"/>
            </a:solidFill>
            <a:prstDash val="solid"/>
          </a:ln>
        </p:spPr>
      </p:sp>
      <p:sp>
        <p:nvSpPr>
          <p:cNvPr id="6" name="Text 3"/>
          <p:cNvSpPr txBox="1"/>
          <p:nvPr/>
        </p:nvSpPr>
        <p:spPr>
          <a:xfrm>
            <a:off x="777240" y="1554480"/>
            <a:ext cx="5029200" cy="411480"/>
          </a:xfrm>
          <a:prstGeom prst="rect">
            <a:avLst/>
          </a:prstGeom>
          <a:noFill/>
          <a:ln/>
        </p:spPr>
        <p:txBody>
          <a:bodyPr wrap="square" lIns="0" tIns="0" rIns="0" bIns="0" rtlCol="0" anchor="ctr"/>
          <a:lstStyle/>
          <a:p>
            <a:pPr marL="0" indent="0">
              <a:buNone/>
            </a:pPr>
            <a:r>
              <a:rPr lang="en-US" sz="1600" b="1" dirty="0">
                <a:solidFill>
                  <a:srgbClr val="6D28D9"/>
                </a:solidFill>
              </a:rPr>
              <a:t>What it does</a:t>
            </a:r>
            <a:endParaRPr lang="en-US" sz="1600" dirty="0"/>
          </a:p>
        </p:txBody>
      </p:sp>
      <p:sp>
        <p:nvSpPr>
          <p:cNvPr id="7" name="Text 4"/>
          <p:cNvSpPr txBox="1"/>
          <p:nvPr/>
        </p:nvSpPr>
        <p:spPr>
          <a:xfrm>
            <a:off x="777240" y="2011680"/>
            <a:ext cx="5029200" cy="2468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rPr>
              <a:t>5-compartment Friberg model of neutrophil production</a:t>
            </a:r>
            <a:endParaRPr lang="en-US" sz="1400" dirty="0"/>
          </a:p>
          <a:p>
            <a:pPr marL="342900" indent="-342900">
              <a:spcAft>
                <a:spcPts val="400"/>
              </a:spcAft>
              <a:buSzPct val="100000"/>
              <a:buChar char="•"/>
            </a:pPr>
            <a:r>
              <a:rPr lang="en-US" sz="1400" dirty="0">
                <a:solidFill>
                  <a:srgbClr val="1E293B"/>
                </a:solidFill>
              </a:rPr>
              <a:t>Fitted per patient (transit time, feedback, drug sensitivity)</a:t>
            </a:r>
            <a:endParaRPr lang="en-US" sz="1400" dirty="0"/>
          </a:p>
          <a:p>
            <a:pPr marL="342900" indent="-342900">
              <a:spcAft>
                <a:spcPts val="400"/>
              </a:spcAft>
              <a:buSzPct val="100000"/>
              <a:buChar char="•"/>
            </a:pPr>
            <a:r>
              <a:rPr lang="en-US" sz="1400" dirty="0">
                <a:solidFill>
                  <a:srgbClr val="1E293B"/>
                </a:solidFill>
              </a:rPr>
              <a:t>Kalman filter updates the hidden state with each new lab</a:t>
            </a:r>
            <a:endParaRPr lang="en-US" sz="1400" dirty="0"/>
          </a:p>
          <a:p>
            <a:pPr marL="342900" indent="-342900">
              <a:spcAft>
                <a:spcPts val="400"/>
              </a:spcAft>
              <a:buSzPct val="100000"/>
              <a:buChar char="•"/>
            </a:pPr>
            <a:r>
              <a:rPr lang="en-US" sz="1400" dirty="0">
                <a:solidFill>
                  <a:srgbClr val="1E293B"/>
                </a:solidFill>
              </a:rPr>
              <a:t>Simulates what-if dosing delays from the current state</a:t>
            </a:r>
            <a:endParaRPr lang="en-US" sz="1400" dirty="0"/>
          </a:p>
        </p:txBody>
      </p:sp>
      <p:sp>
        <p:nvSpPr>
          <p:cNvPr id="8" name="Shape 5"/>
          <p:cNvSpPr/>
          <p:nvPr/>
        </p:nvSpPr>
        <p:spPr>
          <a:xfrm>
            <a:off x="6217920" y="1463040"/>
            <a:ext cx="5394960" cy="3108960"/>
          </a:xfrm>
          <a:prstGeom prst="roundRect">
            <a:avLst>
              <a:gd name="adj" fmla="val 2353"/>
            </a:avLst>
          </a:prstGeom>
          <a:solidFill>
            <a:srgbClr val="FFFFFF"/>
          </a:solidFill>
          <a:ln w="19050">
            <a:solidFill>
              <a:srgbClr val="B91C1C"/>
            </a:solidFill>
            <a:prstDash val="solid"/>
          </a:ln>
        </p:spPr>
      </p:sp>
      <p:sp>
        <p:nvSpPr>
          <p:cNvPr id="9" name="Shape 6"/>
          <p:cNvSpPr/>
          <p:nvPr/>
        </p:nvSpPr>
        <p:spPr>
          <a:xfrm>
            <a:off x="6217920" y="1536192"/>
            <a:ext cx="82296" cy="2962656"/>
          </a:xfrm>
          <a:prstGeom prst="rect">
            <a:avLst/>
          </a:prstGeom>
          <a:solidFill>
            <a:srgbClr val="B91C1C"/>
          </a:solidFill>
          <a:ln w="12700">
            <a:solidFill>
              <a:srgbClr val="B91C1C"/>
            </a:solidFill>
            <a:prstDash val="solid"/>
          </a:ln>
        </p:spPr>
      </p:sp>
      <p:sp>
        <p:nvSpPr>
          <p:cNvPr id="10" name="Text 7"/>
          <p:cNvSpPr txBox="1"/>
          <p:nvPr/>
        </p:nvSpPr>
        <p:spPr>
          <a:xfrm>
            <a:off x="6446520" y="1554480"/>
            <a:ext cx="5029200" cy="411480"/>
          </a:xfrm>
          <a:prstGeom prst="rect">
            <a:avLst/>
          </a:prstGeom>
          <a:noFill/>
          <a:ln/>
        </p:spPr>
        <p:txBody>
          <a:bodyPr wrap="square" lIns="0" tIns="0" rIns="0" bIns="0" rtlCol="0" anchor="ctr"/>
          <a:lstStyle/>
          <a:p>
            <a:pPr marL="0" indent="0">
              <a:buNone/>
            </a:pPr>
            <a:r>
              <a:rPr lang="en-US" sz="1600" b="1" dirty="0">
                <a:solidFill>
                  <a:srgbClr val="B91C1C"/>
                </a:solidFill>
              </a:rPr>
              <a:t>Our own audit</a:t>
            </a:r>
            <a:endParaRPr lang="en-US" sz="1600" dirty="0"/>
          </a:p>
        </p:txBody>
      </p:sp>
      <p:sp>
        <p:nvSpPr>
          <p:cNvPr id="11" name="Text 8"/>
          <p:cNvSpPr txBox="1"/>
          <p:nvPr/>
        </p:nvSpPr>
        <p:spPr>
          <a:xfrm>
            <a:off x="6446520" y="2011680"/>
            <a:ext cx="5029200" cy="2468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rPr>
              <a:t>96.7% of fitted parameters sit inside their bounds</a:t>
            </a:r>
            <a:endParaRPr lang="en-US" sz="1400" dirty="0"/>
          </a:p>
          <a:p>
            <a:pPr marL="342900" indent="-342900">
              <a:spcAft>
                <a:spcPts val="400"/>
              </a:spcAft>
              <a:buSzPct val="100000"/>
              <a:buChar char="•"/>
            </a:pPr>
            <a:r>
              <a:rPr lang="en-US" sz="1400" dirty="0">
                <a:solidFill>
                  <a:srgbClr val="1E293B"/>
                </a:solidFill>
              </a:rPr>
              <a:t>Nadir rises with delay in only 49.8% of cases (target 95%)</a:t>
            </a:r>
            <a:endParaRPr lang="en-US" sz="1400" dirty="0"/>
          </a:p>
          <a:p>
            <a:pPr marL="342900" indent="-342900">
              <a:spcAft>
                <a:spcPts val="400"/>
              </a:spcAft>
              <a:buSzPct val="100000"/>
              <a:buChar char="•"/>
            </a:pPr>
            <a:r>
              <a:rPr lang="en-US" sz="1400" dirty="0">
                <a:solidFill>
                  <a:srgbClr val="1E293B"/>
                </a:solidFill>
              </a:rPr>
              <a:t>Delay-ranking tau 0.40</a:t>
            </a:r>
            <a:endParaRPr lang="en-US" sz="1400" dirty="0"/>
          </a:p>
          <a:p>
            <a:pPr marL="342900" indent="-342900">
              <a:spcAft>
                <a:spcPts val="400"/>
              </a:spcAft>
              <a:buSzPct val="100000"/>
              <a:buChar char="•"/>
            </a:pPr>
            <a:r>
              <a:rPr lang="en-US" sz="1400" dirty="0">
                <a:solidFill>
                  <a:srgbClr val="1E293B"/>
                </a:solidFill>
              </a:rPr>
              <a:t>Shares one ODE family with the generator: a self-consistency check, not accuracy</a:t>
            </a:r>
            <a:endParaRPr lang="en-US" sz="1400" dirty="0"/>
          </a:p>
        </p:txBody>
      </p:sp>
      <p:sp>
        <p:nvSpPr>
          <p:cNvPr id="12" name="Shape 9"/>
          <p:cNvSpPr/>
          <p:nvPr/>
        </p:nvSpPr>
        <p:spPr>
          <a:xfrm>
            <a:off x="548640" y="4846320"/>
            <a:ext cx="11064240" cy="1097280"/>
          </a:xfrm>
          <a:prstGeom prst="roundRect">
            <a:avLst>
              <a:gd name="adj" fmla="val 6667"/>
            </a:avLst>
          </a:prstGeom>
          <a:solidFill>
            <a:srgbClr val="0B2545"/>
          </a:solidFill>
          <a:ln w="12700">
            <a:solidFill>
              <a:srgbClr val="0B2545"/>
            </a:solidFill>
            <a:prstDash val="solid"/>
          </a:ln>
        </p:spPr>
      </p:sp>
      <p:sp>
        <p:nvSpPr>
          <p:cNvPr id="13" name="Text 10"/>
          <p:cNvSpPr txBox="1"/>
          <p:nvPr/>
        </p:nvSpPr>
        <p:spPr>
          <a:xfrm>
            <a:off x="822960" y="4846320"/>
            <a:ext cx="10515600" cy="1097280"/>
          </a:xfrm>
          <a:prstGeom prst="rect">
            <a:avLst/>
          </a:prstGeom>
          <a:noFill/>
          <a:ln/>
        </p:spPr>
        <p:txBody>
          <a:bodyPr wrap="square" lIns="0" tIns="0" rIns="0" bIns="0" rtlCol="0" anchor="ctr"/>
          <a:lstStyle/>
          <a:p>
            <a:pPr marL="0" indent="0">
              <a:buNone/>
            </a:pPr>
            <a:r>
              <a:rPr lang="en-US" sz="1700" b="1" dirty="0">
                <a:solidFill>
                  <a:srgbClr val="FFFFFF"/>
                </a:solidFill>
              </a:rPr>
              <a:t>Verdict: shown as a research extension, hidden by default. Next step: a better-matched model and real-data validation.</a:t>
            </a:r>
            <a:endParaRPr lang="en-US" sz="17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Limitations: what this prototype does and does not show</a:t>
            </a:r>
            <a:endParaRPr lang="en-US" sz="2600" dirty="0"/>
          </a:p>
        </p:txBody>
      </p:sp>
      <p:sp>
        <p:nvSpPr>
          <p:cNvPr id="4" name="Shape 1"/>
          <p:cNvSpPr/>
          <p:nvPr/>
        </p:nvSpPr>
        <p:spPr>
          <a:xfrm>
            <a:off x="548640" y="1371600"/>
            <a:ext cx="3566160" cy="1965960"/>
          </a:xfrm>
          <a:prstGeom prst="roundRect">
            <a:avLst>
              <a:gd name="adj" fmla="val 3721"/>
            </a:avLst>
          </a:prstGeom>
          <a:solidFill>
            <a:srgbClr val="FFFFFF"/>
          </a:solidFill>
          <a:ln w="19050">
            <a:solidFill>
              <a:srgbClr val="B91C1C"/>
            </a:solidFill>
            <a:prstDash val="solid"/>
          </a:ln>
        </p:spPr>
      </p:sp>
      <p:sp>
        <p:nvSpPr>
          <p:cNvPr id="5" name="Shape 2"/>
          <p:cNvSpPr/>
          <p:nvPr/>
        </p:nvSpPr>
        <p:spPr>
          <a:xfrm>
            <a:off x="548640" y="1444752"/>
            <a:ext cx="82296" cy="1819656"/>
          </a:xfrm>
          <a:prstGeom prst="rect">
            <a:avLst/>
          </a:prstGeom>
          <a:solidFill>
            <a:srgbClr val="B91C1C"/>
          </a:solidFill>
          <a:ln w="12700">
            <a:solidFill>
              <a:srgbClr val="B91C1C"/>
            </a:solidFill>
            <a:prstDash val="solid"/>
          </a:ln>
        </p:spPr>
      </p:sp>
      <p:sp>
        <p:nvSpPr>
          <p:cNvPr id="6" name="Text 3"/>
          <p:cNvSpPr txBox="1"/>
          <p:nvPr/>
        </p:nvSpPr>
        <p:spPr>
          <a:xfrm>
            <a:off x="777240" y="1463040"/>
            <a:ext cx="3200400" cy="411480"/>
          </a:xfrm>
          <a:prstGeom prst="rect">
            <a:avLst/>
          </a:prstGeom>
          <a:noFill/>
          <a:ln/>
        </p:spPr>
        <p:txBody>
          <a:bodyPr wrap="square" lIns="0" tIns="0" rIns="0" bIns="0" rtlCol="0" anchor="ctr"/>
          <a:lstStyle/>
          <a:p>
            <a:pPr marL="0" indent="0">
              <a:buNone/>
            </a:pPr>
            <a:r>
              <a:rPr lang="en-US" sz="1600" b="1" dirty="0">
                <a:solidFill>
                  <a:srgbClr val="B91C1C"/>
                </a:solidFill>
              </a:rPr>
              <a:t>Synthetic only</a:t>
            </a:r>
            <a:endParaRPr lang="en-US" sz="1600" dirty="0"/>
          </a:p>
        </p:txBody>
      </p:sp>
      <p:sp>
        <p:nvSpPr>
          <p:cNvPr id="7" name="Text 4"/>
          <p:cNvSpPr txBox="1"/>
          <p:nvPr/>
        </p:nvSpPr>
        <p:spPr>
          <a:xfrm>
            <a:off x="777240" y="1920240"/>
            <a:ext cx="3200400" cy="1325880"/>
          </a:xfrm>
          <a:prstGeom prst="rect">
            <a:avLst/>
          </a:prstGeom>
          <a:noFill/>
          <a:ln/>
        </p:spPr>
        <p:txBody>
          <a:bodyPr wrap="square" lIns="0" tIns="0" rIns="0" bIns="0" rtlCol="0" anchor="t"/>
          <a:lstStyle/>
          <a:p>
            <a:pPr marL="0" indent="0">
              <a:spcAft>
                <a:spcPts val="400"/>
              </a:spcAft>
              <a:buNone/>
            </a:pPr>
            <a:r>
              <a:rPr lang="en-US" sz="1400" dirty="0">
                <a:solidFill>
                  <a:srgbClr val="1E293B"/>
                </a:solidFill>
              </a:rPr>
              <a:t>All results come from simulated data; not clinically validated.</a:t>
            </a:r>
            <a:endParaRPr lang="en-US" sz="1400" dirty="0"/>
          </a:p>
        </p:txBody>
      </p:sp>
      <p:sp>
        <p:nvSpPr>
          <p:cNvPr id="8" name="Shape 5"/>
          <p:cNvSpPr/>
          <p:nvPr/>
        </p:nvSpPr>
        <p:spPr>
          <a:xfrm>
            <a:off x="4297680" y="1371600"/>
            <a:ext cx="3566160" cy="1965960"/>
          </a:xfrm>
          <a:prstGeom prst="roundRect">
            <a:avLst>
              <a:gd name="adj" fmla="val 3721"/>
            </a:avLst>
          </a:prstGeom>
          <a:solidFill>
            <a:srgbClr val="FFFFFF"/>
          </a:solidFill>
          <a:ln w="19050">
            <a:solidFill>
              <a:srgbClr val="D97706"/>
            </a:solidFill>
            <a:prstDash val="solid"/>
          </a:ln>
        </p:spPr>
      </p:sp>
      <p:sp>
        <p:nvSpPr>
          <p:cNvPr id="9" name="Shape 6"/>
          <p:cNvSpPr/>
          <p:nvPr/>
        </p:nvSpPr>
        <p:spPr>
          <a:xfrm>
            <a:off x="4297680" y="1444752"/>
            <a:ext cx="82296" cy="1819656"/>
          </a:xfrm>
          <a:prstGeom prst="rect">
            <a:avLst/>
          </a:prstGeom>
          <a:solidFill>
            <a:srgbClr val="D97706"/>
          </a:solidFill>
          <a:ln w="12700">
            <a:solidFill>
              <a:srgbClr val="D97706"/>
            </a:solidFill>
            <a:prstDash val="solid"/>
          </a:ln>
        </p:spPr>
      </p:sp>
      <p:sp>
        <p:nvSpPr>
          <p:cNvPr id="10" name="Text 7"/>
          <p:cNvSpPr txBox="1"/>
          <p:nvPr/>
        </p:nvSpPr>
        <p:spPr>
          <a:xfrm>
            <a:off x="4526280" y="1463040"/>
            <a:ext cx="3200400" cy="411480"/>
          </a:xfrm>
          <a:prstGeom prst="rect">
            <a:avLst/>
          </a:prstGeom>
          <a:noFill/>
          <a:ln/>
        </p:spPr>
        <p:txBody>
          <a:bodyPr wrap="square" lIns="0" tIns="0" rIns="0" bIns="0" rtlCol="0" anchor="ctr"/>
          <a:lstStyle/>
          <a:p>
            <a:pPr marL="0" indent="0">
              <a:buNone/>
            </a:pPr>
            <a:r>
              <a:rPr lang="en-US" sz="1600" b="1" dirty="0">
                <a:solidFill>
                  <a:srgbClr val="D97706"/>
                </a:solidFill>
              </a:rPr>
              <a:t>Wearable assumption</a:t>
            </a:r>
            <a:endParaRPr lang="en-US" sz="1600" dirty="0"/>
          </a:p>
        </p:txBody>
      </p:sp>
      <p:sp>
        <p:nvSpPr>
          <p:cNvPr id="11" name="Text 8"/>
          <p:cNvSpPr txBox="1"/>
          <p:nvPr/>
        </p:nvSpPr>
        <p:spPr>
          <a:xfrm>
            <a:off x="4526280" y="1920240"/>
            <a:ext cx="3200400" cy="1325880"/>
          </a:xfrm>
          <a:prstGeom prst="rect">
            <a:avLst/>
          </a:prstGeom>
          <a:noFill/>
          <a:ln/>
        </p:spPr>
        <p:txBody>
          <a:bodyPr wrap="square" lIns="0" tIns="0" rIns="0" bIns="0" rtlCol="0" anchor="t"/>
          <a:lstStyle/>
          <a:p>
            <a:pPr marL="0" indent="0">
              <a:spcAft>
                <a:spcPts val="400"/>
              </a:spcAft>
              <a:buNone/>
            </a:pPr>
            <a:r>
              <a:rPr lang="en-US" sz="1400" dirty="0">
                <a:solidFill>
                  <a:srgbClr val="1E293B"/>
                </a:solidFill>
              </a:rPr>
              <a:t>The gain exists only if wearables track marrow reserve (see stress test).</a:t>
            </a:r>
            <a:endParaRPr lang="en-US" sz="1400" dirty="0"/>
          </a:p>
        </p:txBody>
      </p:sp>
      <p:sp>
        <p:nvSpPr>
          <p:cNvPr id="12" name="Shape 9"/>
          <p:cNvSpPr/>
          <p:nvPr/>
        </p:nvSpPr>
        <p:spPr>
          <a:xfrm>
            <a:off x="8046720" y="1371600"/>
            <a:ext cx="3566160" cy="1965960"/>
          </a:xfrm>
          <a:prstGeom prst="roundRect">
            <a:avLst>
              <a:gd name="adj" fmla="val 3721"/>
            </a:avLst>
          </a:prstGeom>
          <a:solidFill>
            <a:srgbClr val="FFFFFF"/>
          </a:solidFill>
          <a:ln w="19050">
            <a:solidFill>
              <a:srgbClr val="6D28D9"/>
            </a:solidFill>
            <a:prstDash val="solid"/>
          </a:ln>
        </p:spPr>
      </p:sp>
      <p:sp>
        <p:nvSpPr>
          <p:cNvPr id="13" name="Shape 10"/>
          <p:cNvSpPr/>
          <p:nvPr/>
        </p:nvSpPr>
        <p:spPr>
          <a:xfrm>
            <a:off x="8046720" y="1444752"/>
            <a:ext cx="82296" cy="1819656"/>
          </a:xfrm>
          <a:prstGeom prst="rect">
            <a:avLst/>
          </a:prstGeom>
          <a:solidFill>
            <a:srgbClr val="6D28D9"/>
          </a:solidFill>
          <a:ln w="12700">
            <a:solidFill>
              <a:srgbClr val="6D28D9"/>
            </a:solidFill>
            <a:prstDash val="solid"/>
          </a:ln>
        </p:spPr>
      </p:sp>
      <p:sp>
        <p:nvSpPr>
          <p:cNvPr id="14" name="Text 11"/>
          <p:cNvSpPr txBox="1"/>
          <p:nvPr/>
        </p:nvSpPr>
        <p:spPr>
          <a:xfrm>
            <a:off x="8275320" y="1463040"/>
            <a:ext cx="3200400" cy="411480"/>
          </a:xfrm>
          <a:prstGeom prst="rect">
            <a:avLst/>
          </a:prstGeom>
          <a:noFill/>
          <a:ln/>
        </p:spPr>
        <p:txBody>
          <a:bodyPr wrap="square" lIns="0" tIns="0" rIns="0" bIns="0" rtlCol="0" anchor="ctr"/>
          <a:lstStyle/>
          <a:p>
            <a:pPr marL="0" indent="0">
              <a:buNone/>
            </a:pPr>
            <a:r>
              <a:rPr lang="en-US" sz="1600" b="1" dirty="0">
                <a:solidFill>
                  <a:srgbClr val="6D28D9"/>
                </a:solidFill>
              </a:rPr>
              <a:t>Weak delay ranking</a:t>
            </a:r>
            <a:endParaRPr lang="en-US" sz="1600" dirty="0"/>
          </a:p>
        </p:txBody>
      </p:sp>
      <p:sp>
        <p:nvSpPr>
          <p:cNvPr id="15" name="Text 12"/>
          <p:cNvSpPr txBox="1"/>
          <p:nvPr/>
        </p:nvSpPr>
        <p:spPr>
          <a:xfrm>
            <a:off x="8275320" y="1920240"/>
            <a:ext cx="3200400" cy="1325880"/>
          </a:xfrm>
          <a:prstGeom prst="rect">
            <a:avLst/>
          </a:prstGeom>
          <a:noFill/>
          <a:ln/>
        </p:spPr>
        <p:txBody>
          <a:bodyPr wrap="square" lIns="0" tIns="0" rIns="0" bIns="0" rtlCol="0" anchor="t"/>
          <a:lstStyle/>
          <a:p>
            <a:pPr marL="0" indent="0">
              <a:spcAft>
                <a:spcPts val="400"/>
              </a:spcAft>
              <a:buNone/>
            </a:pPr>
            <a:r>
              <a:rPr lang="en-US" sz="1400" dirty="0">
                <a:solidFill>
                  <a:srgbClr val="1E293B"/>
                </a:solidFill>
              </a:rPr>
              <a:t>Tau 0.32 means no reliable 'best day'; the flag is advisory.</a:t>
            </a:r>
            <a:endParaRPr lang="en-US" sz="1400" dirty="0"/>
          </a:p>
        </p:txBody>
      </p:sp>
      <p:sp>
        <p:nvSpPr>
          <p:cNvPr id="16" name="Shape 13"/>
          <p:cNvSpPr/>
          <p:nvPr/>
        </p:nvSpPr>
        <p:spPr>
          <a:xfrm>
            <a:off x="548640" y="3520440"/>
            <a:ext cx="3566160" cy="1965960"/>
          </a:xfrm>
          <a:prstGeom prst="roundRect">
            <a:avLst>
              <a:gd name="adj" fmla="val 3721"/>
            </a:avLst>
          </a:prstGeom>
          <a:solidFill>
            <a:srgbClr val="FFFFFF"/>
          </a:solidFill>
          <a:ln w="19050">
            <a:solidFill>
              <a:srgbClr val="2563EB"/>
            </a:solidFill>
            <a:prstDash val="solid"/>
          </a:ln>
        </p:spPr>
      </p:sp>
      <p:sp>
        <p:nvSpPr>
          <p:cNvPr id="17" name="Shape 14"/>
          <p:cNvSpPr/>
          <p:nvPr/>
        </p:nvSpPr>
        <p:spPr>
          <a:xfrm>
            <a:off x="548640" y="3593592"/>
            <a:ext cx="82296" cy="1819656"/>
          </a:xfrm>
          <a:prstGeom prst="rect">
            <a:avLst/>
          </a:prstGeom>
          <a:solidFill>
            <a:srgbClr val="2563EB"/>
          </a:solidFill>
          <a:ln w="12700">
            <a:solidFill>
              <a:srgbClr val="2563EB"/>
            </a:solidFill>
            <a:prstDash val="solid"/>
          </a:ln>
        </p:spPr>
      </p:sp>
      <p:sp>
        <p:nvSpPr>
          <p:cNvPr id="18" name="Text 15"/>
          <p:cNvSpPr txBox="1"/>
          <p:nvPr/>
        </p:nvSpPr>
        <p:spPr>
          <a:xfrm>
            <a:off x="777240" y="3611880"/>
            <a:ext cx="3200400" cy="411480"/>
          </a:xfrm>
          <a:prstGeom prst="rect">
            <a:avLst/>
          </a:prstGeom>
          <a:noFill/>
          <a:ln/>
        </p:spPr>
        <p:txBody>
          <a:bodyPr wrap="square" lIns="0" tIns="0" rIns="0" bIns="0" rtlCol="0" anchor="ctr"/>
          <a:lstStyle/>
          <a:p>
            <a:pPr marL="0" indent="0">
              <a:buNone/>
            </a:pPr>
            <a:r>
              <a:rPr lang="en-US" sz="1600" b="1" dirty="0">
                <a:solidFill>
                  <a:srgbClr val="2563EB"/>
                </a:solidFill>
              </a:rPr>
              <a:t>False alarms</a:t>
            </a:r>
            <a:endParaRPr lang="en-US" sz="1600" dirty="0"/>
          </a:p>
        </p:txBody>
      </p:sp>
      <p:sp>
        <p:nvSpPr>
          <p:cNvPr id="19" name="Text 16"/>
          <p:cNvSpPr txBox="1"/>
          <p:nvPr/>
        </p:nvSpPr>
        <p:spPr>
          <a:xfrm>
            <a:off x="777240" y="4069080"/>
            <a:ext cx="3200400" cy="1325880"/>
          </a:xfrm>
          <a:prstGeom prst="rect">
            <a:avLst/>
          </a:prstGeom>
          <a:noFill/>
          <a:ln/>
        </p:spPr>
        <p:txBody>
          <a:bodyPr wrap="square" lIns="0" tIns="0" rIns="0" bIns="0" rtlCol="0" anchor="t"/>
          <a:lstStyle/>
          <a:p>
            <a:pPr marL="0" indent="0">
              <a:spcAft>
                <a:spcPts val="400"/>
              </a:spcAft>
              <a:buNone/>
            </a:pPr>
            <a:r>
              <a:rPr lang="en-US" sz="1400" dirty="0">
                <a:solidFill>
                  <a:srgbClr val="1E293B"/>
                </a:solidFill>
              </a:rPr>
              <a:t>Precision 42.7%: about 6 in 10 alerts do not become severe events.</a:t>
            </a:r>
            <a:endParaRPr lang="en-US" sz="1400" dirty="0"/>
          </a:p>
        </p:txBody>
      </p:sp>
      <p:sp>
        <p:nvSpPr>
          <p:cNvPr id="20" name="Shape 17"/>
          <p:cNvSpPr/>
          <p:nvPr/>
        </p:nvSpPr>
        <p:spPr>
          <a:xfrm>
            <a:off x="4297680" y="3520440"/>
            <a:ext cx="3566160" cy="1965960"/>
          </a:xfrm>
          <a:prstGeom prst="roundRect">
            <a:avLst>
              <a:gd name="adj" fmla="val 3721"/>
            </a:avLst>
          </a:prstGeom>
          <a:solidFill>
            <a:srgbClr val="FFFFFF"/>
          </a:solidFill>
          <a:ln w="19050">
            <a:solidFill>
              <a:srgbClr val="0E7C86"/>
            </a:solidFill>
            <a:prstDash val="solid"/>
          </a:ln>
        </p:spPr>
      </p:sp>
      <p:sp>
        <p:nvSpPr>
          <p:cNvPr id="21" name="Shape 18"/>
          <p:cNvSpPr/>
          <p:nvPr/>
        </p:nvSpPr>
        <p:spPr>
          <a:xfrm>
            <a:off x="4297680" y="3593592"/>
            <a:ext cx="82296" cy="1819656"/>
          </a:xfrm>
          <a:prstGeom prst="rect">
            <a:avLst/>
          </a:prstGeom>
          <a:solidFill>
            <a:srgbClr val="0E7C86"/>
          </a:solidFill>
          <a:ln w="12700">
            <a:solidFill>
              <a:srgbClr val="0E7C86"/>
            </a:solidFill>
            <a:prstDash val="solid"/>
          </a:ln>
        </p:spPr>
      </p:sp>
      <p:sp>
        <p:nvSpPr>
          <p:cNvPr id="22" name="Text 19"/>
          <p:cNvSpPr txBox="1"/>
          <p:nvPr/>
        </p:nvSpPr>
        <p:spPr>
          <a:xfrm>
            <a:off x="4526280" y="3611880"/>
            <a:ext cx="3200400" cy="411480"/>
          </a:xfrm>
          <a:prstGeom prst="rect">
            <a:avLst/>
          </a:prstGeom>
          <a:noFill/>
          <a:ln/>
        </p:spPr>
        <p:txBody>
          <a:bodyPr wrap="square" lIns="0" tIns="0" rIns="0" bIns="0" rtlCol="0" anchor="ctr"/>
          <a:lstStyle/>
          <a:p>
            <a:pPr marL="0" indent="0">
              <a:buNone/>
            </a:pPr>
            <a:r>
              <a:rPr lang="en-US" sz="1600" b="1" dirty="0">
                <a:solidFill>
                  <a:srgbClr val="0E7C86"/>
                </a:solidFill>
              </a:rPr>
              <a:t>Seed variability</a:t>
            </a:r>
            <a:endParaRPr lang="en-US" sz="1600" dirty="0"/>
          </a:p>
        </p:txBody>
      </p:sp>
      <p:sp>
        <p:nvSpPr>
          <p:cNvPr id="23" name="Text 20"/>
          <p:cNvSpPr txBox="1"/>
          <p:nvPr/>
        </p:nvSpPr>
        <p:spPr>
          <a:xfrm>
            <a:off x="4526280" y="4069080"/>
            <a:ext cx="3200400" cy="1325880"/>
          </a:xfrm>
          <a:prstGeom prst="rect">
            <a:avLst/>
          </a:prstGeom>
          <a:noFill/>
          <a:ln/>
        </p:spPr>
        <p:txBody>
          <a:bodyPr wrap="square" lIns="0" tIns="0" rIns="0" bIns="0" rtlCol="0" anchor="t"/>
          <a:lstStyle/>
          <a:p>
            <a:pPr marL="0" indent="0">
              <a:spcAft>
                <a:spcPts val="400"/>
              </a:spcAft>
              <a:buNone/>
            </a:pPr>
            <a:r>
              <a:rPr lang="en-US" sz="1400" dirty="0">
                <a:solidFill>
                  <a:srgbClr val="1E293B"/>
                </a:solidFill>
              </a:rPr>
              <a:t>Holdout AUROC 0.77 to 0.95 and gain -0.009 to +0.021 across seeds.</a:t>
            </a:r>
            <a:endParaRPr lang="en-US" sz="1400" dirty="0"/>
          </a:p>
        </p:txBody>
      </p:sp>
      <p:sp>
        <p:nvSpPr>
          <p:cNvPr id="24" name="Shape 21"/>
          <p:cNvSpPr/>
          <p:nvPr/>
        </p:nvSpPr>
        <p:spPr>
          <a:xfrm>
            <a:off x="8046720" y="3520440"/>
            <a:ext cx="3566160" cy="1965960"/>
          </a:xfrm>
          <a:prstGeom prst="roundRect">
            <a:avLst>
              <a:gd name="adj" fmla="val 3721"/>
            </a:avLst>
          </a:prstGeom>
          <a:solidFill>
            <a:srgbClr val="FFFFFF"/>
          </a:solidFill>
          <a:ln w="19050">
            <a:solidFill>
              <a:srgbClr val="15803D"/>
            </a:solidFill>
            <a:prstDash val="solid"/>
          </a:ln>
        </p:spPr>
      </p:sp>
      <p:sp>
        <p:nvSpPr>
          <p:cNvPr id="25" name="Shape 22"/>
          <p:cNvSpPr/>
          <p:nvPr/>
        </p:nvSpPr>
        <p:spPr>
          <a:xfrm>
            <a:off x="8046720" y="3593592"/>
            <a:ext cx="82296" cy="1819656"/>
          </a:xfrm>
          <a:prstGeom prst="rect">
            <a:avLst/>
          </a:prstGeom>
          <a:solidFill>
            <a:srgbClr val="15803D"/>
          </a:solidFill>
          <a:ln w="12700">
            <a:solidFill>
              <a:srgbClr val="15803D"/>
            </a:solidFill>
            <a:prstDash val="solid"/>
          </a:ln>
        </p:spPr>
      </p:sp>
      <p:sp>
        <p:nvSpPr>
          <p:cNvPr id="26" name="Text 23"/>
          <p:cNvSpPr txBox="1"/>
          <p:nvPr/>
        </p:nvSpPr>
        <p:spPr>
          <a:xfrm>
            <a:off x="8275320" y="3611880"/>
            <a:ext cx="3200400" cy="411480"/>
          </a:xfrm>
          <a:prstGeom prst="rect">
            <a:avLst/>
          </a:prstGeom>
          <a:noFill/>
          <a:ln/>
        </p:spPr>
        <p:txBody>
          <a:bodyPr wrap="square" lIns="0" tIns="0" rIns="0" bIns="0" rtlCol="0" anchor="ctr"/>
          <a:lstStyle/>
          <a:p>
            <a:pPr marL="0" indent="0">
              <a:buNone/>
            </a:pPr>
            <a:r>
              <a:rPr lang="en-US" sz="1600" b="1" dirty="0">
                <a:solidFill>
                  <a:srgbClr val="15803D"/>
                </a:solidFill>
              </a:rPr>
              <a:t>Marrow twin unvalidated</a:t>
            </a:r>
            <a:endParaRPr lang="en-US" sz="1600" dirty="0"/>
          </a:p>
        </p:txBody>
      </p:sp>
      <p:sp>
        <p:nvSpPr>
          <p:cNvPr id="27" name="Text 24"/>
          <p:cNvSpPr txBox="1"/>
          <p:nvPr/>
        </p:nvSpPr>
        <p:spPr>
          <a:xfrm>
            <a:off x="8275320" y="4069080"/>
            <a:ext cx="3200400" cy="1325880"/>
          </a:xfrm>
          <a:prstGeom prst="rect">
            <a:avLst/>
          </a:prstGeom>
          <a:noFill/>
          <a:ln/>
        </p:spPr>
        <p:txBody>
          <a:bodyPr wrap="square" lIns="0" tIns="0" rIns="0" bIns="0" rtlCol="0" anchor="t"/>
          <a:lstStyle/>
          <a:p>
            <a:pPr marL="0" indent="0">
              <a:spcAft>
                <a:spcPts val="400"/>
              </a:spcAft>
              <a:buNone/>
            </a:pPr>
            <a:r>
              <a:rPr lang="en-US" sz="1400" dirty="0">
                <a:solidFill>
                  <a:srgbClr val="1E293B"/>
                </a:solidFill>
              </a:rPr>
              <a:t>Experimental; shares equations with the generator.</a:t>
            </a:r>
            <a:endParaRPr lang="en-US" sz="1400" dirty="0"/>
          </a:p>
        </p:txBody>
      </p:sp>
      <p:sp>
        <p:nvSpPr>
          <p:cNvPr id="28" name="Shape 25"/>
          <p:cNvSpPr/>
          <p:nvPr/>
        </p:nvSpPr>
        <p:spPr>
          <a:xfrm>
            <a:off x="548640" y="5715000"/>
            <a:ext cx="11064240" cy="594360"/>
          </a:xfrm>
          <a:prstGeom prst="roundRect">
            <a:avLst>
              <a:gd name="adj" fmla="val 12308"/>
            </a:avLst>
          </a:prstGeom>
          <a:solidFill>
            <a:srgbClr val="0B2545"/>
          </a:solidFill>
          <a:ln w="12700">
            <a:solidFill>
              <a:srgbClr val="0B2545"/>
            </a:solidFill>
            <a:prstDash val="solid"/>
          </a:ln>
        </p:spPr>
      </p:sp>
      <p:sp>
        <p:nvSpPr>
          <p:cNvPr id="29" name="Text 26"/>
          <p:cNvSpPr txBox="1"/>
          <p:nvPr/>
        </p:nvSpPr>
        <p:spPr>
          <a:xfrm>
            <a:off x="777240" y="5715000"/>
            <a:ext cx="10607040" cy="594360"/>
          </a:xfrm>
          <a:prstGeom prst="rect">
            <a:avLst/>
          </a:prstGeom>
          <a:noFill/>
          <a:ln/>
        </p:spPr>
        <p:txBody>
          <a:bodyPr wrap="square" lIns="0" tIns="0" rIns="0" bIns="0" rtlCol="0" anchor="ctr"/>
          <a:lstStyle/>
          <a:p>
            <a:pPr marL="0" indent="0">
              <a:buNone/>
            </a:pPr>
            <a:r>
              <a:rPr lang="en-US" sz="1400" dirty="0">
                <a:solidFill>
                  <a:srgbClr val="FFFFFF"/>
                </a:solidFill>
              </a:rPr>
              <a:t>Next: real-data validation, better marrow model, prospective study, regulatory clearance (DPDP Act, HIPAA, FDA SaMD).</a:t>
            </a:r>
            <a:endParaRPr lang="en-US" sz="1400" dirty="0"/>
          </a:p>
        </p:txBody>
      </p:sp>
      <p:sp>
        <p:nvSpPr>
          <p:cNvPr id="3"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77240"/>
          </a:xfrm>
          <a:prstGeom prst="rect">
            <a:avLst/>
          </a:prstGeom>
          <a:noFill/>
          <a:ln/>
        </p:spPr>
        <p:txBody>
          <a:bodyPr wrap="square" lIns="0" tIns="0" rIns="0" bIns="0" rtlCol="0" anchor="ctr"/>
          <a:lstStyle/>
          <a:p>
            <a:pPr marL="0" indent="0">
              <a:buNone/>
            </a:pPr>
            <a:r>
              <a:rPr lang="en-US" sz="2600" b="1" dirty="0">
                <a:solidFill>
                  <a:srgbClr val="0B2545"/>
                </a:solidFill>
                <a:latin typeface="Arial" pitchFamily="34" charset="0"/>
                <a:ea typeface="Arial" pitchFamily="34" charset="-122"/>
                <a:cs typeface="Arial" pitchFamily="34" charset="-120"/>
              </a:rPr>
              <a:t>Stack, reproducibility and summary</a:t>
            </a:r>
            <a:endParaRPr lang="en-US" sz="2600" dirty="0"/>
          </a:p>
        </p:txBody>
      </p:sp>
      <p:sp>
        <p:nvSpPr>
          <p:cNvPr id="4" name="Shape 1"/>
          <p:cNvSpPr/>
          <p:nvPr/>
        </p:nvSpPr>
        <p:spPr>
          <a:xfrm>
            <a:off x="548640" y="1371600"/>
            <a:ext cx="3657600" cy="3017520"/>
          </a:xfrm>
          <a:prstGeom prst="roundRect">
            <a:avLst>
              <a:gd name="adj" fmla="val 2424"/>
            </a:avLst>
          </a:prstGeom>
          <a:solidFill>
            <a:srgbClr val="FFFFFF"/>
          </a:solidFill>
          <a:ln w="19050">
            <a:solidFill>
              <a:srgbClr val="2563EB"/>
            </a:solidFill>
            <a:prstDash val="solid"/>
          </a:ln>
        </p:spPr>
      </p:sp>
      <p:sp>
        <p:nvSpPr>
          <p:cNvPr id="5" name="Shape 2"/>
          <p:cNvSpPr/>
          <p:nvPr/>
        </p:nvSpPr>
        <p:spPr>
          <a:xfrm>
            <a:off x="548640" y="1444752"/>
            <a:ext cx="82296" cy="2871216"/>
          </a:xfrm>
          <a:prstGeom prst="rect">
            <a:avLst/>
          </a:prstGeom>
          <a:solidFill>
            <a:srgbClr val="2563EB"/>
          </a:solidFill>
          <a:ln w="12700">
            <a:solidFill>
              <a:srgbClr val="2563EB"/>
            </a:solidFill>
            <a:prstDash val="solid"/>
          </a:ln>
        </p:spPr>
      </p:sp>
      <p:sp>
        <p:nvSpPr>
          <p:cNvPr id="6" name="Text 3"/>
          <p:cNvSpPr txBox="1"/>
          <p:nvPr/>
        </p:nvSpPr>
        <p:spPr>
          <a:xfrm>
            <a:off x="777240" y="1463040"/>
            <a:ext cx="3291840" cy="411480"/>
          </a:xfrm>
          <a:prstGeom prst="rect">
            <a:avLst/>
          </a:prstGeom>
          <a:noFill/>
          <a:ln/>
        </p:spPr>
        <p:txBody>
          <a:bodyPr wrap="square" lIns="0" tIns="0" rIns="0" bIns="0" rtlCol="0" anchor="ctr"/>
          <a:lstStyle/>
          <a:p>
            <a:pPr marL="0" indent="0">
              <a:buNone/>
            </a:pPr>
            <a:r>
              <a:rPr lang="en-US" sz="1600" b="1" dirty="0">
                <a:solidFill>
                  <a:srgbClr val="2563EB"/>
                </a:solidFill>
              </a:rPr>
              <a:t>Tech stack</a:t>
            </a:r>
            <a:endParaRPr lang="en-US" sz="1600" dirty="0"/>
          </a:p>
        </p:txBody>
      </p:sp>
      <p:sp>
        <p:nvSpPr>
          <p:cNvPr id="7" name="Text 4"/>
          <p:cNvSpPr txBox="1"/>
          <p:nvPr/>
        </p:nvSpPr>
        <p:spPr>
          <a:xfrm>
            <a:off x="777240" y="1920240"/>
            <a:ext cx="329184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rPr>
              <a:t>Python 3.10+, Pandas, NumPy, SciPy</a:t>
            </a:r>
            <a:endParaRPr lang="en-US" sz="1400" dirty="0"/>
          </a:p>
          <a:p>
            <a:pPr marL="342900" indent="-342900">
              <a:spcAft>
                <a:spcPts val="400"/>
              </a:spcAft>
              <a:buSzPct val="100000"/>
              <a:buChar char="•"/>
            </a:pPr>
            <a:r>
              <a:rPr lang="en-US" sz="1400" dirty="0">
                <a:solidFill>
                  <a:srgbClr val="1E293B"/>
                </a:solidFill>
              </a:rPr>
              <a:t>scikit-learn, Joblib</a:t>
            </a:r>
            <a:endParaRPr lang="en-US" sz="1400" dirty="0"/>
          </a:p>
          <a:p>
            <a:pPr marL="342900" indent="-342900">
              <a:spcAft>
                <a:spcPts val="400"/>
              </a:spcAft>
              <a:buSzPct val="100000"/>
              <a:buChar char="•"/>
            </a:pPr>
            <a:r>
              <a:rPr lang="en-US" sz="1400" dirty="0">
                <a:solidFill>
                  <a:srgbClr val="1E293B"/>
                </a:solidFill>
              </a:rPr>
              <a:t>Plotly, Matplotlib, Seaborn</a:t>
            </a:r>
            <a:endParaRPr lang="en-US" sz="1400" dirty="0"/>
          </a:p>
          <a:p>
            <a:pPr marL="342900" indent="-342900">
              <a:spcAft>
                <a:spcPts val="400"/>
              </a:spcAft>
              <a:buSzPct val="100000"/>
              <a:buChar char="•"/>
            </a:pPr>
            <a:r>
              <a:rPr lang="en-US" sz="1400" dirty="0">
                <a:solidFill>
                  <a:srgbClr val="1E293B"/>
                </a:solidFill>
              </a:rPr>
              <a:t>Streamlit dashboard</a:t>
            </a:r>
            <a:endParaRPr lang="en-US" sz="1400" dirty="0"/>
          </a:p>
          <a:p>
            <a:pPr marL="342900" indent="-342900">
              <a:spcAft>
                <a:spcPts val="400"/>
              </a:spcAft>
              <a:buSzPct val="100000"/>
              <a:buChar char="•"/>
            </a:pPr>
            <a:r>
              <a:rPr lang="en-US" sz="1400" dirty="0">
                <a:solidFill>
                  <a:srgbClr val="1E293B"/>
                </a:solidFill>
              </a:rPr>
              <a:t>Pytest, Ruff</a:t>
            </a:r>
            <a:endParaRPr lang="en-US" sz="1400" dirty="0"/>
          </a:p>
        </p:txBody>
      </p:sp>
      <p:sp>
        <p:nvSpPr>
          <p:cNvPr id="8" name="Shape 5"/>
          <p:cNvSpPr/>
          <p:nvPr/>
        </p:nvSpPr>
        <p:spPr>
          <a:xfrm>
            <a:off x="4389120" y="1371600"/>
            <a:ext cx="3657600" cy="3017520"/>
          </a:xfrm>
          <a:prstGeom prst="roundRect">
            <a:avLst>
              <a:gd name="adj" fmla="val 2424"/>
            </a:avLst>
          </a:prstGeom>
          <a:solidFill>
            <a:srgbClr val="FFFFFF"/>
          </a:solidFill>
          <a:ln w="19050">
            <a:solidFill>
              <a:srgbClr val="15803D"/>
            </a:solidFill>
            <a:prstDash val="solid"/>
          </a:ln>
        </p:spPr>
      </p:sp>
      <p:sp>
        <p:nvSpPr>
          <p:cNvPr id="9" name="Shape 6"/>
          <p:cNvSpPr/>
          <p:nvPr/>
        </p:nvSpPr>
        <p:spPr>
          <a:xfrm>
            <a:off x="4389120" y="1444752"/>
            <a:ext cx="82296" cy="2871216"/>
          </a:xfrm>
          <a:prstGeom prst="rect">
            <a:avLst/>
          </a:prstGeom>
          <a:solidFill>
            <a:srgbClr val="15803D"/>
          </a:solidFill>
          <a:ln w="12700">
            <a:solidFill>
              <a:srgbClr val="15803D"/>
            </a:solidFill>
            <a:prstDash val="solid"/>
          </a:ln>
        </p:spPr>
      </p:sp>
      <p:sp>
        <p:nvSpPr>
          <p:cNvPr id="10" name="Text 7"/>
          <p:cNvSpPr txBox="1"/>
          <p:nvPr/>
        </p:nvSpPr>
        <p:spPr>
          <a:xfrm>
            <a:off x="4617720" y="1463040"/>
            <a:ext cx="3291840" cy="411480"/>
          </a:xfrm>
          <a:prstGeom prst="rect">
            <a:avLst/>
          </a:prstGeom>
          <a:noFill/>
          <a:ln/>
        </p:spPr>
        <p:txBody>
          <a:bodyPr wrap="square" lIns="0" tIns="0" rIns="0" bIns="0" rtlCol="0" anchor="ctr"/>
          <a:lstStyle/>
          <a:p>
            <a:pPr marL="0" indent="0">
              <a:buNone/>
            </a:pPr>
            <a:r>
              <a:rPr lang="en-US" sz="1600" b="1" dirty="0">
                <a:solidFill>
                  <a:srgbClr val="15803D"/>
                </a:solidFill>
              </a:rPr>
              <a:t>Reproducible</a:t>
            </a:r>
            <a:endParaRPr lang="en-US" sz="1600" dirty="0"/>
          </a:p>
        </p:txBody>
      </p:sp>
      <p:sp>
        <p:nvSpPr>
          <p:cNvPr id="11" name="Text 8"/>
          <p:cNvSpPr txBox="1"/>
          <p:nvPr/>
        </p:nvSpPr>
        <p:spPr>
          <a:xfrm>
            <a:off x="4617720" y="1920240"/>
            <a:ext cx="329184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rPr>
              <a:t>30 passing tests incl. leakage checks</a:t>
            </a:r>
            <a:endParaRPr lang="en-US" sz="1400" dirty="0"/>
          </a:p>
          <a:p>
            <a:pPr marL="342900" indent="-342900">
              <a:spcAft>
                <a:spcPts val="400"/>
              </a:spcAft>
              <a:buSzPct val="100000"/>
              <a:buChar char="•"/>
            </a:pPr>
            <a:r>
              <a:rPr lang="en-US" sz="1400" dirty="0">
                <a:solidFill>
                  <a:srgbClr val="1E293B"/>
                </a:solidFill>
              </a:rPr>
              <a:t>Ruff clean</a:t>
            </a:r>
            <a:endParaRPr lang="en-US" sz="1400" dirty="0"/>
          </a:p>
          <a:p>
            <a:pPr marL="342900" indent="-342900">
              <a:spcAft>
                <a:spcPts val="400"/>
              </a:spcAft>
              <a:buSzPct val="100000"/>
              <a:buChar char="•"/>
            </a:pPr>
            <a:r>
              <a:rPr lang="en-US" sz="1400" dirty="0">
                <a:solidFill>
                  <a:srgbClr val="1E293B"/>
                </a:solidFill>
              </a:rPr>
              <a:t>scripts/ reproduce the 5-seed benchmark and stress test</a:t>
            </a:r>
            <a:endParaRPr lang="en-US" sz="1400" dirty="0"/>
          </a:p>
          <a:p>
            <a:pPr marL="342900" indent="-342900">
              <a:spcAft>
                <a:spcPts val="400"/>
              </a:spcAft>
              <a:buSzPct val="100000"/>
              <a:buChar char="•"/>
            </a:pPr>
            <a:r>
              <a:rPr lang="en-US" sz="1400" dirty="0">
                <a:solidFill>
                  <a:srgbClr val="1E293B"/>
                </a:solidFill>
              </a:rPr>
              <a:t>MIT license, public repo</a:t>
            </a:r>
            <a:endParaRPr lang="en-US" sz="1400" dirty="0"/>
          </a:p>
        </p:txBody>
      </p:sp>
      <p:sp>
        <p:nvSpPr>
          <p:cNvPr id="12" name="Shape 9"/>
          <p:cNvSpPr/>
          <p:nvPr/>
        </p:nvSpPr>
        <p:spPr>
          <a:xfrm>
            <a:off x="8229600" y="1371600"/>
            <a:ext cx="3383280" cy="3017520"/>
          </a:xfrm>
          <a:prstGeom prst="roundRect">
            <a:avLst>
              <a:gd name="adj" fmla="val 2424"/>
            </a:avLst>
          </a:prstGeom>
          <a:solidFill>
            <a:srgbClr val="FFFFFF"/>
          </a:solidFill>
          <a:ln w="19050">
            <a:solidFill>
              <a:srgbClr val="0E7C86"/>
            </a:solidFill>
            <a:prstDash val="solid"/>
          </a:ln>
        </p:spPr>
      </p:sp>
      <p:sp>
        <p:nvSpPr>
          <p:cNvPr id="13" name="Shape 10"/>
          <p:cNvSpPr/>
          <p:nvPr/>
        </p:nvSpPr>
        <p:spPr>
          <a:xfrm>
            <a:off x="8229600" y="1444752"/>
            <a:ext cx="82296" cy="2871216"/>
          </a:xfrm>
          <a:prstGeom prst="rect">
            <a:avLst/>
          </a:prstGeom>
          <a:solidFill>
            <a:srgbClr val="0E7C86"/>
          </a:solidFill>
          <a:ln w="12700">
            <a:solidFill>
              <a:srgbClr val="0E7C86"/>
            </a:solidFill>
            <a:prstDash val="solid"/>
          </a:ln>
        </p:spPr>
      </p:sp>
      <p:sp>
        <p:nvSpPr>
          <p:cNvPr id="14" name="Text 11"/>
          <p:cNvSpPr txBox="1"/>
          <p:nvPr/>
        </p:nvSpPr>
        <p:spPr>
          <a:xfrm>
            <a:off x="8458200" y="1463040"/>
            <a:ext cx="3017520" cy="411480"/>
          </a:xfrm>
          <a:prstGeom prst="rect">
            <a:avLst/>
          </a:prstGeom>
          <a:noFill/>
          <a:ln/>
        </p:spPr>
        <p:txBody>
          <a:bodyPr wrap="square" lIns="0" tIns="0" rIns="0" bIns="0" rtlCol="0" anchor="ctr"/>
          <a:lstStyle/>
          <a:p>
            <a:pPr marL="0" indent="0">
              <a:buNone/>
            </a:pPr>
            <a:r>
              <a:rPr lang="en-US" sz="1600" b="1" dirty="0">
                <a:solidFill>
                  <a:srgbClr val="0E7C86"/>
                </a:solidFill>
              </a:rPr>
              <a:t>Challenge fit</a:t>
            </a:r>
            <a:endParaRPr lang="en-US" sz="1600" dirty="0"/>
          </a:p>
        </p:txBody>
      </p:sp>
      <p:sp>
        <p:nvSpPr>
          <p:cNvPr id="15" name="Text 12"/>
          <p:cNvSpPr txBox="1"/>
          <p:nvPr/>
        </p:nvSpPr>
        <p:spPr>
          <a:xfrm>
            <a:off x="8458200" y="1920240"/>
            <a:ext cx="301752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E293B"/>
                </a:solidFill>
              </a:rPr>
              <a:t>EHR + wearable streams fused</a:t>
            </a:r>
            <a:endParaRPr lang="en-US" sz="1400" dirty="0"/>
          </a:p>
          <a:p>
            <a:pPr marL="342900" indent="-342900">
              <a:spcAft>
                <a:spcPts val="400"/>
              </a:spcAft>
              <a:buSzPct val="100000"/>
              <a:buChar char="•"/>
            </a:pPr>
            <a:r>
              <a:rPr lang="en-US" sz="1400" dirty="0">
                <a:solidFill>
                  <a:srgbClr val="1E293B"/>
                </a:solidFill>
              </a:rPr>
              <a:t>Predicts an adverse event ahead of time</a:t>
            </a:r>
            <a:endParaRPr lang="en-US" sz="1400" dirty="0"/>
          </a:p>
          <a:p>
            <a:pPr marL="342900" indent="-342900">
              <a:spcAft>
                <a:spcPts val="400"/>
              </a:spcAft>
              <a:buSzPct val="100000"/>
              <a:buChar char="•"/>
            </a:pPr>
            <a:r>
              <a:rPr lang="en-US" sz="1400" dirty="0">
                <a:solidFill>
                  <a:srgbClr val="1E293B"/>
                </a:solidFill>
              </a:rPr>
              <a:t>Doctor-facing dashboard</a:t>
            </a:r>
            <a:endParaRPr lang="en-US" sz="1400" dirty="0"/>
          </a:p>
          <a:p>
            <a:pPr marL="342900" indent="-342900">
              <a:spcAft>
                <a:spcPts val="400"/>
              </a:spcAft>
              <a:buSzPct val="100000"/>
              <a:buChar char="•"/>
            </a:pPr>
            <a:r>
              <a:rPr lang="en-US" sz="1400" dirty="0">
                <a:solidFill>
                  <a:srgbClr val="1E293B"/>
                </a:solidFill>
              </a:rPr>
              <a:t>Synthetic data only</a:t>
            </a:r>
            <a:endParaRPr lang="en-US" sz="1400" dirty="0"/>
          </a:p>
        </p:txBody>
      </p:sp>
      <p:sp>
        <p:nvSpPr>
          <p:cNvPr id="16" name="Shape 13"/>
          <p:cNvSpPr/>
          <p:nvPr/>
        </p:nvSpPr>
        <p:spPr>
          <a:xfrm>
            <a:off x="548640" y="4663440"/>
            <a:ext cx="11064240" cy="1554480"/>
          </a:xfrm>
          <a:prstGeom prst="roundRect">
            <a:avLst>
              <a:gd name="adj" fmla="val 5882"/>
            </a:avLst>
          </a:prstGeom>
          <a:solidFill>
            <a:srgbClr val="0B2545"/>
          </a:solidFill>
          <a:ln w="12700">
            <a:solidFill>
              <a:srgbClr val="0B2545"/>
            </a:solidFill>
            <a:prstDash val="solid"/>
          </a:ln>
        </p:spPr>
      </p:sp>
      <p:sp>
        <p:nvSpPr>
          <p:cNvPr id="17" name="Text 14"/>
          <p:cNvSpPr txBox="1"/>
          <p:nvPr/>
        </p:nvSpPr>
        <p:spPr>
          <a:xfrm>
            <a:off x="822960" y="4754880"/>
            <a:ext cx="10515600" cy="1371600"/>
          </a:xfrm>
          <a:prstGeom prst="rect">
            <a:avLst/>
          </a:prstGeom>
          <a:noFill/>
          <a:ln/>
        </p:spPr>
        <p:txBody>
          <a:bodyPr wrap="square" lIns="0" tIns="0" rIns="0" bIns="0" rtlCol="0" anchor="ctr"/>
          <a:lstStyle/>
          <a:p>
            <a:pPr marL="0" indent="0">
              <a:spcAft>
                <a:spcPts val="800"/>
              </a:spcAft>
              <a:buNone/>
            </a:pPr>
            <a:r>
              <a:rPr lang="en-US" sz="2000" b="1" dirty="0">
                <a:solidFill>
                  <a:srgbClr val="FFFFFF"/>
                </a:solidFill>
              </a:rPr>
              <a:t>ONCO-TWIN: flag severe toxicity early, show what waiting costs the tumor, keep the clinician in control.</a:t>
            </a:r>
            <a:endParaRPr lang="en-US" sz="2000" dirty="0"/>
          </a:p>
          <a:p>
            <a:pPr marL="0" indent="0">
              <a:spcAft>
                <a:spcPts val="800"/>
              </a:spcAft>
              <a:buNone/>
            </a:pPr>
            <a:r>
              <a:rPr lang="en-US" sz="1400" dirty="0">
                <a:solidFill>
                  <a:srgbClr val="5EEAD4"/>
                </a:solidFill>
              </a:rPr>
              <a:t>Team Aurora  ·  The Apollo University  ·  anandhalakshmi005@gmail.com</a:t>
            </a:r>
            <a:endParaRPr lang="en-US" sz="2000" dirty="0"/>
          </a:p>
        </p:txBody>
      </p:sp>
      <p:sp>
        <p:nvSpPr>
          <p:cNvPr id="25" name="Slide Number Placeholder 0"/>
          <p:cNvSpPr>
            <a:spLocks noGrp="1"/>
          </p:cNvSpPr>
          <p:nvPr>
            <p:ph type="sldNum" sz="quarter" idx="4294967295"/>
          </p:nvPr>
        </p:nvSpPr>
        <p:spPr>
          <a:xfrm>
            <a:off x="1143000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75569"/>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ncoTwin">
  <a:themeElements>
    <a:clrScheme name="OncoTwin">
      <a:dk1>
        <a:srgbClr val="1E293B"/>
      </a:dk1>
      <a:lt1>
        <a:srgbClr val="FFFFFF"/>
      </a:lt1>
      <a:dk2>
        <a:srgbClr val="0B2545"/>
      </a:dk2>
      <a:lt2>
        <a:srgbClr val="F1F5F9"/>
      </a:lt2>
      <a:accent1>
        <a:srgbClr val="0E7C86"/>
      </a:accent1>
      <a:accent2>
        <a:srgbClr val="2563EB"/>
      </a:accent2>
      <a:accent3>
        <a:srgbClr val="6D28D9"/>
      </a:accent3>
      <a:accent4>
        <a:srgbClr val="D97706"/>
      </a:accent4>
      <a:accent5>
        <a:srgbClr val="15803D"/>
      </a:accent5>
      <a:accent6>
        <a:srgbClr val="B91C1C"/>
      </a:accent6>
      <a:hlink>
        <a:srgbClr val="2563EB"/>
      </a:hlink>
      <a:folHlink>
        <a:srgbClr val="6D28D9"/>
      </a:folHlink>
    </a:clrScheme>
    <a:fontScheme name="OncoTwi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2238</Words>
  <Application>Microsoft Office PowerPoint</Application>
  <PresentationFormat>Widescreen</PresentationFormat>
  <Paragraphs>214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OncoTwin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ONCO-TWIN</dc:title>
  <dc:subject>PptxGenJS Presentation</dc:subject>
  <dc:creator>Team Aurora</dc:creator>
  <cp:lastModifiedBy>Anandha Lakshmi</cp:lastModifiedBy>
  <cp:revision>2</cp:revision>
  <dcterms:created xsi:type="dcterms:W3CDTF">2026-10-18T09:18:05Z</dcterms:created>
  <dcterms:modified xsi:type="dcterms:W3CDTF">2026-10-18T09:29:44Z</dcterms:modified>
</cp:coreProperties>
</file>